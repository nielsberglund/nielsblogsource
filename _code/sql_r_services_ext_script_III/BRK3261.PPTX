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4475" r:id="rId4"/>
    <p:sldMasterId id="2147484495" r:id="rId5"/>
    <p:sldMasterId id="2147484519" r:id="rId6"/>
    <p:sldMasterId id="2147484539" r:id="rId7"/>
  </p:sldMasterIdLst>
  <p:notesMasterIdLst>
    <p:notesMasterId r:id="rId53"/>
  </p:notesMasterIdLst>
  <p:handoutMasterIdLst>
    <p:handoutMasterId r:id="rId54"/>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C8FB21-FF75-44A0-8090-B2FB240B014B}">
          <p14:sldIdLst>
            <p14:sldId id="256"/>
            <p14:sldId id="257"/>
            <p14:sldId id="258"/>
            <p14:sldId id="259"/>
            <p14:sldId id="260"/>
          </p14:sldIdLst>
        </p14:section>
        <p14:section name="SQCC from Client" id="{BBFCA3F6-16E5-40DE-AEC1-94E45B2557BC}">
          <p14:sldIdLst>
            <p14:sldId id="261"/>
            <p14:sldId id="262"/>
            <p14:sldId id="263"/>
            <p14:sldId id="264"/>
            <p14:sldId id="265"/>
          </p14:sldIdLst>
        </p14:section>
        <p14:section name="Push Data from SQL" id="{7428B9C8-8DAD-4D89-A673-CA5CD04D3A1E}">
          <p14:sldIdLst>
            <p14:sldId id="266"/>
            <p14:sldId id="267"/>
            <p14:sldId id="268"/>
            <p14:sldId id="269"/>
            <p14:sldId id="270"/>
          </p14:sldIdLst>
        </p14:section>
        <p14:section name="Streaming from SQL" id="{8F0F59D5-4FFB-4FDE-80CE-69E76F65F8B0}">
          <p14:sldIdLst>
            <p14:sldId id="271"/>
            <p14:sldId id="272"/>
            <p14:sldId id="273"/>
            <p14:sldId id="274"/>
          </p14:sldIdLst>
        </p14:section>
        <p14:section name="Parallel Execution" id="{8BD6EA71-E09D-4ABE-A04E-A76B55F4D3CF}">
          <p14:sldIdLst>
            <p14:sldId id="275"/>
            <p14:sldId id="276"/>
            <p14:sldId id="277"/>
            <p14:sldId id="278"/>
          </p14:sldIdLst>
        </p14:section>
        <p14:section name="SQLCC from Server" id="{A6DB9A60-630F-4DF4-8D0E-577F393AF4F2}">
          <p14:sldIdLst>
            <p14:sldId id="279"/>
            <p14:sldId id="280"/>
            <p14:sldId id="281"/>
            <p14:sldId id="282"/>
          </p14:sldIdLst>
        </p14:section>
        <p14:section name="Native Scoring - PREDICT" id="{59C9B90D-6102-4A08-AA82-CFDED28B7264}">
          <p14:sldIdLst>
            <p14:sldId id="283"/>
            <p14:sldId id="284"/>
            <p14:sldId id="285"/>
          </p14:sldIdLst>
        </p14:section>
        <p14:section name="Conclusion" id="{4FB24EC5-81E1-4834-994C-1CCE7B851625}">
          <p14:sldIdLst>
            <p14:sldId id="286"/>
            <p14:sldId id="287"/>
            <p14:sldId id="288"/>
            <p14:sldId id="289"/>
          </p14:sldIdLst>
        </p14:section>
        <p14:section name="Appendix" id="{F5D8F1D7-3671-47EE-AA2C-04BA468BDF82}">
          <p14:sldIdLst>
            <p14:sldId id="290"/>
            <p14:sldId id="291"/>
            <p14:sldId id="292"/>
            <p14:sldId id="293"/>
            <p14:sldId id="294"/>
            <p14:sldId id="295"/>
            <p14:sldId id="296"/>
            <p14:sldId id="297"/>
            <p14:sldId id="298"/>
            <p14:sldId id="299"/>
            <p14:sldId id="300"/>
          </p14:sldIdLst>
        </p14:section>
        <p14:section name="Default Section" id="{86DDD03B-2668-4D8F-9142-92AB01A08C4E}">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FFFF"/>
    <a:srgbClr val="0078D7"/>
    <a:srgbClr val="000000"/>
    <a:srgbClr val="FF8C00"/>
    <a:srgbClr val="D83B01"/>
    <a:srgbClr val="FFB900"/>
    <a:srgbClr val="107C10"/>
    <a:srgbClr val="353535"/>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2151" autoAdjust="0"/>
  </p:normalViewPr>
  <p:slideViewPr>
    <p:cSldViewPr>
      <p:cViewPr>
        <p:scale>
          <a:sx n="66" d="100"/>
          <a:sy n="66" d="100"/>
        </p:scale>
        <p:origin x="996" y="765"/>
      </p:cViewPr>
      <p:guideLst/>
    </p:cSldViewPr>
  </p:slideViewPr>
  <p:outlineViewPr>
    <p:cViewPr>
      <p:scale>
        <a:sx n="33" d="100"/>
        <a:sy n="33" d="100"/>
      </p:scale>
      <p:origin x="0" y="-9840"/>
    </p:cViewPr>
  </p:outlineViewPr>
  <p:notesTextViewPr>
    <p:cViewPr>
      <p:scale>
        <a:sx n="100" d="100"/>
        <a:sy n="100" d="100"/>
      </p:scale>
      <p:origin x="0" y="0"/>
    </p:cViewPr>
  </p:notesTextViewPr>
  <p:sorterViewPr>
    <p:cViewPr>
      <p:scale>
        <a:sx n="50" d="100"/>
        <a:sy n="50" d="100"/>
      </p:scale>
      <p:origin x="0" y="-2102"/>
    </p:cViewPr>
  </p:sorterViewPr>
  <p:notesViewPr>
    <p:cSldViewPr showGuides="1">
      <p:cViewPr varScale="1">
        <p:scale>
          <a:sx n="60" d="100"/>
          <a:sy n="60" d="100"/>
        </p:scale>
        <p:origin x="3187" y="34"/>
      </p:cViewPr>
      <p:guideLst>
        <p:guide orient="horz" pos="2880"/>
        <p:guide pos="2160"/>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6.xml" Id="rId13" /><Relationship Type="http://schemas.openxmlformats.org/officeDocument/2006/relationships/slide" Target="slides/slide11.xml" Id="rId18" /><Relationship Type="http://schemas.openxmlformats.org/officeDocument/2006/relationships/slide" Target="slides/slide19.xml" Id="rId26" /><Relationship Type="http://schemas.openxmlformats.org/officeDocument/2006/relationships/slide" Target="slides/slide32.xml" Id="rId39" /><Relationship Type="http://schemas.openxmlformats.org/officeDocument/2006/relationships/slide" Target="slides/slide14.xml" Id="rId21" /><Relationship Type="http://schemas.openxmlformats.org/officeDocument/2006/relationships/slide" Target="slides/slide27.xml" Id="rId34" /><Relationship Type="http://schemas.openxmlformats.org/officeDocument/2006/relationships/slide" Target="slides/slide35.xml" Id="rId42" /><Relationship Type="http://schemas.openxmlformats.org/officeDocument/2006/relationships/slide" Target="slides/slide40.xml" Id="rId47" /><Relationship Type="http://schemas.openxmlformats.org/officeDocument/2006/relationships/slide" Target="slides/slide43.xml" Id="rId50" /><Relationship Type="http://schemas.openxmlformats.org/officeDocument/2006/relationships/slideMaster" Target="slideMasters/slideMaster4.xml" Id="rId7" /><Relationship Type="http://schemas.openxmlformats.org/officeDocument/2006/relationships/slide" Target="slides/slide5.xml" Id="rId12" /><Relationship Type="http://schemas.openxmlformats.org/officeDocument/2006/relationships/slide" Target="slides/slide10.xml" Id="rId17" /><Relationship Type="http://schemas.openxmlformats.org/officeDocument/2006/relationships/slide" Target="slides/slide18.xml" Id="rId25" /><Relationship Type="http://schemas.openxmlformats.org/officeDocument/2006/relationships/slide" Target="slides/slide26.xml" Id="rId33" /><Relationship Type="http://schemas.openxmlformats.org/officeDocument/2006/relationships/slide" Target="slides/slide31.xml" Id="rId38" /><Relationship Type="http://schemas.openxmlformats.org/officeDocument/2006/relationships/slide" Target="slides/slide39.xml" Id="rId46" /><Relationship Type="http://schemas.openxmlformats.org/officeDocument/2006/relationships/tableStyles" Target="tableStyles.xml" Id="rId59" /><Relationship Type="http://schemas.openxmlformats.org/officeDocument/2006/relationships/customXml" Target="../customXml/item2.xml" Id="rId2" /><Relationship Type="http://schemas.openxmlformats.org/officeDocument/2006/relationships/slide" Target="slides/slide9.xml" Id="rId16" /><Relationship Type="http://schemas.openxmlformats.org/officeDocument/2006/relationships/slide" Target="slides/slide13.xml" Id="rId20" /><Relationship Type="http://schemas.openxmlformats.org/officeDocument/2006/relationships/slide" Target="slides/slide22.xml" Id="rId29" /><Relationship Type="http://schemas.openxmlformats.org/officeDocument/2006/relationships/slide" Target="slides/slide34.xml" Id="rId41" /><Relationship Type="http://schemas.openxmlformats.org/officeDocument/2006/relationships/handoutMaster" Target="handoutMasters/handoutMaster1.xml" Id="rId54" /><Relationship Type="http://schemas.openxmlformats.org/officeDocument/2006/relationships/customXml" Target="../customXml/item1.xml" Id="rId1" /><Relationship Type="http://schemas.openxmlformats.org/officeDocument/2006/relationships/slideMaster" Target="slideMasters/slideMaster3.xml" Id="rId6" /><Relationship Type="http://schemas.openxmlformats.org/officeDocument/2006/relationships/slide" Target="slides/slide4.xml" Id="rId11" /><Relationship Type="http://schemas.openxmlformats.org/officeDocument/2006/relationships/slide" Target="slides/slide17.xml" Id="rId24" /><Relationship Type="http://schemas.openxmlformats.org/officeDocument/2006/relationships/slide" Target="slides/slide25.xml" Id="rId32" /><Relationship Type="http://schemas.openxmlformats.org/officeDocument/2006/relationships/slide" Target="slides/slide30.xml" Id="rId37" /><Relationship Type="http://schemas.openxmlformats.org/officeDocument/2006/relationships/slide" Target="slides/slide33.xml" Id="rId40" /><Relationship Type="http://schemas.openxmlformats.org/officeDocument/2006/relationships/slide" Target="slides/slide38.xml" Id="rId45" /><Relationship Type="http://schemas.openxmlformats.org/officeDocument/2006/relationships/notesMaster" Target="notesMasters/notesMaster1.xml" Id="rId53" /><Relationship Type="http://schemas.openxmlformats.org/officeDocument/2006/relationships/theme" Target="theme/theme1.xml" Id="rId58" /><Relationship Type="http://schemas.openxmlformats.org/officeDocument/2006/relationships/slideMaster" Target="slideMasters/slideMaster2.xml" Id="rId5" /><Relationship Type="http://schemas.openxmlformats.org/officeDocument/2006/relationships/slide" Target="slides/slide8.xml" Id="rId15" /><Relationship Type="http://schemas.openxmlformats.org/officeDocument/2006/relationships/slide" Target="slides/slide16.xml" Id="rId23" /><Relationship Type="http://schemas.openxmlformats.org/officeDocument/2006/relationships/slide" Target="slides/slide21.xml" Id="rId28" /><Relationship Type="http://schemas.openxmlformats.org/officeDocument/2006/relationships/slide" Target="slides/slide29.xml" Id="rId36" /><Relationship Type="http://schemas.openxmlformats.org/officeDocument/2006/relationships/slide" Target="slides/slide42.xml" Id="rId49" /><Relationship Type="http://schemas.openxmlformats.org/officeDocument/2006/relationships/viewProps" Target="viewProps.xml" Id="rId57" /><Relationship Type="http://schemas.openxmlformats.org/officeDocument/2006/relationships/slide" Target="slides/slide3.xml" Id="rId10" /><Relationship Type="http://schemas.openxmlformats.org/officeDocument/2006/relationships/slide" Target="slides/slide12.xml" Id="rId19" /><Relationship Type="http://schemas.openxmlformats.org/officeDocument/2006/relationships/slide" Target="slides/slide24.xml" Id="rId31" /><Relationship Type="http://schemas.openxmlformats.org/officeDocument/2006/relationships/slide" Target="slides/slide37.xml" Id="rId44" /><Relationship Type="http://schemas.openxmlformats.org/officeDocument/2006/relationships/slide" Target="slides/slide45.xml" Id="rId52" /><Relationship Type="http://schemas.microsoft.com/office/2015/10/relationships/revisionInfo" Target="revisionInfo.xml" Id="rId60" /><Relationship Type="http://schemas.openxmlformats.org/officeDocument/2006/relationships/slideMaster" Target="slideMasters/slideMaster1.xml" Id="rId4" /><Relationship Type="http://schemas.openxmlformats.org/officeDocument/2006/relationships/slide" Target="slides/slide2.xml" Id="rId9" /><Relationship Type="http://schemas.openxmlformats.org/officeDocument/2006/relationships/slide" Target="slides/slide7.xml" Id="rId14" /><Relationship Type="http://schemas.openxmlformats.org/officeDocument/2006/relationships/slide" Target="slides/slide15.xml" Id="rId22" /><Relationship Type="http://schemas.openxmlformats.org/officeDocument/2006/relationships/slide" Target="slides/slide20.xml" Id="rId27" /><Relationship Type="http://schemas.openxmlformats.org/officeDocument/2006/relationships/slide" Target="slides/slide23.xml" Id="rId30" /><Relationship Type="http://schemas.openxmlformats.org/officeDocument/2006/relationships/slide" Target="slides/slide28.xml" Id="rId35" /><Relationship Type="http://schemas.openxmlformats.org/officeDocument/2006/relationships/slide" Target="slides/slide36.xml" Id="rId43" /><Relationship Type="http://schemas.openxmlformats.org/officeDocument/2006/relationships/slide" Target="slides/slide41.xml" Id="rId48" /><Relationship Type="http://schemas.openxmlformats.org/officeDocument/2006/relationships/presProps" Target="presProps.xml" Id="rId56" /><Relationship Type="http://schemas.openxmlformats.org/officeDocument/2006/relationships/slide" Target="slides/slide1.xml" Id="rId8" /><Relationship Type="http://schemas.openxmlformats.org/officeDocument/2006/relationships/slide" Target="slides/slide44.xml" Id="rId51" /><Relationship Type="http://schemas.openxmlformats.org/officeDocument/2006/relationships/customXml" Target="../customXml/item3.xml" Id="rId3"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9/28/2017 3:44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9/28/2017 3:44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www.kdnuggets.com/2017/05/poll-analytics-data-science-machine-learning-software-leaders.htm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313C66B-7AF5-40BA-8933-D16874FF94CC}"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858480778"/>
      </p:ext>
    </p:extLst>
  </p:cSld>
  <p:clrMapOvr>
    <a:masterClrMapping/>
  </p:clrMapOvr>
</p:notes>
</file>

<file path=ppt/notesSlides/notesSlide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4422CDDF-7337-48EA-AFDF-602CC7FB3089}"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16781945"/>
      </p:ext>
    </p:extLst>
  </p:cSld>
  <p:clrMapOvr>
    <a:masterClrMapping/>
  </p:clrMapOvr>
</p:notes>
</file>

<file path=ppt/notesSlides/notesSlide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DD65AC4-17B0-4E19-8496-B264E70A18D3}"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9895967"/>
      </p:ext>
    </p:extLst>
  </p:cSld>
  <p:clrMapOvr>
    <a:masterClrMapping/>
  </p:clrMapOvr>
</p:notes>
</file>

<file path=ppt/notesSlides/notesSlide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97499324"/>
      </p:ext>
    </p:extLst>
  </p:cSld>
  <p:clrMapOvr>
    <a:masterClrMapping/>
  </p:clrMapOvr>
</p:notes>
</file>

<file path=ppt/notesSlides/notesSlide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25739298"/>
      </p:ext>
    </p:extLst>
  </p:cSld>
  <p:clrMapOvr>
    <a:masterClrMapping/>
  </p:clrMapOvr>
</p:notes>
</file>

<file path=ppt/notesSlides/notesSlide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9306" lvl="1" indent="0">
              <a:buNone/>
            </a:pPr>
            <a:endParaRPr lang="en-US" sz="2400"/>
          </a:p>
          <a:p>
            <a:pPr lvl="1"/>
            <a:endParaRPr lang="en-US" sz="2400"/>
          </a:p>
          <a:p>
            <a:pPr lvl="1"/>
            <a:endParaRPr lang="en-US" sz="2400"/>
          </a:p>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Microsoft Tech Summit FY17</a:t>
            </a:r>
          </a:p>
        </p:txBody>
      </p:sp>
      <p:sp>
        <p:nvSpPr>
          <p:cNvPr id="5" name="Footer Placeholder 4"/>
          <p:cNvSpPr>
            <a:spLocks noGrp="1"/>
          </p:cNvSpPr>
          <p:nvPr>
            <p:ph type="ftr" sz="quarter" idx="11"/>
          </p:nvPr>
        </p:nvSpPr>
        <p:spPr/>
        <p:txBody>
          <a:bodyPr/>
          <a:lstStyle/>
          <a:p>
            <a:pPr marL="571500" marR="0" lvl="0" indent="0" algn="l" defTabSz="93146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61906288"/>
      </p:ext>
    </p:extLst>
  </p:cSld>
  <p:clrMapOvr>
    <a:masterClrMapping/>
  </p:clrMapOvr>
</p:notes>
</file>

<file path=ppt/notesSlides/notesSlide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9306" lvl="1" indent="0">
              <a:buNone/>
            </a:pPr>
            <a:endParaRPr lang="en-US" sz="2400"/>
          </a:p>
          <a:p>
            <a:pPr lvl="1"/>
            <a:endParaRPr lang="en-US" sz="2400"/>
          </a:p>
          <a:p>
            <a:pPr lvl="1"/>
            <a:endParaRPr lang="en-US" sz="2400"/>
          </a:p>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Microsoft Tech Summit FY17</a:t>
            </a:r>
          </a:p>
        </p:txBody>
      </p:sp>
      <p:sp>
        <p:nvSpPr>
          <p:cNvPr id="5" name="Footer Placeholder 4"/>
          <p:cNvSpPr>
            <a:spLocks noGrp="1"/>
          </p:cNvSpPr>
          <p:nvPr>
            <p:ph type="ftr" sz="quarter" idx="11"/>
          </p:nvPr>
        </p:nvSpPr>
        <p:spPr/>
        <p:txBody>
          <a:bodyPr/>
          <a:lstStyle/>
          <a:p>
            <a:pPr marL="571500" marR="0" lvl="0" indent="0" algn="l" defTabSz="93146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8853120"/>
      </p:ext>
    </p:extLst>
  </p:cSld>
  <p:clrMapOvr>
    <a:masterClrMapping/>
  </p:clrMapOvr>
</p:notes>
</file>

<file path=ppt/notesSlides/notesSlide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78064287"/>
      </p:ext>
    </p:extLst>
  </p:cSld>
  <p:clrMapOvr>
    <a:masterClrMapping/>
  </p:clrMapOvr>
</p:notes>
</file>

<file path=ppt/notesSlides/notesSlide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4FAA446-E61B-4D43-A3B1-7749AA6DC13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97395853"/>
      </p:ext>
    </p:extLst>
  </p:cSld>
  <p:clrMapOvr>
    <a:masterClrMapping/>
  </p:clrMapOvr>
</p:notes>
</file>

<file path=ppt/notesSlides/notesSlide1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47745594"/>
      </p:ext>
    </p:extLst>
  </p:cSld>
  <p:clrMapOvr>
    <a:masterClrMapping/>
  </p:clrMapOvr>
</p:notes>
</file>

<file path=ppt/notesSlides/notesSlide1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b="0" i="0" kern="1200" dirty="0">
              <a:solidFill>
                <a:schemeClr val="tx1"/>
              </a:solidFill>
              <a:effectLst/>
              <a:latin typeface="Segoe UI Light" pitchFamily="34" charset="0"/>
              <a:ea typeface="+mn-ea"/>
              <a:cs typeface="+mn-cs"/>
            </a:endParaRPr>
          </a:p>
          <a:p>
            <a:endParaRPr lang="en-US" sz="900" b="0" i="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8934895"/>
      </p:ext>
    </p:extLst>
  </p:cSld>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39273305"/>
      </p:ext>
    </p:extLst>
  </p:cSld>
  <p:clrMapOvr>
    <a:masterClrMapping/>
  </p:clrMapOvr>
</p:notes>
</file>

<file path=ppt/notesSlides/notesSlide1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6347F90E-727C-4A6F-BF1F-2C08061ABE7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4" name="Footer Placeholder 3"/>
          <p:cNvSpPr>
            <a:spLocks noGrp="1"/>
          </p:cNvSpPr>
          <p:nvPr>
            <p:ph type="ftr" sz="quarter" idx="1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5" name="Header Placeholder 4"/>
          <p:cNvSpPr>
            <a:spLocks noGrp="1"/>
          </p:cNvSpPr>
          <p:nvPr>
            <p:ph type="hdr" sz="quarter" idx="15"/>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51752160"/>
      </p:ext>
    </p:extLst>
  </p:cSld>
  <p:clrMapOvr>
    <a:masterClrMapping/>
  </p:clrMapOvr>
</p:notes>
</file>

<file path=ppt/notesSlides/notesSlide1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4FAA446-E61B-4D43-A3B1-7749AA6DC13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47905750"/>
      </p:ext>
    </p:extLst>
  </p:cSld>
  <p:clrMapOvr>
    <a:masterClrMapping/>
  </p:clrMapOvr>
</p:notes>
</file>

<file path=ppt/notesSlides/notesSlide1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900" dirty="0">
              <a:solidFill>
                <a:schemeClr val="tx1"/>
              </a:solidFill>
              <a:latin typeface="Segoe UI Light" pitchFamily="34" charset="0"/>
            </a:endParaRPr>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7228721"/>
      </p:ext>
    </p:extLst>
  </p:cSld>
  <p:clrMapOvr>
    <a:masterClrMapping/>
  </p:clrMapOvr>
</p:notes>
</file>

<file path=ppt/notesSlides/notesSlide1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68309982"/>
      </p:ext>
    </p:extLst>
  </p:cSld>
  <p:clrMapOvr>
    <a:masterClrMapping/>
  </p:clrMapOvr>
</p:notes>
</file>

<file path=ppt/notesSlides/notesSlide1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6347F90E-727C-4A6F-BF1F-2C08061ABE7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4" name="Footer Placeholder 3"/>
          <p:cNvSpPr>
            <a:spLocks noGrp="1"/>
          </p:cNvSpPr>
          <p:nvPr>
            <p:ph type="ftr" sz="quarter" idx="1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5" name="Header Placeholder 4"/>
          <p:cNvSpPr>
            <a:spLocks noGrp="1"/>
          </p:cNvSpPr>
          <p:nvPr>
            <p:ph type="hdr" sz="quarter" idx="15"/>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94293299"/>
      </p:ext>
    </p:extLst>
  </p:cSld>
  <p:clrMapOvr>
    <a:masterClrMapping/>
  </p:clrMapOvr>
</p:notes>
</file>

<file path=ppt/notesSlides/notesSlide1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4FAA446-E61B-4D43-A3B1-7749AA6DC13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3246876"/>
      </p:ext>
    </p:extLst>
  </p:cSld>
  <p:clrMapOvr>
    <a:masterClrMapping/>
  </p:clrMapOvr>
</p:notes>
</file>

<file path=ppt/notesSlides/notesSlide1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4981862"/>
      </p:ext>
    </p:extLst>
  </p:cSld>
  <p:clrMapOvr>
    <a:masterClrMapping/>
  </p:clrMapOvr>
</p:notes>
</file>

<file path=ppt/notesSlides/notesSlide2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1350964"/>
      </p:ext>
    </p:extLst>
  </p:cSld>
  <p:clrMapOvr>
    <a:masterClrMapping/>
  </p:clrMapOvr>
</p:notes>
</file>

<file path=ppt/notesSlides/notesSlide2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6347F90E-727C-4A6F-BF1F-2C08061ABE7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4" name="Footer Placeholder 3"/>
          <p:cNvSpPr>
            <a:spLocks noGrp="1"/>
          </p:cNvSpPr>
          <p:nvPr>
            <p:ph type="ftr" sz="quarter" idx="1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5" name="Header Placeholder 4"/>
          <p:cNvSpPr>
            <a:spLocks noGrp="1"/>
          </p:cNvSpPr>
          <p:nvPr>
            <p:ph type="hdr" sz="quarter" idx="15"/>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55186475"/>
      </p:ext>
    </p:extLst>
  </p:cSld>
  <p:clrMapOvr>
    <a:masterClrMapping/>
  </p:clrMapOvr>
</p:notes>
</file>

<file path=ppt/notesSlides/notesSlide2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4FAA446-E61B-4D43-A3B1-7749AA6DC13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86625602"/>
      </p:ext>
    </p:extLst>
  </p:cSld>
  <p:clrMapOvr>
    <a:masterClrMapping/>
  </p:clrMapOvr>
</p:notes>
</file>

<file path=ppt/notesSlides/notesSlide2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63729195"/>
      </p:ext>
    </p:extLst>
  </p:cSld>
  <p:clrMapOvr>
    <a:masterClrMapping/>
  </p:clrMapOvr>
</p:notes>
</file>

<file path=ppt/notesSlides/notesSlide2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98099075"/>
      </p:ext>
    </p:extLst>
  </p:cSld>
  <p:clrMapOvr>
    <a:masterClrMapping/>
  </p:clrMapOvr>
</p:notes>
</file>

<file path=ppt/notesSlides/notesSlide2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6347F90E-727C-4A6F-BF1F-2C08061ABE7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4" name="Footer Placeholder 3"/>
          <p:cNvSpPr>
            <a:spLocks noGrp="1"/>
          </p:cNvSpPr>
          <p:nvPr>
            <p:ph type="ftr" sz="quarter" idx="1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5" name="Header Placeholder 4"/>
          <p:cNvSpPr>
            <a:spLocks noGrp="1"/>
          </p:cNvSpPr>
          <p:nvPr>
            <p:ph type="hdr" sz="quarter" idx="15"/>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9502867"/>
      </p:ext>
    </p:extLst>
  </p:cSld>
  <p:clrMapOvr>
    <a:masterClrMapping/>
  </p:clrMapOvr>
</p:notes>
</file>

<file path=ppt/notesSlides/notesSlide2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4FAA446-E61B-4D43-A3B1-7749AA6DC13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90111996"/>
      </p:ext>
    </p:extLst>
  </p:cSld>
  <p:clrMapOvr>
    <a:masterClrMapping/>
  </p:clrMapOvr>
</p:notes>
</file>

<file path=ppt/notesSlides/notesSlide2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59082847"/>
      </p:ext>
    </p:extLst>
  </p:cSld>
  <p:clrMapOvr>
    <a:masterClrMapping/>
  </p:clrMapOvr>
</p:notes>
</file>

<file path=ppt/notesSlides/notesSlide2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6347F90E-727C-4A6F-BF1F-2C08061ABE7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4" name="Footer Placeholder 3"/>
          <p:cNvSpPr>
            <a:spLocks noGrp="1"/>
          </p:cNvSpPr>
          <p:nvPr>
            <p:ph type="ftr" sz="quarter" idx="1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5" name="Header Placeholder 4"/>
          <p:cNvSpPr>
            <a:spLocks noGrp="1"/>
          </p:cNvSpPr>
          <p:nvPr>
            <p:ph type="hdr" sz="quarter" idx="15"/>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678891924"/>
      </p:ext>
    </p:extLst>
  </p:cSld>
  <p:clrMapOvr>
    <a:masterClrMapping/>
  </p:clrMapOvr>
</p:notes>
</file>

<file path=ppt/notesSlides/notesSlide2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4FAA446-E61B-4D43-A3B1-7749AA6DC13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49728705"/>
      </p:ext>
    </p:extLst>
  </p:cSld>
  <p:clrMapOvr>
    <a:masterClrMapping/>
  </p:clrMapOvr>
</p:notes>
</file>

<file path=ppt/notesSlides/notesSlide3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84762868"/>
      </p:ext>
    </p:extLst>
  </p:cSld>
  <p:clrMapOvr>
    <a:masterClrMapping/>
  </p:clrMapOvr>
</p:notes>
</file>

<file path=ppt/notesSlides/notesSlide3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F90BC57A-0065-4BCC-B73C-3BC8957C24FF}"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12" name="Header Placeholder 11"/>
          <p:cNvSpPr>
            <a:spLocks noGrp="1"/>
          </p:cNvSpPr>
          <p:nvPr>
            <p:ph type="hdr" sz="quarter" idx="15"/>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6"/>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3309857726"/>
      </p:ext>
    </p:extLst>
  </p:cSld>
  <p:clrMapOvr>
    <a:masterClrMapping/>
  </p:clrMapOvr>
</p:notes>
</file>

<file path=ppt/notesSlides/notesSlide3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4422CDDF-7337-48EA-AFDF-602CC7FB3089}"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50715099"/>
      </p:ext>
    </p:extLst>
  </p:cSld>
  <p:clrMapOvr>
    <a:masterClrMapping/>
  </p:clrMapOvr>
</p:notes>
</file>

<file path=ppt/notesSlides/notesSlide3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8" name="Date Placeholder 7"/>
          <p:cNvSpPr>
            <a:spLocks noGrp="1"/>
          </p:cNvSpPr>
          <p:nvPr>
            <p:ph type="dt"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FAE93440-8CE8-4345-AA9F-8886942F5E27}"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9" name="Footer Placeholder 8"/>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b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10" name="Slide Number Placeholder 9"/>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1" name="Header Placeholder 10"/>
          <p:cNvSpPr>
            <a:spLocks noGrp="1"/>
          </p:cNvSpPr>
          <p:nvPr>
            <p:ph type="hdr" sz="quarter" idx="13"/>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rPr>
              <a:t>Tech Ready 15</a:t>
            </a:r>
          </a:p>
        </p:txBody>
      </p:sp>
    </p:spTree>
    <p:extLst>
      <p:ext uri="{BB962C8B-B14F-4D97-AF65-F5344CB8AC3E}">
        <p14:creationId xmlns:p14="http://schemas.microsoft.com/office/powerpoint/2010/main" val="3745520719"/>
      </p:ext>
    </p:extLst>
  </p:cSld>
  <p:clrMapOvr>
    <a:masterClrMapping/>
  </p:clrMapOvr>
</p:notes>
</file>

<file path=ppt/notesSlides/notesSlide3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3500" dirty="0"/>
          </a:p>
        </p:txBody>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DD65AC4-17B0-4E19-8496-B264E70A18D3}"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96359392"/>
      </p:ext>
    </p:extLst>
  </p:cSld>
  <p:clrMapOvr>
    <a:masterClrMapping/>
  </p:clrMapOvr>
</p:notes>
</file>

<file path=ppt/notesSlides/notesSlide3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9451601"/>
      </p:ext>
    </p:extLst>
  </p:cSld>
  <p:clrMapOvr>
    <a:masterClrMapping/>
  </p:clrMapOvr>
</p:notes>
</file>

<file path=ppt/notesSlides/notesSlide3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4FAA446-E61B-4D43-A3B1-7749AA6DC13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40230276"/>
      </p:ext>
    </p:extLst>
  </p:cSld>
  <p:clrMapOvr>
    <a:masterClrMapping/>
  </p:clrMapOvr>
</p:notes>
</file>

<file path=ppt/notesSlides/notesSlide3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974316F8-A94F-4A61-B725-80E2AAABB549}"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82262996"/>
      </p:ext>
    </p:extLst>
  </p:cSld>
  <p:clrMapOvr>
    <a:masterClrMapping/>
  </p:clrMapOvr>
</p:notes>
</file>

<file path=ppt/notesSlides/notesSlide3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9659E820-05E1-4C03-985B-A48B1DA573AD}"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29190549"/>
      </p:ext>
    </p:extLst>
  </p:cSld>
  <p:clrMapOvr>
    <a:masterClrMapping/>
  </p:clrMapOvr>
</p:notes>
</file>

<file path=ppt/notesSlides/notesSlide3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6258045"/>
      </p:ext>
    </p:extLst>
  </p:cSld>
  <p:clrMapOvr>
    <a:masterClrMapping/>
  </p:clrMapOvr>
</p:notes>
</file>

<file path=ppt/notesSlides/notesSlide4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6347F90E-727C-4A6F-BF1F-2C08061ABE7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4" name="Footer Placeholder 3"/>
          <p:cNvSpPr>
            <a:spLocks noGrp="1"/>
          </p:cNvSpPr>
          <p:nvPr>
            <p:ph type="ftr" sz="quarter" idx="1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5" name="Header Placeholder 4"/>
          <p:cNvSpPr>
            <a:spLocks noGrp="1"/>
          </p:cNvSpPr>
          <p:nvPr>
            <p:ph type="hdr" sz="quarter" idx="15"/>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09461080"/>
      </p:ext>
    </p:extLst>
  </p:cSld>
  <p:clrMapOvr>
    <a:masterClrMapping/>
  </p:clrMapOvr>
</p:notes>
</file>

<file path=ppt/notesSlides/notesSlide4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69200176"/>
      </p:ext>
    </p:extLst>
  </p:cSld>
  <p:clrMapOvr>
    <a:masterClrMapping/>
  </p:clrMapOvr>
</p:notes>
</file>

<file path=ppt/notesSlides/notesSlide4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DD65AC4-17B0-4E19-8496-B264E70A18D3}"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76677172"/>
      </p:ext>
    </p:extLst>
  </p:cSld>
  <p:clrMapOvr>
    <a:masterClrMapping/>
  </p:clrMapOvr>
</p:notes>
</file>

<file path=ppt/notesSlides/notesSlide4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07836731"/>
      </p:ext>
    </p:extLst>
  </p:cSld>
  <p:clrMapOvr>
    <a:masterClrMapping/>
  </p:clrMapOvr>
</p:notes>
</file>

<file path=ppt/notesSlides/notesSlide4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3:44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288510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
        <p:nvSpPr>
          <p:cNvPr id="3" name="Text Placeholder 2">
            <a:extLst>
              <a:ext uri="{FF2B5EF4-FFF2-40B4-BE49-F238E27FC236}">
                <a16:creationId xmlns:a16="http://schemas.microsoft.com/office/drawing/2014/main" id="{47D21F7F-CA5F-4609-9E53-094261A2A868}"/>
              </a:ext>
            </a:extLst>
          </p:cNvPr>
          <p:cNvSpPr>
            <a:spLocks noGrp="1"/>
          </p:cNvSpPr>
          <p:nvPr>
            <p:ph type="body" sz="quarter" idx="13" hasCustomPrompt="1"/>
          </p:nvPr>
        </p:nvSpPr>
        <p:spPr>
          <a:xfrm>
            <a:off x="8047017" y="291533"/>
            <a:ext cx="4023345" cy="553998"/>
          </a:xfrm>
          <a:noFill/>
        </p:spPr>
        <p:txBody>
          <a:bodyPr vert="horz" wrap="square" lIns="164592" tIns="109728" rIns="164592" bIns="109728" rtlCol="0">
            <a:spAutoFit/>
          </a:bodyPr>
          <a:lstStyle>
            <a:lvl1pPr marL="0" indent="0" algn="r">
              <a:buNone/>
              <a:defRPr lang="en-US" sz="2400" dirty="0">
                <a:gradFill>
                  <a:gsLst>
                    <a:gs pos="91000">
                      <a:schemeClr val="tx1"/>
                    </a:gs>
                    <a:gs pos="0">
                      <a:schemeClr val="tx1"/>
                    </a:gs>
                  </a:gsLst>
                  <a:lin ang="5400000" scaled="0"/>
                </a:gradFill>
                <a:latin typeface="+mn-lt"/>
              </a:defRPr>
            </a:lvl1pPr>
          </a:lstStyle>
          <a:p>
            <a:pPr marL="228600" lvl="0" indent="-228600">
              <a:spcBef>
                <a:spcPts val="0"/>
              </a:spcBef>
            </a:pPr>
            <a:r>
              <a:rPr lang="en-US" dirty="0"/>
              <a:t>Session Code</a:t>
            </a:r>
          </a:p>
        </p:txBody>
      </p:sp>
    </p:spTree>
    <p:extLst>
      <p:ext uri="{BB962C8B-B14F-4D97-AF65-F5344CB8AC3E}">
        <p14:creationId xmlns:p14="http://schemas.microsoft.com/office/powerpoint/2010/main" val="38678132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1319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578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288636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409193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925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591993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280903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618636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138322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2979381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10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0384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endParaRPr lang="en-US" dirty="0"/>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3783316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277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39441102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381127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20567"/>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50675"/>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40986479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57024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dirty="0"/>
              <a:t>Click to edit Master text styles</a:t>
            </a:r>
          </a:p>
          <a:p>
            <a:pPr marL="712788" marR="0" lvl="1" indent="-457200" algn="l" defTabSz="932742" rtl="0" eaLnBrk="1" fontAlgn="auto" latinLnBrk="0" hangingPunct="1">
              <a:lnSpc>
                <a:spcPct val="90000"/>
              </a:lnSpc>
              <a:spcBef>
                <a:spcPct val="20000"/>
              </a:spcBef>
              <a:spcAft>
                <a:spcPts val="0"/>
              </a:spcAft>
              <a:buClrTx/>
              <a:buSzPct val="90000"/>
              <a:tabLst/>
            </a:pPr>
            <a:r>
              <a:rPr lang="en-US" dirty="0"/>
              <a:t>Second level</a:t>
            </a:r>
          </a:p>
          <a:p>
            <a:pPr marL="908050" marR="0" lvl="2" indent="-457200" algn="l" defTabSz="932742" rtl="0" eaLnBrk="1" fontAlgn="auto" latinLnBrk="0" hangingPunct="1">
              <a:lnSpc>
                <a:spcPct val="90000"/>
              </a:lnSpc>
              <a:spcBef>
                <a:spcPct val="20000"/>
              </a:spcBef>
              <a:spcAft>
                <a:spcPts val="0"/>
              </a:spcAft>
              <a:buClrTx/>
              <a:buSzPct val="90000"/>
              <a:tabLst/>
            </a:pPr>
            <a:r>
              <a:rPr lang="en-US" dirty="0"/>
              <a:t>Third level</a:t>
            </a:r>
          </a:p>
          <a:p>
            <a:pPr marL="1109662" marR="0" lvl="3" indent="-457200" algn="l" defTabSz="932742" rtl="0" eaLnBrk="1" fontAlgn="auto" latinLnBrk="0" hangingPunct="1">
              <a:lnSpc>
                <a:spcPct val="90000"/>
              </a:lnSpc>
              <a:spcBef>
                <a:spcPct val="20000"/>
              </a:spcBef>
              <a:spcAft>
                <a:spcPts val="0"/>
              </a:spcAft>
              <a:buClrTx/>
              <a:buSzPct val="90000"/>
              <a:tabLst/>
            </a:pPr>
            <a:r>
              <a:rPr lang="en-US" dirty="0"/>
              <a:t>Fourth level</a:t>
            </a:r>
          </a:p>
          <a:p>
            <a:pPr marL="1311275" marR="0" lvl="4" indent="-457200" algn="l" defTabSz="932742" rtl="0" eaLnBrk="1" fontAlgn="auto" latinLnBrk="0" hangingPunct="1">
              <a:lnSpc>
                <a:spcPct val="90000"/>
              </a:lnSpc>
              <a:spcBef>
                <a:spcPct val="20000"/>
              </a:spcBef>
              <a:spcAft>
                <a:spcPts val="0"/>
              </a:spcAft>
              <a:buClrTx/>
              <a:buSzPct val="90000"/>
              <a:tabLst/>
            </a:pPr>
            <a:r>
              <a:rPr lang="en-US" dirty="0"/>
              <a:t>Fifth level</a:t>
            </a:r>
          </a:p>
        </p:txBody>
      </p:sp>
    </p:spTree>
    <p:extLst>
      <p:ext uri="{BB962C8B-B14F-4D97-AF65-F5344CB8AC3E}">
        <p14:creationId xmlns:p14="http://schemas.microsoft.com/office/powerpoint/2010/main" val="195453060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dirty="0"/>
              <a:t>Click to edit Master text styles</a:t>
            </a:r>
          </a:p>
          <a:p>
            <a:pPr marL="427038" marR="0" lvl="1" indent="-17145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Second level</a:t>
            </a:r>
          </a:p>
          <a:p>
            <a:pPr marL="639763" marR="0" lvl="2" indent="-1889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Third level</a:t>
            </a:r>
          </a:p>
          <a:p>
            <a:pPr marL="828675" marR="0" lvl="3" indent="-1762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Fourth level</a:t>
            </a:r>
          </a:p>
          <a:p>
            <a:pPr marL="1023938" marR="0" lvl="4" indent="-16986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Fifth level</a:t>
            </a:r>
          </a:p>
        </p:txBody>
      </p:sp>
    </p:spTree>
    <p:extLst>
      <p:ext uri="{BB962C8B-B14F-4D97-AF65-F5344CB8AC3E}">
        <p14:creationId xmlns:p14="http://schemas.microsoft.com/office/powerpoint/2010/main" val="67965013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68102778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E6E6E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dirty="0"/>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dirty="0"/>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dirty="0"/>
              <a:t>Edit Master text styles</a:t>
            </a:r>
          </a:p>
        </p:txBody>
      </p:sp>
    </p:spTree>
    <p:extLst>
      <p:ext uri="{BB962C8B-B14F-4D97-AF65-F5344CB8AC3E}">
        <p14:creationId xmlns:p14="http://schemas.microsoft.com/office/powerpoint/2010/main" val="19376468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7962452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4050760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57440629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2667155633"/>
      </p:ext>
    </p:extLst>
  </p:cSld>
  <p:clrMapOvr>
    <a:masterClrMapping/>
  </p:clrMapOvr>
  <p:transition>
    <p:fade/>
  </p:transition>
  <p:extLst mod="1">
    <p:ext uri="{DCECCB84-F9BA-43D5-87BE-67443E8EF086}">
      <p15:sldGuideLst xmlns:p15="http://schemas.microsoft.com/office/powerpoint/2012/main">
        <p15:guide id="1" pos="342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dirty="0"/>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387177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05857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1737675"/>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E6E6E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Picture 3"/>
          <p:cNvPicPr>
            <a:picLocks noChangeAspect="1"/>
          </p:cNvPicPr>
          <p:nvPr userDrawn="1"/>
        </p:nvPicPr>
        <p:blipFill>
          <a:blip r:embed="rId2"/>
          <a:stretch>
            <a:fillRect/>
          </a:stretch>
        </p:blipFill>
        <p:spPr bwMode="invGray">
          <a:xfrm>
            <a:off x="464013" y="479425"/>
            <a:ext cx="1436313" cy="306604"/>
          </a:xfrm>
          <a:prstGeom prst="rect">
            <a:avLst/>
          </a:prstGeom>
        </p:spPr>
      </p:pic>
    </p:spTree>
    <p:extLst>
      <p:ext uri="{BB962C8B-B14F-4D97-AF65-F5344CB8AC3E}">
        <p14:creationId xmlns:p14="http://schemas.microsoft.com/office/powerpoint/2010/main" val="40876120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1477246813"/>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20567"/>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050675"/>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5816596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874259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337364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Click to edit Master text styles</a:t>
            </a:r>
          </a:p>
          <a:p>
            <a:pPr marL="712788" marR="0" lvl="1" indent="-457200" algn="l" defTabSz="932742" rtl="0" eaLnBrk="1" fontAlgn="auto" latinLnBrk="0" hangingPunct="1">
              <a:lnSpc>
                <a:spcPct val="90000"/>
              </a:lnSpc>
              <a:spcBef>
                <a:spcPct val="20000"/>
              </a:spcBef>
              <a:spcAft>
                <a:spcPts val="0"/>
              </a:spcAft>
              <a:buClrTx/>
              <a:buSzPct val="90000"/>
              <a:tabLst/>
            </a:pPr>
            <a:r>
              <a:rPr lang="en-US"/>
              <a:t>Second level</a:t>
            </a:r>
          </a:p>
          <a:p>
            <a:pPr marL="908050" marR="0" lvl="2" indent="-457200" algn="l" defTabSz="932742" rtl="0" eaLnBrk="1" fontAlgn="auto" latinLnBrk="0" hangingPunct="1">
              <a:lnSpc>
                <a:spcPct val="90000"/>
              </a:lnSpc>
              <a:spcBef>
                <a:spcPct val="20000"/>
              </a:spcBef>
              <a:spcAft>
                <a:spcPts val="0"/>
              </a:spcAft>
              <a:buClrTx/>
              <a:buSzPct val="90000"/>
              <a:tabLst/>
            </a:pPr>
            <a:r>
              <a:rPr lang="en-US"/>
              <a:t>Third level</a:t>
            </a:r>
          </a:p>
          <a:p>
            <a:pPr marL="1109662" marR="0" lvl="3" indent="-457200" algn="l" defTabSz="932742" rtl="0" eaLnBrk="1" fontAlgn="auto" latinLnBrk="0" hangingPunct="1">
              <a:lnSpc>
                <a:spcPct val="90000"/>
              </a:lnSpc>
              <a:spcBef>
                <a:spcPct val="20000"/>
              </a:spcBef>
              <a:spcAft>
                <a:spcPts val="0"/>
              </a:spcAft>
              <a:buClrTx/>
              <a:buSzPct val="90000"/>
              <a:tabLst/>
            </a:pPr>
            <a:r>
              <a:rPr lang="en-US"/>
              <a:t>Fourth level</a:t>
            </a:r>
          </a:p>
          <a:p>
            <a:pPr marL="1311275" marR="0" lvl="4" indent="-457200" algn="l" defTabSz="932742" rtl="0" eaLnBrk="1" fontAlgn="auto" latinLnBrk="0" hangingPunct="1">
              <a:lnSpc>
                <a:spcPct val="90000"/>
              </a:lnSpc>
              <a:spcBef>
                <a:spcPct val="20000"/>
              </a:spcBef>
              <a:spcAft>
                <a:spcPts val="0"/>
              </a:spcAft>
              <a:buClrTx/>
              <a:buSzPct val="90000"/>
              <a:tabLst/>
            </a:pPr>
            <a:r>
              <a:rPr lang="en-US"/>
              <a:t>Fifth level</a:t>
            </a:r>
          </a:p>
        </p:txBody>
      </p:sp>
    </p:spTree>
    <p:extLst>
      <p:ext uri="{BB962C8B-B14F-4D97-AF65-F5344CB8AC3E}">
        <p14:creationId xmlns:p14="http://schemas.microsoft.com/office/powerpoint/2010/main" val="143294323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Click to edit Master text styles</a:t>
            </a:r>
          </a:p>
          <a:p>
            <a:pPr marL="427038" marR="0" lvl="1" indent="-17145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a:t>Second level</a:t>
            </a:r>
          </a:p>
          <a:p>
            <a:pPr marL="639763" marR="0" lvl="2" indent="-1889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a:t>Third level</a:t>
            </a:r>
          </a:p>
          <a:p>
            <a:pPr marL="828675" marR="0" lvl="3" indent="-1762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986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1682785148"/>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380601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E6E6E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a:t>Edit Master text styles</a:t>
            </a:r>
          </a:p>
        </p:txBody>
      </p:sp>
    </p:spTree>
    <p:extLst>
      <p:ext uri="{BB962C8B-B14F-4D97-AF65-F5344CB8AC3E}">
        <p14:creationId xmlns:p14="http://schemas.microsoft.com/office/powerpoint/2010/main" val="157431303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13187498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Video title</a:t>
            </a:r>
          </a:p>
        </p:txBody>
      </p:sp>
    </p:spTree>
    <p:extLst>
      <p:ext uri="{BB962C8B-B14F-4D97-AF65-F5344CB8AC3E}">
        <p14:creationId xmlns:p14="http://schemas.microsoft.com/office/powerpoint/2010/main" val="1688475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208011687"/>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38418353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1917423494"/>
      </p:ext>
    </p:extLst>
  </p:cSld>
  <p:clrMapOvr>
    <a:masterClrMapping/>
  </p:clrMapOvr>
  <p:transition>
    <p:fade/>
  </p:transition>
  <p:extLst mod="1">
    <p:ext uri="{DCECCB84-F9BA-43D5-87BE-67443E8EF086}">
      <p15:sldGuideLst xmlns:p15="http://schemas.microsoft.com/office/powerpoint/2012/main">
        <p15:guide id="1" pos="342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3022266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6261186"/>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698916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6584956"/>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E6E6E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Picture 3"/>
          <p:cNvPicPr>
            <a:picLocks noChangeAspect="1"/>
          </p:cNvPicPr>
          <p:nvPr userDrawn="1"/>
        </p:nvPicPr>
        <p:blipFill>
          <a:blip r:embed="rId2"/>
          <a:stretch>
            <a:fillRect/>
          </a:stretch>
        </p:blipFill>
        <p:spPr bwMode="invGray">
          <a:xfrm>
            <a:off x="464013" y="479425"/>
            <a:ext cx="1436313" cy="306604"/>
          </a:xfrm>
          <a:prstGeom prst="rect">
            <a:avLst/>
          </a:prstGeom>
        </p:spPr>
      </p:pic>
    </p:spTree>
    <p:extLst>
      <p:ext uri="{BB962C8B-B14F-4D97-AF65-F5344CB8AC3E}">
        <p14:creationId xmlns:p14="http://schemas.microsoft.com/office/powerpoint/2010/main" val="25759346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68699479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9" y="1212851"/>
            <a:ext cx="11887200" cy="2176267"/>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597859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19495808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122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77342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2278070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320678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6051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8792296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818376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325194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6449231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683813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9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5474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endParaRPr lang="en-US" dirty="0"/>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146350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76745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941740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254306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1.emf"/><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21" Type="http://schemas.openxmlformats.org/officeDocument/2006/relationships/image" Target="../media/image1.emf"/><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theme" Target="../theme/theme3.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theme" Target="../theme/theme4.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19" Type="http://schemas.openxmlformats.org/officeDocument/2006/relationships/image" Target="../media/image1.emf"/><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1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4059602932"/>
      </p:ext>
    </p:extLst>
  </p:cSld>
  <p:clrMap bg1="lt1" tx1="dk1" bg2="lt2" tx2="dk2" accent1="accent1" accent2="accent2" accent3="accent3" accent4="accent4" accent5="accent5" accent6="accent6" hlink="hlink" folHlink="folHlink"/>
  <p:sldLayoutIdLst>
    <p:sldLayoutId id="2147484478" r:id="rId1"/>
    <p:sldLayoutId id="2147484480" r:id="rId2"/>
    <p:sldLayoutId id="2147484481" r:id="rId3"/>
    <p:sldLayoutId id="2147484482" r:id="rId4"/>
    <p:sldLayoutId id="2147484483" r:id="rId5"/>
    <p:sldLayoutId id="2147484484" r:id="rId6"/>
    <p:sldLayoutId id="2147484485" r:id="rId7"/>
    <p:sldLayoutId id="2147484486" r:id="rId8"/>
    <p:sldLayoutId id="2147484487" r:id="rId9"/>
    <p:sldLayoutId id="2147484488" r:id="rId10"/>
    <p:sldLayoutId id="2147484489" r:id="rId11"/>
    <p:sldLayoutId id="2147484490" r:id="rId12"/>
    <p:sldLayoutId id="2147484491" r:id="rId13"/>
    <p:sldLayoutId id="2147484517" r:id="rId14"/>
    <p:sldLayoutId id="2147484492" r:id="rId15"/>
    <p:sldLayoutId id="2147484493" r:id="rId16"/>
    <p:sldLayoutId id="2147484494" r:id="rId17"/>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0"/>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498" r:id="rId1"/>
    <p:sldLayoutId id="2147484500" r:id="rId2"/>
    <p:sldLayoutId id="2147484501" r:id="rId3"/>
    <p:sldLayoutId id="2147484502" r:id="rId4"/>
    <p:sldLayoutId id="2147484503" r:id="rId5"/>
    <p:sldLayoutId id="2147484504" r:id="rId6"/>
    <p:sldLayoutId id="2147484516" r:id="rId7"/>
    <p:sldLayoutId id="2147484505" r:id="rId8"/>
    <p:sldLayoutId id="2147484506" r:id="rId9"/>
    <p:sldLayoutId id="2147484507" r:id="rId10"/>
    <p:sldLayoutId id="2147484508" r:id="rId11"/>
    <p:sldLayoutId id="2147484509" r:id="rId12"/>
    <p:sldLayoutId id="2147484518" r:id="rId13"/>
    <p:sldLayoutId id="2147484510" r:id="rId14"/>
    <p:sldLayoutId id="2147484511" r:id="rId15"/>
    <p:sldLayoutId id="2147484512" r:id="rId16"/>
    <p:sldLayoutId id="2147484513" r:id="rId17"/>
    <p:sldLayoutId id="2147484514" r:id="rId18"/>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21"/>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717784062"/>
      </p:ext>
    </p:extLst>
  </p:cSld>
  <p:clrMap bg1="dk1" tx1="lt1" bg2="dk2" tx2="lt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1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1366598136"/>
      </p:ext>
    </p:extLst>
  </p:cSld>
  <p:clrMap bg1="lt1" tx1="dk1" bg2="lt2" tx2="dk2" accent1="accent1" accent2="accent2" accent3="accent3" accent4="accent4" accent5="accent5" accent6="accent6" hlink="hlink" folHlink="folHlink"/>
  <p:sldLayoutIdLst>
    <p:sldLayoutId id="2147484540" r:id="rId1"/>
    <p:sldLayoutId id="2147484541" r:id="rId2"/>
    <p:sldLayoutId id="2147484542" r:id="rId3"/>
    <p:sldLayoutId id="2147484543" r:id="rId4"/>
    <p:sldLayoutId id="2147484544" r:id="rId5"/>
    <p:sldLayoutId id="2147484545" r:id="rId6"/>
    <p:sldLayoutId id="2147484546" r:id="rId7"/>
    <p:sldLayoutId id="2147484547" r:id="rId8"/>
    <p:sldLayoutId id="2147484548" r:id="rId9"/>
    <p:sldLayoutId id="2147484549" r:id="rId10"/>
    <p:sldLayoutId id="2147484550" r:id="rId11"/>
    <p:sldLayoutId id="2147484551" r:id="rId12"/>
    <p:sldLayoutId id="2147484552" r:id="rId13"/>
    <p:sldLayoutId id="2147484553" r:id="rId14"/>
    <p:sldLayoutId id="2147484554" r:id="rId15"/>
    <p:sldLayoutId id="2147484555" r:id="rId16"/>
    <p:sldLayoutId id="2147484556" r:id="rId17"/>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8.xml"/><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8.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8" Type="http://schemas.openxmlformats.org/officeDocument/2006/relationships/hyperlink" Target="https://docs.microsoft.com/en-us/sql/advanced-analytics/r/r-services" TargetMode="External"/><Relationship Id="rId3" Type="http://schemas.openxmlformats.org/officeDocument/2006/relationships/hyperlink" Target="https://github.com/Microsoft/sql-server-samples/tree/master/samples/features/r-services/getting-started" TargetMode="External"/><Relationship Id="rId7" Type="http://schemas.openxmlformats.org/officeDocument/2006/relationships/hyperlink" Target="http://download.microsoft.com/download/0/5/A/05AE6B94-E688-403E-90A5-6035DBE9EEC5/machine-learning-basics-infographic-with-algorithm-examples.pdf" TargetMode="External"/><Relationship Id="rId2" Type="http://schemas.openxmlformats.org/officeDocument/2006/relationships/notesSlide" Target="../notesSlides/notesSlide31.xml"/><Relationship Id="rId1" Type="http://schemas.openxmlformats.org/officeDocument/2006/relationships/slideLayout" Target="../slideLayouts/slideLayout38.xml"/><Relationship Id="rId6" Type="http://schemas.openxmlformats.org/officeDocument/2006/relationships/hyperlink" Target="https://github.com/Microsoft/sql-server-samples/tree/master/samples/features/r-services/ssms-custom-reports" TargetMode="External"/><Relationship Id="rId5" Type="http://schemas.openxmlformats.org/officeDocument/2006/relationships/hyperlink" Target="aka.ms/mlsqldev" TargetMode="External"/><Relationship Id="rId4" Type="http://schemas.openxmlformats.org/officeDocument/2006/relationships/hyperlink" Target="https://github.com/Microsoft/sql-server-samples/tree/master/samples/features/machine-learning-services/python"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mailto:negust@microsoft.com" TargetMode="External"/><Relationship Id="rId2" Type="http://schemas.openxmlformats.org/officeDocument/2006/relationships/notesSlide" Target="../notesSlides/notesSlide32.xml"/><Relationship Id="rId1" Type="http://schemas.openxmlformats.org/officeDocument/2006/relationships/slideLayout" Target="../slideLayouts/slideLayout45.xml"/><Relationship Id="rId4" Type="http://schemas.openxmlformats.org/officeDocument/2006/relationships/hyperlink" Target="mailto:umajay@microsoft.com"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aka.ms/ignite.mobileapp" TargetMode="External"/><Relationship Id="rId2" Type="http://schemas.openxmlformats.org/officeDocument/2006/relationships/notesSlide" Target="../notesSlides/notesSlide33.xml"/><Relationship Id="rId1" Type="http://schemas.openxmlformats.org/officeDocument/2006/relationships/slideLayout" Target="../slideLayouts/slideLayout57.xml"/><Relationship Id="rId4" Type="http://schemas.openxmlformats.org/officeDocument/2006/relationships/hyperlink" Target="https://myignite.microsoft.com/evaluations"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37.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8.xml"/><Relationship Id="rId1" Type="http://schemas.openxmlformats.org/officeDocument/2006/relationships/slideLayout" Target="../slideLayouts/slideLayout38.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4.xml"/></Relationships>
</file>

<file path=ppt/slides/_rels/slide43.xml.rels><?xml version="1.0" encoding="UTF-8" standalone="yes"?>
<Relationships xmlns="http://schemas.openxmlformats.org/package/2006/relationships"><Relationship Id="rId3" Type="http://schemas.openxmlformats.org/officeDocument/2006/relationships/hyperlink" Target="https://msdn.microsoft.com/en-us/library/mt628054.aspx#bkmk_externalevents" TargetMode="External"/><Relationship Id="rId2" Type="http://schemas.openxmlformats.org/officeDocument/2006/relationships/notesSlide" Target="../notesSlides/notesSlide42.xml"/><Relationship Id="rId1" Type="http://schemas.openxmlformats.org/officeDocument/2006/relationships/slideLayout" Target="../slideLayouts/slideLayout3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3" Type="http://schemas.openxmlformats.org/officeDocument/2006/relationships/hyperlink" Target="https://msdn.microsoft.com/en-us/library/ms803996.aspx" TargetMode="External"/><Relationship Id="rId2" Type="http://schemas.openxmlformats.org/officeDocument/2006/relationships/notesSlide" Target="../notesSlides/notesSlide44.xml"/><Relationship Id="rId1" Type="http://schemas.openxmlformats.org/officeDocument/2006/relationships/slideLayout" Target="../slideLayouts/slideLayout38.xml"/></Relationships>
</file>

<file path=ppt/slides/slide1.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702" y="1211263"/>
            <a:ext cx="10134536" cy="1828786"/>
          </a:xfrm>
        </p:spPr>
        <p:txBody>
          <a:bodyPr/>
          <a:lstStyle/>
          <a:p>
            <a:br>
              <a:rPr lang="en-US" sz="3200"/>
            </a:br>
            <a:r>
              <a:rPr lang="en-US" sz="4000" b="1"/>
              <a:t>Performance patterns for machine learning services in SQL Server</a:t>
            </a:r>
          </a:p>
        </p:txBody>
      </p:sp>
      <p:sp>
        <p:nvSpPr>
          <p:cNvPr id="5" name="Text Placeholder 4"/>
          <p:cNvSpPr>
            <a:spLocks noGrp="1"/>
          </p:cNvSpPr>
          <p:nvPr>
            <p:ph type="body" sz="quarter" idx="12"/>
          </p:nvPr>
        </p:nvSpPr>
        <p:spPr>
          <a:xfrm>
            <a:off x="264656" y="4030662"/>
            <a:ext cx="11810936" cy="1828007"/>
          </a:xfrm>
        </p:spPr>
        <p:txBody>
          <a:bodyPr/>
          <a:lstStyle/>
          <a:p>
            <a:r>
              <a:rPr lang="en-US" sz="2400" dirty="0"/>
              <a:t>Nellie Gustafsson</a:t>
            </a:r>
          </a:p>
          <a:p>
            <a:r>
              <a:rPr lang="en-US" sz="2400" dirty="0"/>
              <a:t>Umachandar Jayachandran</a:t>
            </a:r>
          </a:p>
        </p:txBody>
      </p:sp>
      <p:sp>
        <p:nvSpPr>
          <p:cNvPr id="2" name="TextBox 1">
            <a:extLst>
              <a:ext uri="{FF2B5EF4-FFF2-40B4-BE49-F238E27FC236}">
                <a16:creationId xmlns:a16="http://schemas.microsoft.com/office/drawing/2014/main" id="{393BE14E-4E77-49D6-8D8A-83FA2F89AC92}"/>
              </a:ext>
            </a:extLst>
          </p:cNvPr>
          <p:cNvSpPr txBox="1"/>
          <p:nvPr/>
        </p:nvSpPr>
        <p:spPr>
          <a:xfrm>
            <a:off x="10147300" y="404807"/>
            <a:ext cx="1928292" cy="622300"/>
          </a:xfrm>
          <a:prstGeom prst="rect">
            <a:avLst/>
          </a:prstGeom>
          <a:noFill/>
        </p:spPr>
        <p:txBody>
          <a:bodyPr wrap="square" lIns="182880" tIns="146304" rIns="182880" bIns="146304" rtlCol="0">
            <a:spAutoFit/>
          </a:bodyPr>
          <a:lstStyle/>
          <a:p>
            <a:pPr marL="0" marR="0" lvl="0" indent="0" algn="r"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BRK3261</a:t>
            </a:r>
          </a:p>
        </p:txBody>
      </p:sp>
    </p:spTree>
    <p:extLst>
      <p:ext uri="{BB962C8B-B14F-4D97-AF65-F5344CB8AC3E}">
        <p14:creationId xmlns:p14="http://schemas.microsoft.com/office/powerpoint/2010/main" val="3788647698"/>
      </p:ext>
    </p:extLst>
  </p:cSld>
  <p:clrMapOvr>
    <a:masterClrMapping/>
  </p:clrMapOvr>
  <mc:AlternateContent xmlns:mc="http://schemas.openxmlformats.org/markup-compatibility/2006" xmlns:p14="http://schemas.microsoft.com/office/powerpoint/2010/main">
    <mc:Choice Requires="p14">
      <p:transition p14:dur="0"/>
    </mc:Choice>
    <mc:Fallback>
      <p:transition spd="med">
        <p:fade/>
      </p:transition>
    </mc:Fallback>
  </mc:AlternateContent>
</p:sld>
</file>

<file path=ppt/slides/slide2.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Agenda</a:t>
            </a:r>
          </a:p>
        </p:txBody>
      </p:sp>
      <p:sp>
        <p:nvSpPr>
          <p:cNvPr id="3" name="Content Placeholder 2"/>
          <p:cNvSpPr>
            <a:spLocks noGrp="1"/>
          </p:cNvSpPr>
          <p:nvPr>
            <p:ph type="body" sz="quarter" idx="10"/>
          </p:nvPr>
        </p:nvSpPr>
        <p:spPr>
          <a:xfrm>
            <a:off x="274639" y="1480794"/>
            <a:ext cx="11887100" cy="3865674"/>
          </a:xfrm>
        </p:spPr>
        <p:txBody>
          <a:bodyPr vert="horz" wrap="square" lIns="146304" tIns="91440" rIns="146304" bIns="91440" rtlCol="0" anchor="t">
            <a:spAutoFit/>
          </a:bodyPr>
          <a:lstStyle/>
          <a:p>
            <a:r>
              <a:rPr lang="en-US" dirty="0"/>
              <a:t>Why machine learning in SQL Server?</a:t>
            </a:r>
          </a:p>
          <a:p>
            <a:r>
              <a:rPr lang="en-US" dirty="0"/>
              <a:t>How to leverage:</a:t>
            </a:r>
          </a:p>
          <a:p>
            <a:pPr lvl="1"/>
            <a:r>
              <a:rPr lang="en-US" sz="2400" dirty="0"/>
              <a:t>SQL Compute context</a:t>
            </a:r>
          </a:p>
          <a:p>
            <a:pPr lvl="1"/>
            <a:r>
              <a:rPr lang="en-US" dirty="0" err="1"/>
              <a:t>sp_execute_external_script</a:t>
            </a:r>
            <a:r>
              <a:rPr lang="en-US" dirty="0"/>
              <a:t> features</a:t>
            </a:r>
          </a:p>
          <a:p>
            <a:pPr lvl="1"/>
            <a:r>
              <a:rPr lang="en-US" dirty="0"/>
              <a:t>PREDICT T-SQL Function</a:t>
            </a:r>
          </a:p>
          <a:p>
            <a:r>
              <a:rPr lang="en-US" dirty="0"/>
              <a:t>Call to action</a:t>
            </a:r>
          </a:p>
          <a:p>
            <a:r>
              <a:rPr lang="en-US" dirty="0"/>
              <a:t>Questions</a:t>
            </a:r>
          </a:p>
        </p:txBody>
      </p:sp>
    </p:spTree>
    <p:extLst>
      <p:ext uri="{BB962C8B-B14F-4D97-AF65-F5344CB8AC3E}">
        <p14:creationId xmlns:p14="http://schemas.microsoft.com/office/powerpoint/2010/main" val="2434563933"/>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3.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639" y="278444"/>
            <a:ext cx="11889564" cy="917575"/>
          </a:xfrm>
        </p:spPr>
        <p:txBody>
          <a:bodyPr>
            <a:normAutofit/>
          </a:bodyPr>
          <a:lstStyle/>
          <a:p>
            <a:r>
              <a:rPr lang="en-US" sz="4896" dirty="0"/>
              <a:t>Why machine learning with SQL Server?</a:t>
            </a:r>
            <a:endParaRPr lang="en-US" sz="4896" dirty="0">
              <a:solidFill>
                <a:schemeClr val="tx1"/>
              </a:solidFill>
              <a:cs typeface="Segoe UI Light"/>
            </a:endParaRPr>
          </a:p>
        </p:txBody>
      </p:sp>
      <p:grpSp>
        <p:nvGrpSpPr>
          <p:cNvPr id="3" name="Group 2">
            <a:extLst>
              <a:ext uri="{FF2B5EF4-FFF2-40B4-BE49-F238E27FC236}">
                <a16:creationId xmlns:a16="http://schemas.microsoft.com/office/drawing/2014/main" id="{644D0F1F-250A-4DBB-9953-3810414178D3}"/>
              </a:ext>
            </a:extLst>
          </p:cNvPr>
          <p:cNvGrpSpPr/>
          <p:nvPr/>
        </p:nvGrpSpPr>
        <p:grpSpPr>
          <a:xfrm>
            <a:off x="251649" y="1712717"/>
            <a:ext cx="3845126" cy="4523189"/>
            <a:chOff x="251649" y="1712717"/>
            <a:chExt cx="3845126" cy="4523189"/>
          </a:xfrm>
        </p:grpSpPr>
        <p:sp>
          <p:nvSpPr>
            <p:cNvPr id="14" name="Rectangle 13"/>
            <p:cNvSpPr/>
            <p:nvPr/>
          </p:nvSpPr>
          <p:spPr bwMode="auto">
            <a:xfrm>
              <a:off x="251649" y="1712717"/>
              <a:ext cx="3845126" cy="4523189"/>
            </a:xfrm>
            <a:prstGeom prst="rect">
              <a:avLst/>
            </a:prstGeom>
            <a:solidFill>
              <a:schemeClr val="accent6">
                <a:lumMod val="90000"/>
              </a:schemeClr>
            </a:solidFill>
            <a:ln w="6350" cap="flat" cmpd="sng" algn="ctr">
              <a:noFill/>
              <a:prstDash val="solid"/>
              <a:headEnd type="none" w="med" len="med"/>
              <a:tailEnd type="none" w="med" len="med"/>
            </a:ln>
            <a:effectLst/>
          </p:spPr>
          <p:txBody>
            <a:bodyPr rot="0" spcFirstLastPara="0" vert="horz" wrap="square" lIns="142635" tIns="186494" rIns="95089" bIns="142635"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50752"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Segoe UI Light"/>
                  <a:ea typeface="+mn-ea"/>
                  <a:cs typeface="+mn-cs"/>
                </a:rPr>
                <a:t>Reduce or eliminate </a:t>
              </a:r>
              <a:br>
                <a:rPr kumimoji="0" lang="en-US" sz="3200" b="1" i="0" u="none" strike="noStrike" kern="0" cap="none" spc="0" normalizeH="0" baseline="0" noProof="0" dirty="0">
                  <a:ln>
                    <a:noFill/>
                  </a:ln>
                  <a:solidFill>
                    <a:srgbClr val="FFFFFF"/>
                  </a:solidFill>
                  <a:effectLst/>
                  <a:uLnTx/>
                  <a:uFillTx/>
                  <a:latin typeface="Segoe UI Light"/>
                  <a:ea typeface="+mn-ea"/>
                  <a:cs typeface="+mn-cs"/>
                </a:rPr>
              </a:br>
              <a:r>
                <a:rPr kumimoji="0" lang="en-US" sz="3200" b="1" i="0" u="none" strike="noStrike" kern="0" cap="none" spc="0" normalizeH="0" baseline="0" noProof="0" dirty="0">
                  <a:ln>
                    <a:noFill/>
                  </a:ln>
                  <a:solidFill>
                    <a:srgbClr val="FFFFFF"/>
                  </a:solidFill>
                  <a:effectLst/>
                  <a:uLnTx/>
                  <a:uFillTx/>
                  <a:latin typeface="Segoe UI Light"/>
                  <a:ea typeface="+mn-ea"/>
                  <a:cs typeface="+mn-cs"/>
                </a:rPr>
                <a:t>data movement with</a:t>
              </a:r>
              <a:br>
                <a:rPr kumimoji="0" lang="en-US" sz="3200" b="1" i="0" u="none" strike="noStrike" kern="0" cap="none" spc="0" normalizeH="0" baseline="0" noProof="0" dirty="0">
                  <a:ln>
                    <a:noFill/>
                  </a:ln>
                  <a:solidFill>
                    <a:srgbClr val="FFFFFF"/>
                  </a:solidFill>
                  <a:effectLst/>
                  <a:uLnTx/>
                  <a:uFillTx/>
                  <a:latin typeface="Segoe UI Light"/>
                  <a:ea typeface="+mn-ea"/>
                  <a:cs typeface="+mn-cs"/>
                </a:rPr>
              </a:br>
              <a:r>
                <a:rPr kumimoji="0" lang="en-US" sz="3200" b="1" i="0" u="none" strike="noStrike" kern="0" cap="none" spc="0" normalizeH="0" baseline="0" noProof="0" dirty="0">
                  <a:ln>
                    <a:noFill/>
                  </a:ln>
                  <a:solidFill>
                    <a:srgbClr val="FFFFFF"/>
                  </a:solidFill>
                  <a:effectLst/>
                  <a:uLnTx/>
                  <a:uFillTx/>
                  <a:latin typeface="Segoe UI Light"/>
                  <a:ea typeface="+mn-ea"/>
                  <a:cs typeface="+mn-cs"/>
                </a:rPr>
                <a:t>in-database analytics</a:t>
              </a:r>
            </a:p>
          </p:txBody>
        </p:sp>
        <p:grpSp>
          <p:nvGrpSpPr>
            <p:cNvPr id="20" name="Group 19"/>
            <p:cNvGrpSpPr/>
            <p:nvPr/>
          </p:nvGrpSpPr>
          <p:grpSpPr>
            <a:xfrm>
              <a:off x="1220457" y="4370752"/>
              <a:ext cx="1737185" cy="942592"/>
              <a:chOff x="3445342" y="1861606"/>
              <a:chExt cx="1435076" cy="778671"/>
            </a:xfrm>
            <a:solidFill>
              <a:schemeClr val="accent1"/>
            </a:solidFill>
          </p:grpSpPr>
          <p:grpSp>
            <p:nvGrpSpPr>
              <p:cNvPr id="22" name="Group 21"/>
              <p:cNvGrpSpPr/>
              <p:nvPr/>
            </p:nvGrpSpPr>
            <p:grpSpPr>
              <a:xfrm flipH="1">
                <a:off x="3445342" y="1861606"/>
                <a:ext cx="1435076" cy="778671"/>
                <a:chOff x="277815" y="5430775"/>
                <a:chExt cx="1155702" cy="627075"/>
              </a:xfrm>
              <a:grpFill/>
            </p:grpSpPr>
            <p:sp>
              <p:nvSpPr>
                <p:cNvPr id="26" name="Freeform 260"/>
                <p:cNvSpPr>
                  <a:spLocks/>
                </p:cNvSpPr>
                <p:nvPr/>
              </p:nvSpPr>
              <p:spPr bwMode="auto">
                <a:xfrm>
                  <a:off x="668341" y="5430775"/>
                  <a:ext cx="765175" cy="487357"/>
                </a:xfrm>
                <a:custGeom>
                  <a:avLst/>
                  <a:gdLst>
                    <a:gd name="T0" fmla="*/ 10 w 220"/>
                    <a:gd name="T1" fmla="*/ 0 h 141"/>
                    <a:gd name="T2" fmla="*/ 10 w 220"/>
                    <a:gd name="T3" fmla="*/ 0 h 141"/>
                    <a:gd name="T4" fmla="*/ 0 w 220"/>
                    <a:gd name="T5" fmla="*/ 10 h 141"/>
                    <a:gd name="T6" fmla="*/ 0 w 220"/>
                    <a:gd name="T7" fmla="*/ 131 h 141"/>
                    <a:gd name="T8" fmla="*/ 10 w 220"/>
                    <a:gd name="T9" fmla="*/ 141 h 141"/>
                    <a:gd name="T10" fmla="*/ 10 w 220"/>
                    <a:gd name="T11" fmla="*/ 141 h 141"/>
                    <a:gd name="T12" fmla="*/ 220 w 220"/>
                    <a:gd name="T13" fmla="*/ 141 h 141"/>
                    <a:gd name="T14" fmla="*/ 220 w 220"/>
                    <a:gd name="T15" fmla="*/ 0 h 141"/>
                    <a:gd name="T16" fmla="*/ 10 w 220"/>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0" h="141">
                      <a:moveTo>
                        <a:pt x="10" y="0"/>
                      </a:moveTo>
                      <a:cubicBezTo>
                        <a:pt x="10" y="0"/>
                        <a:pt x="10" y="0"/>
                        <a:pt x="10" y="0"/>
                      </a:cubicBezTo>
                      <a:cubicBezTo>
                        <a:pt x="5" y="0"/>
                        <a:pt x="0" y="5"/>
                        <a:pt x="0" y="10"/>
                      </a:cubicBezTo>
                      <a:cubicBezTo>
                        <a:pt x="0" y="131"/>
                        <a:pt x="0" y="131"/>
                        <a:pt x="0" y="131"/>
                      </a:cubicBezTo>
                      <a:cubicBezTo>
                        <a:pt x="0" y="136"/>
                        <a:pt x="5" y="141"/>
                        <a:pt x="10" y="141"/>
                      </a:cubicBezTo>
                      <a:cubicBezTo>
                        <a:pt x="10" y="141"/>
                        <a:pt x="10" y="141"/>
                        <a:pt x="10" y="141"/>
                      </a:cubicBezTo>
                      <a:cubicBezTo>
                        <a:pt x="220" y="141"/>
                        <a:pt x="220" y="141"/>
                        <a:pt x="220" y="141"/>
                      </a:cubicBezTo>
                      <a:cubicBezTo>
                        <a:pt x="220" y="0"/>
                        <a:pt x="220" y="0"/>
                        <a:pt x="220" y="0"/>
                      </a:cubicBez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7" name="Rectangle 261"/>
                <p:cNvSpPr>
                  <a:spLocks noChangeArrowheads="1"/>
                </p:cNvSpPr>
                <p:nvPr/>
              </p:nvSpPr>
              <p:spPr bwMode="auto">
                <a:xfrm>
                  <a:off x="449265" y="5803834"/>
                  <a:ext cx="198438" cy="14287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8" name="Rectangle 262"/>
                <p:cNvSpPr>
                  <a:spLocks noChangeArrowheads="1"/>
                </p:cNvSpPr>
                <p:nvPr/>
              </p:nvSpPr>
              <p:spPr bwMode="auto">
                <a:xfrm>
                  <a:off x="292102" y="5870508"/>
                  <a:ext cx="184150" cy="9683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9" name="Freeform 263"/>
                <p:cNvSpPr>
                  <a:spLocks/>
                </p:cNvSpPr>
                <p:nvPr/>
              </p:nvSpPr>
              <p:spPr bwMode="auto">
                <a:xfrm>
                  <a:off x="285752" y="5689541"/>
                  <a:ext cx="361950" cy="257173"/>
                </a:xfrm>
                <a:custGeom>
                  <a:avLst/>
                  <a:gdLst>
                    <a:gd name="T0" fmla="*/ 99 w 104"/>
                    <a:gd name="T1" fmla="*/ 0 h 74"/>
                    <a:gd name="T2" fmla="*/ 69 w 104"/>
                    <a:gd name="T3" fmla="*/ 0 h 74"/>
                    <a:gd name="T4" fmla="*/ 51 w 104"/>
                    <a:gd name="T5" fmla="*/ 30 h 74"/>
                    <a:gd name="T6" fmla="*/ 51 w 104"/>
                    <a:gd name="T7" fmla="*/ 30 h 74"/>
                    <a:gd name="T8" fmla="*/ 0 w 104"/>
                    <a:gd name="T9" fmla="*/ 53 h 74"/>
                    <a:gd name="T10" fmla="*/ 0 w 104"/>
                    <a:gd name="T11" fmla="*/ 71 h 74"/>
                    <a:gd name="T12" fmla="*/ 2 w 104"/>
                    <a:gd name="T13" fmla="*/ 74 h 74"/>
                    <a:gd name="T14" fmla="*/ 17 w 104"/>
                    <a:gd name="T15" fmla="*/ 74 h 74"/>
                    <a:gd name="T16" fmla="*/ 51 w 104"/>
                    <a:gd name="T17" fmla="*/ 58 h 74"/>
                    <a:gd name="T18" fmla="*/ 64 w 104"/>
                    <a:gd name="T19" fmla="*/ 71 h 74"/>
                    <a:gd name="T20" fmla="*/ 99 w 104"/>
                    <a:gd name="T21" fmla="*/ 71 h 74"/>
                    <a:gd name="T22" fmla="*/ 104 w 104"/>
                    <a:gd name="T23" fmla="*/ 66 h 74"/>
                    <a:gd name="T24" fmla="*/ 104 w 104"/>
                    <a:gd name="T25" fmla="*/ 5 h 74"/>
                    <a:gd name="T26" fmla="*/ 99 w 104"/>
                    <a:gd name="T2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 h="74">
                      <a:moveTo>
                        <a:pt x="99" y="0"/>
                      </a:moveTo>
                      <a:cubicBezTo>
                        <a:pt x="69" y="0"/>
                        <a:pt x="69" y="0"/>
                        <a:pt x="69" y="0"/>
                      </a:cubicBezTo>
                      <a:cubicBezTo>
                        <a:pt x="61" y="0"/>
                        <a:pt x="51" y="30"/>
                        <a:pt x="51" y="30"/>
                      </a:cubicBezTo>
                      <a:cubicBezTo>
                        <a:pt x="51" y="30"/>
                        <a:pt x="51" y="30"/>
                        <a:pt x="51" y="30"/>
                      </a:cubicBezTo>
                      <a:cubicBezTo>
                        <a:pt x="43" y="31"/>
                        <a:pt x="0" y="38"/>
                        <a:pt x="0" y="53"/>
                      </a:cubicBezTo>
                      <a:cubicBezTo>
                        <a:pt x="0" y="57"/>
                        <a:pt x="0" y="68"/>
                        <a:pt x="0" y="71"/>
                      </a:cubicBezTo>
                      <a:cubicBezTo>
                        <a:pt x="0" y="73"/>
                        <a:pt x="2" y="74"/>
                        <a:pt x="2" y="74"/>
                      </a:cubicBezTo>
                      <a:cubicBezTo>
                        <a:pt x="17" y="74"/>
                        <a:pt x="17" y="74"/>
                        <a:pt x="17" y="74"/>
                      </a:cubicBezTo>
                      <a:cubicBezTo>
                        <a:pt x="28" y="51"/>
                        <a:pt x="51" y="58"/>
                        <a:pt x="51" y="58"/>
                      </a:cubicBezTo>
                      <a:cubicBezTo>
                        <a:pt x="57" y="60"/>
                        <a:pt x="62" y="66"/>
                        <a:pt x="64" y="71"/>
                      </a:cubicBezTo>
                      <a:cubicBezTo>
                        <a:pt x="99" y="71"/>
                        <a:pt x="99" y="71"/>
                        <a:pt x="99" y="71"/>
                      </a:cubicBezTo>
                      <a:cubicBezTo>
                        <a:pt x="102" y="71"/>
                        <a:pt x="104" y="69"/>
                        <a:pt x="104" y="66"/>
                      </a:cubicBezTo>
                      <a:cubicBezTo>
                        <a:pt x="104" y="5"/>
                        <a:pt x="104" y="5"/>
                        <a:pt x="104" y="5"/>
                      </a:cubicBezTo>
                      <a:cubicBezTo>
                        <a:pt x="104" y="2"/>
                        <a:pt x="102" y="0"/>
                        <a:pt x="9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0" name="Freeform 264"/>
                <p:cNvSpPr>
                  <a:spLocks/>
                </p:cNvSpPr>
                <p:nvPr/>
              </p:nvSpPr>
              <p:spPr bwMode="auto">
                <a:xfrm>
                  <a:off x="493715" y="5710172"/>
                  <a:ext cx="111125" cy="98424"/>
                </a:xfrm>
                <a:custGeom>
                  <a:avLst/>
                  <a:gdLst>
                    <a:gd name="T0" fmla="*/ 32 w 32"/>
                    <a:gd name="T1" fmla="*/ 3 h 28"/>
                    <a:gd name="T2" fmla="*/ 29 w 32"/>
                    <a:gd name="T3" fmla="*/ 0 h 28"/>
                    <a:gd name="T4" fmla="*/ 11 w 32"/>
                    <a:gd name="T5" fmla="*/ 0 h 28"/>
                    <a:gd name="T6" fmla="*/ 7 w 32"/>
                    <a:gd name="T7" fmla="*/ 3 h 28"/>
                    <a:gd name="T8" fmla="*/ 2 w 32"/>
                    <a:gd name="T9" fmla="*/ 14 h 28"/>
                    <a:gd name="T10" fmla="*/ 0 w 32"/>
                    <a:gd name="T11" fmla="*/ 20 h 28"/>
                    <a:gd name="T12" fmla="*/ 0 w 32"/>
                    <a:gd name="T13" fmla="*/ 25 h 28"/>
                    <a:gd name="T14" fmla="*/ 3 w 32"/>
                    <a:gd name="T15" fmla="*/ 28 h 28"/>
                    <a:gd name="T16" fmla="*/ 21 w 32"/>
                    <a:gd name="T17" fmla="*/ 28 h 28"/>
                    <a:gd name="T18" fmla="*/ 27 w 32"/>
                    <a:gd name="T19" fmla="*/ 27 h 28"/>
                    <a:gd name="T20" fmla="*/ 32 w 32"/>
                    <a:gd name="T21" fmla="*/ 21 h 28"/>
                    <a:gd name="T22" fmla="*/ 32 w 32"/>
                    <a:gd name="T2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28">
                      <a:moveTo>
                        <a:pt x="32" y="3"/>
                      </a:moveTo>
                      <a:cubicBezTo>
                        <a:pt x="32" y="1"/>
                        <a:pt x="30" y="0"/>
                        <a:pt x="29" y="0"/>
                      </a:cubicBezTo>
                      <a:cubicBezTo>
                        <a:pt x="11" y="0"/>
                        <a:pt x="11" y="0"/>
                        <a:pt x="11" y="0"/>
                      </a:cubicBezTo>
                      <a:cubicBezTo>
                        <a:pt x="9" y="0"/>
                        <a:pt x="7" y="1"/>
                        <a:pt x="7" y="3"/>
                      </a:cubicBezTo>
                      <a:cubicBezTo>
                        <a:pt x="2" y="14"/>
                        <a:pt x="2" y="14"/>
                        <a:pt x="2" y="14"/>
                      </a:cubicBezTo>
                      <a:cubicBezTo>
                        <a:pt x="1" y="16"/>
                        <a:pt x="0" y="18"/>
                        <a:pt x="0" y="20"/>
                      </a:cubicBezTo>
                      <a:cubicBezTo>
                        <a:pt x="0" y="25"/>
                        <a:pt x="0" y="25"/>
                        <a:pt x="0" y="25"/>
                      </a:cubicBezTo>
                      <a:cubicBezTo>
                        <a:pt x="0" y="26"/>
                        <a:pt x="2" y="28"/>
                        <a:pt x="3" y="28"/>
                      </a:cubicBezTo>
                      <a:cubicBezTo>
                        <a:pt x="21" y="28"/>
                        <a:pt x="21" y="28"/>
                        <a:pt x="21" y="28"/>
                      </a:cubicBezTo>
                      <a:cubicBezTo>
                        <a:pt x="23" y="28"/>
                        <a:pt x="25" y="28"/>
                        <a:pt x="27" y="27"/>
                      </a:cubicBezTo>
                      <a:cubicBezTo>
                        <a:pt x="27" y="27"/>
                        <a:pt x="32" y="27"/>
                        <a:pt x="32" y="21"/>
                      </a:cubicBezTo>
                      <a:cubicBezTo>
                        <a:pt x="32" y="16"/>
                        <a:pt x="32" y="3"/>
                        <a:pt x="32" y="3"/>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2" name="Rectangle 265"/>
                <p:cNvSpPr>
                  <a:spLocks noChangeArrowheads="1"/>
                </p:cNvSpPr>
                <p:nvPr/>
              </p:nvSpPr>
              <p:spPr bwMode="auto">
                <a:xfrm>
                  <a:off x="647703" y="5814947"/>
                  <a:ext cx="785814" cy="1317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5" name="Freeform 266"/>
                <p:cNvSpPr>
                  <a:spLocks/>
                </p:cNvSpPr>
                <p:nvPr/>
              </p:nvSpPr>
              <p:spPr bwMode="auto">
                <a:xfrm>
                  <a:off x="688978" y="5926071"/>
                  <a:ext cx="195263" cy="52387"/>
                </a:xfrm>
                <a:custGeom>
                  <a:avLst/>
                  <a:gdLst>
                    <a:gd name="T0" fmla="*/ 7 w 56"/>
                    <a:gd name="T1" fmla="*/ 15 h 15"/>
                    <a:gd name="T2" fmla="*/ 0 w 56"/>
                    <a:gd name="T3" fmla="*/ 8 h 15"/>
                    <a:gd name="T4" fmla="*/ 0 w 56"/>
                    <a:gd name="T5" fmla="*/ 8 h 15"/>
                    <a:gd name="T6" fmla="*/ 7 w 56"/>
                    <a:gd name="T7" fmla="*/ 0 h 15"/>
                    <a:gd name="T8" fmla="*/ 49 w 56"/>
                    <a:gd name="T9" fmla="*/ 0 h 15"/>
                    <a:gd name="T10" fmla="*/ 56 w 56"/>
                    <a:gd name="T11" fmla="*/ 8 h 15"/>
                    <a:gd name="T12" fmla="*/ 56 w 56"/>
                    <a:gd name="T13" fmla="*/ 8 h 15"/>
                    <a:gd name="T14" fmla="*/ 49 w 56"/>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6" h="15">
                      <a:moveTo>
                        <a:pt x="7" y="15"/>
                      </a:moveTo>
                      <a:cubicBezTo>
                        <a:pt x="3" y="15"/>
                        <a:pt x="0" y="12"/>
                        <a:pt x="0" y="8"/>
                      </a:cubicBezTo>
                      <a:cubicBezTo>
                        <a:pt x="0" y="8"/>
                        <a:pt x="0" y="8"/>
                        <a:pt x="0" y="8"/>
                      </a:cubicBezTo>
                      <a:cubicBezTo>
                        <a:pt x="0" y="4"/>
                        <a:pt x="3" y="0"/>
                        <a:pt x="7" y="0"/>
                      </a:cubicBezTo>
                      <a:cubicBezTo>
                        <a:pt x="49" y="0"/>
                        <a:pt x="49" y="0"/>
                        <a:pt x="49" y="0"/>
                      </a:cubicBezTo>
                      <a:cubicBezTo>
                        <a:pt x="53" y="0"/>
                        <a:pt x="56" y="4"/>
                        <a:pt x="56" y="8"/>
                      </a:cubicBezTo>
                      <a:cubicBezTo>
                        <a:pt x="56" y="8"/>
                        <a:pt x="56" y="8"/>
                        <a:pt x="56" y="8"/>
                      </a:cubicBezTo>
                      <a:cubicBezTo>
                        <a:pt x="56" y="12"/>
                        <a:pt x="53" y="15"/>
                        <a:pt x="49" y="15"/>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6" name="Freeform 267"/>
                <p:cNvSpPr>
                  <a:spLocks/>
                </p:cNvSpPr>
                <p:nvPr/>
              </p:nvSpPr>
              <p:spPr bwMode="auto">
                <a:xfrm>
                  <a:off x="277815" y="5956234"/>
                  <a:ext cx="63500" cy="34925"/>
                </a:xfrm>
                <a:custGeom>
                  <a:avLst/>
                  <a:gdLst>
                    <a:gd name="T0" fmla="*/ 18 w 18"/>
                    <a:gd name="T1" fmla="*/ 8 h 10"/>
                    <a:gd name="T2" fmla="*/ 16 w 18"/>
                    <a:gd name="T3" fmla="*/ 10 h 10"/>
                    <a:gd name="T4" fmla="*/ 2 w 18"/>
                    <a:gd name="T5" fmla="*/ 10 h 10"/>
                    <a:gd name="T6" fmla="*/ 0 w 18"/>
                    <a:gd name="T7" fmla="*/ 8 h 10"/>
                    <a:gd name="T8" fmla="*/ 0 w 18"/>
                    <a:gd name="T9" fmla="*/ 3 h 10"/>
                    <a:gd name="T10" fmla="*/ 2 w 18"/>
                    <a:gd name="T11" fmla="*/ 0 h 10"/>
                    <a:gd name="T12" fmla="*/ 16 w 18"/>
                    <a:gd name="T13" fmla="*/ 0 h 10"/>
                    <a:gd name="T14" fmla="*/ 18 w 18"/>
                    <a:gd name="T15" fmla="*/ 3 h 10"/>
                    <a:gd name="T16" fmla="*/ 18 w 18"/>
                    <a:gd name="T17"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0">
                      <a:moveTo>
                        <a:pt x="18" y="8"/>
                      </a:moveTo>
                      <a:cubicBezTo>
                        <a:pt x="18" y="9"/>
                        <a:pt x="17" y="10"/>
                        <a:pt x="16" y="10"/>
                      </a:cubicBezTo>
                      <a:cubicBezTo>
                        <a:pt x="2" y="10"/>
                        <a:pt x="2" y="10"/>
                        <a:pt x="2" y="10"/>
                      </a:cubicBezTo>
                      <a:cubicBezTo>
                        <a:pt x="1" y="10"/>
                        <a:pt x="0" y="9"/>
                        <a:pt x="0" y="8"/>
                      </a:cubicBezTo>
                      <a:cubicBezTo>
                        <a:pt x="0" y="3"/>
                        <a:pt x="0" y="3"/>
                        <a:pt x="0" y="3"/>
                      </a:cubicBezTo>
                      <a:cubicBezTo>
                        <a:pt x="0" y="1"/>
                        <a:pt x="1" y="0"/>
                        <a:pt x="2" y="0"/>
                      </a:cubicBezTo>
                      <a:cubicBezTo>
                        <a:pt x="16" y="0"/>
                        <a:pt x="16" y="0"/>
                        <a:pt x="16" y="0"/>
                      </a:cubicBezTo>
                      <a:cubicBezTo>
                        <a:pt x="17" y="0"/>
                        <a:pt x="18" y="1"/>
                        <a:pt x="18" y="3"/>
                      </a:cubicBezTo>
                      <a:lnTo>
                        <a:pt x="18" y="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7" name="Oval 268"/>
                <p:cNvSpPr>
                  <a:spLocks noChangeArrowheads="1"/>
                </p:cNvSpPr>
                <p:nvPr/>
              </p:nvSpPr>
              <p:spPr bwMode="auto">
                <a:xfrm>
                  <a:off x="365127" y="5918144"/>
                  <a:ext cx="136525" cy="13969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8" name="Oval 269"/>
                <p:cNvSpPr>
                  <a:spLocks noChangeArrowheads="1"/>
                </p:cNvSpPr>
                <p:nvPr/>
              </p:nvSpPr>
              <p:spPr bwMode="auto">
                <a:xfrm>
                  <a:off x="406401" y="5961006"/>
                  <a:ext cx="52388" cy="555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39" name="Oval 270"/>
                <p:cNvSpPr>
                  <a:spLocks noChangeArrowheads="1"/>
                </p:cNvSpPr>
                <p:nvPr/>
              </p:nvSpPr>
              <p:spPr bwMode="auto">
                <a:xfrm>
                  <a:off x="1173164" y="5918151"/>
                  <a:ext cx="138113" cy="13969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0" name="Oval 271"/>
                <p:cNvSpPr>
                  <a:spLocks noChangeArrowheads="1"/>
                </p:cNvSpPr>
                <p:nvPr/>
              </p:nvSpPr>
              <p:spPr bwMode="auto">
                <a:xfrm>
                  <a:off x="1214439" y="5961034"/>
                  <a:ext cx="55563" cy="555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1" name="Freeform 272"/>
                <p:cNvSpPr>
                  <a:spLocks/>
                </p:cNvSpPr>
                <p:nvPr/>
              </p:nvSpPr>
              <p:spPr bwMode="auto">
                <a:xfrm>
                  <a:off x="522289" y="5946776"/>
                  <a:ext cx="125413" cy="61913"/>
                </a:xfrm>
                <a:custGeom>
                  <a:avLst/>
                  <a:gdLst>
                    <a:gd name="T0" fmla="*/ 0 w 36"/>
                    <a:gd name="T1" fmla="*/ 3 h 18"/>
                    <a:gd name="T2" fmla="*/ 3 w 36"/>
                    <a:gd name="T3" fmla="*/ 0 h 18"/>
                    <a:gd name="T4" fmla="*/ 33 w 36"/>
                    <a:gd name="T5" fmla="*/ 0 h 18"/>
                    <a:gd name="T6" fmla="*/ 36 w 36"/>
                    <a:gd name="T7" fmla="*/ 3 h 18"/>
                    <a:gd name="T8" fmla="*/ 36 w 36"/>
                    <a:gd name="T9" fmla="*/ 15 h 18"/>
                    <a:gd name="T10" fmla="*/ 33 w 36"/>
                    <a:gd name="T11" fmla="*/ 18 h 18"/>
                    <a:gd name="T12" fmla="*/ 3 w 36"/>
                    <a:gd name="T13" fmla="*/ 18 h 18"/>
                    <a:gd name="T14" fmla="*/ 0 w 36"/>
                    <a:gd name="T15" fmla="*/ 15 h 18"/>
                    <a:gd name="T16" fmla="*/ 0 w 36"/>
                    <a:gd name="T1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8">
                      <a:moveTo>
                        <a:pt x="0" y="3"/>
                      </a:moveTo>
                      <a:cubicBezTo>
                        <a:pt x="0" y="1"/>
                        <a:pt x="1" y="0"/>
                        <a:pt x="3" y="0"/>
                      </a:cubicBezTo>
                      <a:cubicBezTo>
                        <a:pt x="33" y="0"/>
                        <a:pt x="33" y="0"/>
                        <a:pt x="33" y="0"/>
                      </a:cubicBezTo>
                      <a:cubicBezTo>
                        <a:pt x="35" y="0"/>
                        <a:pt x="36" y="1"/>
                        <a:pt x="36" y="3"/>
                      </a:cubicBezTo>
                      <a:cubicBezTo>
                        <a:pt x="36" y="15"/>
                        <a:pt x="36" y="15"/>
                        <a:pt x="36" y="15"/>
                      </a:cubicBezTo>
                      <a:cubicBezTo>
                        <a:pt x="36" y="17"/>
                        <a:pt x="35" y="18"/>
                        <a:pt x="33" y="18"/>
                      </a:cubicBezTo>
                      <a:cubicBezTo>
                        <a:pt x="3" y="18"/>
                        <a:pt x="3" y="18"/>
                        <a:pt x="3" y="18"/>
                      </a:cubicBezTo>
                      <a:cubicBezTo>
                        <a:pt x="1" y="18"/>
                        <a:pt x="0" y="17"/>
                        <a:pt x="0" y="15"/>
                      </a:cubicBezTo>
                      <a:lnTo>
                        <a:pt x="0" y="3"/>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grpSp>
          <p:sp>
            <p:nvSpPr>
              <p:cNvPr id="24" name="Freeform: Shape 23"/>
              <p:cNvSpPr/>
              <p:nvPr/>
            </p:nvSpPr>
            <p:spPr bwMode="auto">
              <a:xfrm>
                <a:off x="3544191" y="2020268"/>
                <a:ext cx="751021" cy="188280"/>
              </a:xfrm>
              <a:custGeom>
                <a:avLst/>
                <a:gdLst>
                  <a:gd name="connsiteX0" fmla="*/ 510598 w 1297601"/>
                  <a:gd name="connsiteY0" fmla="*/ 659584 h 822700"/>
                  <a:gd name="connsiteX1" fmla="*/ 510598 w 1297601"/>
                  <a:gd name="connsiteY1" fmla="*/ 772396 h 822700"/>
                  <a:gd name="connsiteX2" fmla="*/ 528606 w 1297601"/>
                  <a:gd name="connsiteY2" fmla="*/ 772396 h 822700"/>
                  <a:gd name="connsiteX3" fmla="*/ 565441 w 1297601"/>
                  <a:gd name="connsiteY3" fmla="*/ 756546 h 822700"/>
                  <a:gd name="connsiteX4" fmla="*/ 579207 w 1297601"/>
                  <a:gd name="connsiteY4" fmla="*/ 713907 h 822700"/>
                  <a:gd name="connsiteX5" fmla="*/ 572882 w 1297601"/>
                  <a:gd name="connsiteY5" fmla="*/ 685778 h 822700"/>
                  <a:gd name="connsiteX6" fmla="*/ 554800 w 1297601"/>
                  <a:gd name="connsiteY6" fmla="*/ 666431 h 822700"/>
                  <a:gd name="connsiteX7" fmla="*/ 527118 w 1297601"/>
                  <a:gd name="connsiteY7" fmla="*/ 659584 h 822700"/>
                  <a:gd name="connsiteX8" fmla="*/ 510598 w 1297601"/>
                  <a:gd name="connsiteY8" fmla="*/ 659584 h 822700"/>
                  <a:gd name="connsiteX9" fmla="*/ 1185831 w 1297601"/>
                  <a:gd name="connsiteY9" fmla="*/ 655715 h 822700"/>
                  <a:gd name="connsiteX10" fmla="*/ 1183747 w 1297601"/>
                  <a:gd name="connsiteY10" fmla="*/ 667472 h 822700"/>
                  <a:gd name="connsiteX11" fmla="*/ 1165739 w 1297601"/>
                  <a:gd name="connsiteY11" fmla="*/ 737719 h 822700"/>
                  <a:gd name="connsiteX12" fmla="*/ 1206518 w 1297601"/>
                  <a:gd name="connsiteY12" fmla="*/ 737719 h 822700"/>
                  <a:gd name="connsiteX13" fmla="*/ 1191635 w 1297601"/>
                  <a:gd name="connsiteY13" fmla="*/ 679676 h 822700"/>
                  <a:gd name="connsiteX14" fmla="*/ 1187319 w 1297601"/>
                  <a:gd name="connsiteY14" fmla="*/ 655715 h 822700"/>
                  <a:gd name="connsiteX15" fmla="*/ 1185831 w 1297601"/>
                  <a:gd name="connsiteY15" fmla="*/ 655715 h 822700"/>
                  <a:gd name="connsiteX16" fmla="*/ 766731 w 1297601"/>
                  <a:gd name="connsiteY16" fmla="*/ 655715 h 822700"/>
                  <a:gd name="connsiteX17" fmla="*/ 764647 w 1297601"/>
                  <a:gd name="connsiteY17" fmla="*/ 667472 h 822700"/>
                  <a:gd name="connsiteX18" fmla="*/ 746639 w 1297601"/>
                  <a:gd name="connsiteY18" fmla="*/ 737719 h 822700"/>
                  <a:gd name="connsiteX19" fmla="*/ 787418 w 1297601"/>
                  <a:gd name="connsiteY19" fmla="*/ 737719 h 822700"/>
                  <a:gd name="connsiteX20" fmla="*/ 772535 w 1297601"/>
                  <a:gd name="connsiteY20" fmla="*/ 679676 h 822700"/>
                  <a:gd name="connsiteX21" fmla="*/ 768219 w 1297601"/>
                  <a:gd name="connsiteY21" fmla="*/ 655715 h 822700"/>
                  <a:gd name="connsiteX22" fmla="*/ 766731 w 1297601"/>
                  <a:gd name="connsiteY22" fmla="*/ 655715 h 822700"/>
                  <a:gd name="connsiteX23" fmla="*/ 1148624 w 1297601"/>
                  <a:gd name="connsiteY23" fmla="*/ 609281 h 822700"/>
                  <a:gd name="connsiteX24" fmla="*/ 1228396 w 1297601"/>
                  <a:gd name="connsiteY24" fmla="*/ 609281 h 822700"/>
                  <a:gd name="connsiteX25" fmla="*/ 1297601 w 1297601"/>
                  <a:gd name="connsiteY25" fmla="*/ 822700 h 822700"/>
                  <a:gd name="connsiteX26" fmla="*/ 1227800 w 1297601"/>
                  <a:gd name="connsiteY26" fmla="*/ 822700 h 822700"/>
                  <a:gd name="connsiteX27" fmla="*/ 1218424 w 1297601"/>
                  <a:gd name="connsiteY27" fmla="*/ 783410 h 822700"/>
                  <a:gd name="connsiteX28" fmla="*/ 1154726 w 1297601"/>
                  <a:gd name="connsiteY28" fmla="*/ 783410 h 822700"/>
                  <a:gd name="connsiteX29" fmla="*/ 1144605 w 1297601"/>
                  <a:gd name="connsiteY29" fmla="*/ 822700 h 822700"/>
                  <a:gd name="connsiteX30" fmla="*/ 1075103 w 1297601"/>
                  <a:gd name="connsiteY30" fmla="*/ 822700 h 822700"/>
                  <a:gd name="connsiteX31" fmla="*/ 1148624 w 1297601"/>
                  <a:gd name="connsiteY31" fmla="*/ 609281 h 822700"/>
                  <a:gd name="connsiteX32" fmla="*/ 887133 w 1297601"/>
                  <a:gd name="connsiteY32" fmla="*/ 609281 h 822700"/>
                  <a:gd name="connsiteX33" fmla="*/ 1071829 w 1297601"/>
                  <a:gd name="connsiteY33" fmla="*/ 609281 h 822700"/>
                  <a:gd name="connsiteX34" fmla="*/ 1071829 w 1297601"/>
                  <a:gd name="connsiteY34" fmla="*/ 659584 h 822700"/>
                  <a:gd name="connsiteX35" fmla="*/ 1011404 w 1297601"/>
                  <a:gd name="connsiteY35" fmla="*/ 659584 h 822700"/>
                  <a:gd name="connsiteX36" fmla="*/ 1011404 w 1297601"/>
                  <a:gd name="connsiteY36" fmla="*/ 822700 h 822700"/>
                  <a:gd name="connsiteX37" fmla="*/ 946813 w 1297601"/>
                  <a:gd name="connsiteY37" fmla="*/ 822700 h 822700"/>
                  <a:gd name="connsiteX38" fmla="*/ 946813 w 1297601"/>
                  <a:gd name="connsiteY38" fmla="*/ 659584 h 822700"/>
                  <a:gd name="connsiteX39" fmla="*/ 887133 w 1297601"/>
                  <a:gd name="connsiteY39" fmla="*/ 659584 h 822700"/>
                  <a:gd name="connsiteX40" fmla="*/ 887133 w 1297601"/>
                  <a:gd name="connsiteY40" fmla="*/ 609281 h 822700"/>
                  <a:gd name="connsiteX41" fmla="*/ 729524 w 1297601"/>
                  <a:gd name="connsiteY41" fmla="*/ 609281 h 822700"/>
                  <a:gd name="connsiteX42" fmla="*/ 809296 w 1297601"/>
                  <a:gd name="connsiteY42" fmla="*/ 609281 h 822700"/>
                  <a:gd name="connsiteX43" fmla="*/ 878501 w 1297601"/>
                  <a:gd name="connsiteY43" fmla="*/ 822700 h 822700"/>
                  <a:gd name="connsiteX44" fmla="*/ 808700 w 1297601"/>
                  <a:gd name="connsiteY44" fmla="*/ 822700 h 822700"/>
                  <a:gd name="connsiteX45" fmla="*/ 799324 w 1297601"/>
                  <a:gd name="connsiteY45" fmla="*/ 783410 h 822700"/>
                  <a:gd name="connsiteX46" fmla="*/ 735626 w 1297601"/>
                  <a:gd name="connsiteY46" fmla="*/ 783410 h 822700"/>
                  <a:gd name="connsiteX47" fmla="*/ 725505 w 1297601"/>
                  <a:gd name="connsiteY47" fmla="*/ 822700 h 822700"/>
                  <a:gd name="connsiteX48" fmla="*/ 656003 w 1297601"/>
                  <a:gd name="connsiteY48" fmla="*/ 822700 h 822700"/>
                  <a:gd name="connsiteX49" fmla="*/ 729524 w 1297601"/>
                  <a:gd name="connsiteY49" fmla="*/ 609281 h 822700"/>
                  <a:gd name="connsiteX50" fmla="*/ 446304 w 1297601"/>
                  <a:gd name="connsiteY50" fmla="*/ 609281 h 822700"/>
                  <a:gd name="connsiteX51" fmla="*/ 534708 w 1297601"/>
                  <a:gd name="connsiteY51" fmla="*/ 609281 h 822700"/>
                  <a:gd name="connsiteX52" fmla="*/ 647520 w 1297601"/>
                  <a:gd name="connsiteY52" fmla="*/ 713311 h 822700"/>
                  <a:gd name="connsiteX53" fmla="*/ 633902 w 1297601"/>
                  <a:gd name="connsiteY53" fmla="*/ 770685 h 822700"/>
                  <a:gd name="connsiteX54" fmla="*/ 594983 w 1297601"/>
                  <a:gd name="connsiteY54" fmla="*/ 809157 h 822700"/>
                  <a:gd name="connsiteX55" fmla="*/ 536643 w 1297601"/>
                  <a:gd name="connsiteY55" fmla="*/ 822700 h 822700"/>
                  <a:gd name="connsiteX56" fmla="*/ 446304 w 1297601"/>
                  <a:gd name="connsiteY56" fmla="*/ 822700 h 822700"/>
                  <a:gd name="connsiteX57" fmla="*/ 446304 w 1297601"/>
                  <a:gd name="connsiteY57" fmla="*/ 609281 h 822700"/>
                  <a:gd name="connsiteX58" fmla="*/ 0 w 1297601"/>
                  <a:gd name="connsiteY58" fmla="*/ 284168 h 822700"/>
                  <a:gd name="connsiteX59" fmla="*/ 284168 w 1297601"/>
                  <a:gd name="connsiteY59" fmla="*/ 0 h 822700"/>
                  <a:gd name="connsiteX60" fmla="*/ 284168 w 1297601"/>
                  <a:gd name="connsiteY60" fmla="*/ 284168 h 822700"/>
                  <a:gd name="connsiteX61" fmla="*/ 0 w 1297601"/>
                  <a:gd name="connsiteY61" fmla="*/ 284168 h 822700"/>
                  <a:gd name="connsiteX0" fmla="*/ 226430 w 1013433"/>
                  <a:gd name="connsiteY0" fmla="*/ 659584 h 822700"/>
                  <a:gd name="connsiteX1" fmla="*/ 226430 w 1013433"/>
                  <a:gd name="connsiteY1" fmla="*/ 772396 h 822700"/>
                  <a:gd name="connsiteX2" fmla="*/ 244438 w 1013433"/>
                  <a:gd name="connsiteY2" fmla="*/ 772396 h 822700"/>
                  <a:gd name="connsiteX3" fmla="*/ 281273 w 1013433"/>
                  <a:gd name="connsiteY3" fmla="*/ 756546 h 822700"/>
                  <a:gd name="connsiteX4" fmla="*/ 295039 w 1013433"/>
                  <a:gd name="connsiteY4" fmla="*/ 713907 h 822700"/>
                  <a:gd name="connsiteX5" fmla="*/ 288714 w 1013433"/>
                  <a:gd name="connsiteY5" fmla="*/ 685778 h 822700"/>
                  <a:gd name="connsiteX6" fmla="*/ 270632 w 1013433"/>
                  <a:gd name="connsiteY6" fmla="*/ 666431 h 822700"/>
                  <a:gd name="connsiteX7" fmla="*/ 242950 w 1013433"/>
                  <a:gd name="connsiteY7" fmla="*/ 659584 h 822700"/>
                  <a:gd name="connsiteX8" fmla="*/ 226430 w 1013433"/>
                  <a:gd name="connsiteY8" fmla="*/ 659584 h 822700"/>
                  <a:gd name="connsiteX9" fmla="*/ 901663 w 1013433"/>
                  <a:gd name="connsiteY9" fmla="*/ 655715 h 822700"/>
                  <a:gd name="connsiteX10" fmla="*/ 899579 w 1013433"/>
                  <a:gd name="connsiteY10" fmla="*/ 667472 h 822700"/>
                  <a:gd name="connsiteX11" fmla="*/ 881571 w 1013433"/>
                  <a:gd name="connsiteY11" fmla="*/ 737719 h 822700"/>
                  <a:gd name="connsiteX12" fmla="*/ 922350 w 1013433"/>
                  <a:gd name="connsiteY12" fmla="*/ 737719 h 822700"/>
                  <a:gd name="connsiteX13" fmla="*/ 907467 w 1013433"/>
                  <a:gd name="connsiteY13" fmla="*/ 679676 h 822700"/>
                  <a:gd name="connsiteX14" fmla="*/ 903151 w 1013433"/>
                  <a:gd name="connsiteY14" fmla="*/ 655715 h 822700"/>
                  <a:gd name="connsiteX15" fmla="*/ 901663 w 1013433"/>
                  <a:gd name="connsiteY15" fmla="*/ 655715 h 822700"/>
                  <a:gd name="connsiteX16" fmla="*/ 482563 w 1013433"/>
                  <a:gd name="connsiteY16" fmla="*/ 655715 h 822700"/>
                  <a:gd name="connsiteX17" fmla="*/ 480479 w 1013433"/>
                  <a:gd name="connsiteY17" fmla="*/ 667472 h 822700"/>
                  <a:gd name="connsiteX18" fmla="*/ 462471 w 1013433"/>
                  <a:gd name="connsiteY18" fmla="*/ 737719 h 822700"/>
                  <a:gd name="connsiteX19" fmla="*/ 503250 w 1013433"/>
                  <a:gd name="connsiteY19" fmla="*/ 737719 h 822700"/>
                  <a:gd name="connsiteX20" fmla="*/ 488367 w 1013433"/>
                  <a:gd name="connsiteY20" fmla="*/ 679676 h 822700"/>
                  <a:gd name="connsiteX21" fmla="*/ 484051 w 1013433"/>
                  <a:gd name="connsiteY21" fmla="*/ 655715 h 822700"/>
                  <a:gd name="connsiteX22" fmla="*/ 482563 w 1013433"/>
                  <a:gd name="connsiteY22" fmla="*/ 655715 h 822700"/>
                  <a:gd name="connsiteX23" fmla="*/ 864456 w 1013433"/>
                  <a:gd name="connsiteY23" fmla="*/ 609281 h 822700"/>
                  <a:gd name="connsiteX24" fmla="*/ 944228 w 1013433"/>
                  <a:gd name="connsiteY24" fmla="*/ 609281 h 822700"/>
                  <a:gd name="connsiteX25" fmla="*/ 1013433 w 1013433"/>
                  <a:gd name="connsiteY25" fmla="*/ 822700 h 822700"/>
                  <a:gd name="connsiteX26" fmla="*/ 943632 w 1013433"/>
                  <a:gd name="connsiteY26" fmla="*/ 822700 h 822700"/>
                  <a:gd name="connsiteX27" fmla="*/ 934256 w 1013433"/>
                  <a:gd name="connsiteY27" fmla="*/ 783410 h 822700"/>
                  <a:gd name="connsiteX28" fmla="*/ 870558 w 1013433"/>
                  <a:gd name="connsiteY28" fmla="*/ 783410 h 822700"/>
                  <a:gd name="connsiteX29" fmla="*/ 860437 w 1013433"/>
                  <a:gd name="connsiteY29" fmla="*/ 822700 h 822700"/>
                  <a:gd name="connsiteX30" fmla="*/ 790935 w 1013433"/>
                  <a:gd name="connsiteY30" fmla="*/ 822700 h 822700"/>
                  <a:gd name="connsiteX31" fmla="*/ 864456 w 1013433"/>
                  <a:gd name="connsiteY31" fmla="*/ 609281 h 822700"/>
                  <a:gd name="connsiteX32" fmla="*/ 602965 w 1013433"/>
                  <a:gd name="connsiteY32" fmla="*/ 609281 h 822700"/>
                  <a:gd name="connsiteX33" fmla="*/ 787661 w 1013433"/>
                  <a:gd name="connsiteY33" fmla="*/ 609281 h 822700"/>
                  <a:gd name="connsiteX34" fmla="*/ 787661 w 1013433"/>
                  <a:gd name="connsiteY34" fmla="*/ 659584 h 822700"/>
                  <a:gd name="connsiteX35" fmla="*/ 727236 w 1013433"/>
                  <a:gd name="connsiteY35" fmla="*/ 659584 h 822700"/>
                  <a:gd name="connsiteX36" fmla="*/ 727236 w 1013433"/>
                  <a:gd name="connsiteY36" fmla="*/ 822700 h 822700"/>
                  <a:gd name="connsiteX37" fmla="*/ 662645 w 1013433"/>
                  <a:gd name="connsiteY37" fmla="*/ 822700 h 822700"/>
                  <a:gd name="connsiteX38" fmla="*/ 662645 w 1013433"/>
                  <a:gd name="connsiteY38" fmla="*/ 659584 h 822700"/>
                  <a:gd name="connsiteX39" fmla="*/ 602965 w 1013433"/>
                  <a:gd name="connsiteY39" fmla="*/ 659584 h 822700"/>
                  <a:gd name="connsiteX40" fmla="*/ 602965 w 1013433"/>
                  <a:gd name="connsiteY40" fmla="*/ 609281 h 822700"/>
                  <a:gd name="connsiteX41" fmla="*/ 445356 w 1013433"/>
                  <a:gd name="connsiteY41" fmla="*/ 609281 h 822700"/>
                  <a:gd name="connsiteX42" fmla="*/ 525128 w 1013433"/>
                  <a:gd name="connsiteY42" fmla="*/ 609281 h 822700"/>
                  <a:gd name="connsiteX43" fmla="*/ 594333 w 1013433"/>
                  <a:gd name="connsiteY43" fmla="*/ 822700 h 822700"/>
                  <a:gd name="connsiteX44" fmla="*/ 524532 w 1013433"/>
                  <a:gd name="connsiteY44" fmla="*/ 822700 h 822700"/>
                  <a:gd name="connsiteX45" fmla="*/ 515156 w 1013433"/>
                  <a:gd name="connsiteY45" fmla="*/ 783410 h 822700"/>
                  <a:gd name="connsiteX46" fmla="*/ 451458 w 1013433"/>
                  <a:gd name="connsiteY46" fmla="*/ 783410 h 822700"/>
                  <a:gd name="connsiteX47" fmla="*/ 441337 w 1013433"/>
                  <a:gd name="connsiteY47" fmla="*/ 822700 h 822700"/>
                  <a:gd name="connsiteX48" fmla="*/ 371835 w 1013433"/>
                  <a:gd name="connsiteY48" fmla="*/ 822700 h 822700"/>
                  <a:gd name="connsiteX49" fmla="*/ 445356 w 1013433"/>
                  <a:gd name="connsiteY49" fmla="*/ 609281 h 822700"/>
                  <a:gd name="connsiteX50" fmla="*/ 162136 w 1013433"/>
                  <a:gd name="connsiteY50" fmla="*/ 609281 h 822700"/>
                  <a:gd name="connsiteX51" fmla="*/ 250540 w 1013433"/>
                  <a:gd name="connsiteY51" fmla="*/ 609281 h 822700"/>
                  <a:gd name="connsiteX52" fmla="*/ 363352 w 1013433"/>
                  <a:gd name="connsiteY52" fmla="*/ 713311 h 822700"/>
                  <a:gd name="connsiteX53" fmla="*/ 349734 w 1013433"/>
                  <a:gd name="connsiteY53" fmla="*/ 770685 h 822700"/>
                  <a:gd name="connsiteX54" fmla="*/ 310815 w 1013433"/>
                  <a:gd name="connsiteY54" fmla="*/ 809157 h 822700"/>
                  <a:gd name="connsiteX55" fmla="*/ 252475 w 1013433"/>
                  <a:gd name="connsiteY55" fmla="*/ 822700 h 822700"/>
                  <a:gd name="connsiteX56" fmla="*/ 162136 w 1013433"/>
                  <a:gd name="connsiteY56" fmla="*/ 822700 h 822700"/>
                  <a:gd name="connsiteX57" fmla="*/ 162136 w 1013433"/>
                  <a:gd name="connsiteY57" fmla="*/ 609281 h 822700"/>
                  <a:gd name="connsiteX58" fmla="*/ 0 w 1013433"/>
                  <a:gd name="connsiteY58" fmla="*/ 284168 h 822700"/>
                  <a:gd name="connsiteX59" fmla="*/ 0 w 1013433"/>
                  <a:gd name="connsiteY59" fmla="*/ 0 h 822700"/>
                  <a:gd name="connsiteX60" fmla="*/ 0 w 1013433"/>
                  <a:gd name="connsiteY60" fmla="*/ 284168 h 822700"/>
                  <a:gd name="connsiteX0" fmla="*/ 64294 w 851297"/>
                  <a:gd name="connsiteY0" fmla="*/ 50303 h 213419"/>
                  <a:gd name="connsiteX1" fmla="*/ 64294 w 851297"/>
                  <a:gd name="connsiteY1" fmla="*/ 163115 h 213419"/>
                  <a:gd name="connsiteX2" fmla="*/ 82302 w 851297"/>
                  <a:gd name="connsiteY2" fmla="*/ 163115 h 213419"/>
                  <a:gd name="connsiteX3" fmla="*/ 119137 w 851297"/>
                  <a:gd name="connsiteY3" fmla="*/ 147265 h 213419"/>
                  <a:gd name="connsiteX4" fmla="*/ 132903 w 851297"/>
                  <a:gd name="connsiteY4" fmla="*/ 104626 h 213419"/>
                  <a:gd name="connsiteX5" fmla="*/ 126578 w 851297"/>
                  <a:gd name="connsiteY5" fmla="*/ 76497 h 213419"/>
                  <a:gd name="connsiteX6" fmla="*/ 108496 w 851297"/>
                  <a:gd name="connsiteY6" fmla="*/ 57150 h 213419"/>
                  <a:gd name="connsiteX7" fmla="*/ 80814 w 851297"/>
                  <a:gd name="connsiteY7" fmla="*/ 50303 h 213419"/>
                  <a:gd name="connsiteX8" fmla="*/ 64294 w 851297"/>
                  <a:gd name="connsiteY8" fmla="*/ 50303 h 213419"/>
                  <a:gd name="connsiteX9" fmla="*/ 739527 w 851297"/>
                  <a:gd name="connsiteY9" fmla="*/ 46434 h 213419"/>
                  <a:gd name="connsiteX10" fmla="*/ 737443 w 851297"/>
                  <a:gd name="connsiteY10" fmla="*/ 58191 h 213419"/>
                  <a:gd name="connsiteX11" fmla="*/ 719435 w 851297"/>
                  <a:gd name="connsiteY11" fmla="*/ 128438 h 213419"/>
                  <a:gd name="connsiteX12" fmla="*/ 760214 w 851297"/>
                  <a:gd name="connsiteY12" fmla="*/ 128438 h 213419"/>
                  <a:gd name="connsiteX13" fmla="*/ 745331 w 851297"/>
                  <a:gd name="connsiteY13" fmla="*/ 70395 h 213419"/>
                  <a:gd name="connsiteX14" fmla="*/ 741015 w 851297"/>
                  <a:gd name="connsiteY14" fmla="*/ 46434 h 213419"/>
                  <a:gd name="connsiteX15" fmla="*/ 739527 w 851297"/>
                  <a:gd name="connsiteY15" fmla="*/ 46434 h 213419"/>
                  <a:gd name="connsiteX16" fmla="*/ 320427 w 851297"/>
                  <a:gd name="connsiteY16" fmla="*/ 46434 h 213419"/>
                  <a:gd name="connsiteX17" fmla="*/ 318343 w 851297"/>
                  <a:gd name="connsiteY17" fmla="*/ 58191 h 213419"/>
                  <a:gd name="connsiteX18" fmla="*/ 300335 w 851297"/>
                  <a:gd name="connsiteY18" fmla="*/ 128438 h 213419"/>
                  <a:gd name="connsiteX19" fmla="*/ 341114 w 851297"/>
                  <a:gd name="connsiteY19" fmla="*/ 128438 h 213419"/>
                  <a:gd name="connsiteX20" fmla="*/ 326231 w 851297"/>
                  <a:gd name="connsiteY20" fmla="*/ 70395 h 213419"/>
                  <a:gd name="connsiteX21" fmla="*/ 321915 w 851297"/>
                  <a:gd name="connsiteY21" fmla="*/ 46434 h 213419"/>
                  <a:gd name="connsiteX22" fmla="*/ 320427 w 851297"/>
                  <a:gd name="connsiteY22" fmla="*/ 46434 h 213419"/>
                  <a:gd name="connsiteX23" fmla="*/ 702320 w 851297"/>
                  <a:gd name="connsiteY23" fmla="*/ 0 h 213419"/>
                  <a:gd name="connsiteX24" fmla="*/ 782092 w 851297"/>
                  <a:gd name="connsiteY24" fmla="*/ 0 h 213419"/>
                  <a:gd name="connsiteX25" fmla="*/ 851297 w 851297"/>
                  <a:gd name="connsiteY25" fmla="*/ 213419 h 213419"/>
                  <a:gd name="connsiteX26" fmla="*/ 781496 w 851297"/>
                  <a:gd name="connsiteY26" fmla="*/ 213419 h 213419"/>
                  <a:gd name="connsiteX27" fmla="*/ 772120 w 851297"/>
                  <a:gd name="connsiteY27" fmla="*/ 174129 h 213419"/>
                  <a:gd name="connsiteX28" fmla="*/ 708422 w 851297"/>
                  <a:gd name="connsiteY28" fmla="*/ 174129 h 213419"/>
                  <a:gd name="connsiteX29" fmla="*/ 698301 w 851297"/>
                  <a:gd name="connsiteY29" fmla="*/ 213419 h 213419"/>
                  <a:gd name="connsiteX30" fmla="*/ 628799 w 851297"/>
                  <a:gd name="connsiteY30" fmla="*/ 213419 h 213419"/>
                  <a:gd name="connsiteX31" fmla="*/ 702320 w 851297"/>
                  <a:gd name="connsiteY31" fmla="*/ 0 h 213419"/>
                  <a:gd name="connsiteX32" fmla="*/ 440829 w 851297"/>
                  <a:gd name="connsiteY32" fmla="*/ 0 h 213419"/>
                  <a:gd name="connsiteX33" fmla="*/ 625525 w 851297"/>
                  <a:gd name="connsiteY33" fmla="*/ 0 h 213419"/>
                  <a:gd name="connsiteX34" fmla="*/ 625525 w 851297"/>
                  <a:gd name="connsiteY34" fmla="*/ 50303 h 213419"/>
                  <a:gd name="connsiteX35" fmla="*/ 565100 w 851297"/>
                  <a:gd name="connsiteY35" fmla="*/ 50303 h 213419"/>
                  <a:gd name="connsiteX36" fmla="*/ 565100 w 851297"/>
                  <a:gd name="connsiteY36" fmla="*/ 213419 h 213419"/>
                  <a:gd name="connsiteX37" fmla="*/ 500509 w 851297"/>
                  <a:gd name="connsiteY37" fmla="*/ 213419 h 213419"/>
                  <a:gd name="connsiteX38" fmla="*/ 500509 w 851297"/>
                  <a:gd name="connsiteY38" fmla="*/ 50303 h 213419"/>
                  <a:gd name="connsiteX39" fmla="*/ 440829 w 851297"/>
                  <a:gd name="connsiteY39" fmla="*/ 50303 h 213419"/>
                  <a:gd name="connsiteX40" fmla="*/ 440829 w 851297"/>
                  <a:gd name="connsiteY40" fmla="*/ 0 h 213419"/>
                  <a:gd name="connsiteX41" fmla="*/ 283220 w 851297"/>
                  <a:gd name="connsiteY41" fmla="*/ 0 h 213419"/>
                  <a:gd name="connsiteX42" fmla="*/ 362992 w 851297"/>
                  <a:gd name="connsiteY42" fmla="*/ 0 h 213419"/>
                  <a:gd name="connsiteX43" fmla="*/ 432197 w 851297"/>
                  <a:gd name="connsiteY43" fmla="*/ 213419 h 213419"/>
                  <a:gd name="connsiteX44" fmla="*/ 362396 w 851297"/>
                  <a:gd name="connsiteY44" fmla="*/ 213419 h 213419"/>
                  <a:gd name="connsiteX45" fmla="*/ 353020 w 851297"/>
                  <a:gd name="connsiteY45" fmla="*/ 174129 h 213419"/>
                  <a:gd name="connsiteX46" fmla="*/ 289322 w 851297"/>
                  <a:gd name="connsiteY46" fmla="*/ 174129 h 213419"/>
                  <a:gd name="connsiteX47" fmla="*/ 279201 w 851297"/>
                  <a:gd name="connsiteY47" fmla="*/ 213419 h 213419"/>
                  <a:gd name="connsiteX48" fmla="*/ 209699 w 851297"/>
                  <a:gd name="connsiteY48" fmla="*/ 213419 h 213419"/>
                  <a:gd name="connsiteX49" fmla="*/ 283220 w 851297"/>
                  <a:gd name="connsiteY49" fmla="*/ 0 h 213419"/>
                  <a:gd name="connsiteX50" fmla="*/ 0 w 851297"/>
                  <a:gd name="connsiteY50" fmla="*/ 0 h 213419"/>
                  <a:gd name="connsiteX51" fmla="*/ 88404 w 851297"/>
                  <a:gd name="connsiteY51" fmla="*/ 0 h 213419"/>
                  <a:gd name="connsiteX52" fmla="*/ 201216 w 851297"/>
                  <a:gd name="connsiteY52" fmla="*/ 104030 h 213419"/>
                  <a:gd name="connsiteX53" fmla="*/ 187598 w 851297"/>
                  <a:gd name="connsiteY53" fmla="*/ 161404 h 213419"/>
                  <a:gd name="connsiteX54" fmla="*/ 148679 w 851297"/>
                  <a:gd name="connsiteY54" fmla="*/ 199876 h 213419"/>
                  <a:gd name="connsiteX55" fmla="*/ 90339 w 851297"/>
                  <a:gd name="connsiteY55" fmla="*/ 213419 h 213419"/>
                  <a:gd name="connsiteX56" fmla="*/ 0 w 851297"/>
                  <a:gd name="connsiteY56" fmla="*/ 213419 h 213419"/>
                  <a:gd name="connsiteX57" fmla="*/ 0 w 851297"/>
                  <a:gd name="connsiteY57" fmla="*/ 0 h 21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851297" h="213419">
                    <a:moveTo>
                      <a:pt x="64294" y="50303"/>
                    </a:moveTo>
                    <a:lnTo>
                      <a:pt x="64294" y="163115"/>
                    </a:lnTo>
                    <a:lnTo>
                      <a:pt x="82302" y="163115"/>
                    </a:lnTo>
                    <a:cubicBezTo>
                      <a:pt x="97681" y="163115"/>
                      <a:pt x="109959" y="157832"/>
                      <a:pt x="119137" y="147265"/>
                    </a:cubicBezTo>
                    <a:cubicBezTo>
                      <a:pt x="128315" y="136698"/>
                      <a:pt x="132903" y="122485"/>
                      <a:pt x="132903" y="104626"/>
                    </a:cubicBezTo>
                    <a:cubicBezTo>
                      <a:pt x="132903" y="94208"/>
                      <a:pt x="130795" y="84832"/>
                      <a:pt x="126578" y="76497"/>
                    </a:cubicBezTo>
                    <a:cubicBezTo>
                      <a:pt x="122361" y="68163"/>
                      <a:pt x="116334" y="61714"/>
                      <a:pt x="108496" y="57150"/>
                    </a:cubicBezTo>
                    <a:cubicBezTo>
                      <a:pt x="100657" y="52585"/>
                      <a:pt x="91430" y="50303"/>
                      <a:pt x="80814" y="50303"/>
                    </a:cubicBezTo>
                    <a:lnTo>
                      <a:pt x="64294" y="50303"/>
                    </a:lnTo>
                    <a:close/>
                    <a:moveTo>
                      <a:pt x="739527" y="46434"/>
                    </a:moveTo>
                    <a:cubicBezTo>
                      <a:pt x="739328" y="48815"/>
                      <a:pt x="738634" y="52734"/>
                      <a:pt x="737443" y="58191"/>
                    </a:cubicBezTo>
                    <a:cubicBezTo>
                      <a:pt x="736253" y="63648"/>
                      <a:pt x="730250" y="87064"/>
                      <a:pt x="719435" y="128438"/>
                    </a:cubicBezTo>
                    <a:lnTo>
                      <a:pt x="760214" y="128438"/>
                    </a:lnTo>
                    <a:lnTo>
                      <a:pt x="745331" y="70395"/>
                    </a:lnTo>
                    <a:cubicBezTo>
                      <a:pt x="743248" y="61862"/>
                      <a:pt x="741809" y="53875"/>
                      <a:pt x="741015" y="46434"/>
                    </a:cubicBezTo>
                    <a:lnTo>
                      <a:pt x="739527" y="46434"/>
                    </a:lnTo>
                    <a:close/>
                    <a:moveTo>
                      <a:pt x="320427" y="46434"/>
                    </a:moveTo>
                    <a:cubicBezTo>
                      <a:pt x="320228" y="48815"/>
                      <a:pt x="319534" y="52734"/>
                      <a:pt x="318343" y="58191"/>
                    </a:cubicBezTo>
                    <a:cubicBezTo>
                      <a:pt x="317153" y="63648"/>
                      <a:pt x="311150" y="87064"/>
                      <a:pt x="300335" y="128438"/>
                    </a:cubicBezTo>
                    <a:lnTo>
                      <a:pt x="341114" y="128438"/>
                    </a:lnTo>
                    <a:lnTo>
                      <a:pt x="326231" y="70395"/>
                    </a:lnTo>
                    <a:cubicBezTo>
                      <a:pt x="324148" y="61862"/>
                      <a:pt x="322709" y="53875"/>
                      <a:pt x="321915" y="46434"/>
                    </a:cubicBezTo>
                    <a:lnTo>
                      <a:pt x="320427" y="46434"/>
                    </a:lnTo>
                    <a:close/>
                    <a:moveTo>
                      <a:pt x="702320" y="0"/>
                    </a:moveTo>
                    <a:lnTo>
                      <a:pt x="782092" y="0"/>
                    </a:lnTo>
                    <a:lnTo>
                      <a:pt x="851297" y="213419"/>
                    </a:lnTo>
                    <a:lnTo>
                      <a:pt x="781496" y="213419"/>
                    </a:lnTo>
                    <a:lnTo>
                      <a:pt x="772120" y="174129"/>
                    </a:lnTo>
                    <a:lnTo>
                      <a:pt x="708422" y="174129"/>
                    </a:lnTo>
                    <a:lnTo>
                      <a:pt x="698301" y="213419"/>
                    </a:lnTo>
                    <a:lnTo>
                      <a:pt x="628799" y="213419"/>
                    </a:lnTo>
                    <a:lnTo>
                      <a:pt x="702320" y="0"/>
                    </a:lnTo>
                    <a:close/>
                    <a:moveTo>
                      <a:pt x="440829" y="0"/>
                    </a:moveTo>
                    <a:lnTo>
                      <a:pt x="625525" y="0"/>
                    </a:lnTo>
                    <a:lnTo>
                      <a:pt x="625525" y="50303"/>
                    </a:lnTo>
                    <a:lnTo>
                      <a:pt x="565100" y="50303"/>
                    </a:lnTo>
                    <a:lnTo>
                      <a:pt x="565100" y="213419"/>
                    </a:lnTo>
                    <a:lnTo>
                      <a:pt x="500509" y="213419"/>
                    </a:lnTo>
                    <a:lnTo>
                      <a:pt x="500509" y="50303"/>
                    </a:lnTo>
                    <a:lnTo>
                      <a:pt x="440829" y="50303"/>
                    </a:lnTo>
                    <a:lnTo>
                      <a:pt x="440829" y="0"/>
                    </a:lnTo>
                    <a:close/>
                    <a:moveTo>
                      <a:pt x="283220" y="0"/>
                    </a:moveTo>
                    <a:lnTo>
                      <a:pt x="362992" y="0"/>
                    </a:lnTo>
                    <a:lnTo>
                      <a:pt x="432197" y="213419"/>
                    </a:lnTo>
                    <a:lnTo>
                      <a:pt x="362396" y="213419"/>
                    </a:lnTo>
                    <a:lnTo>
                      <a:pt x="353020" y="174129"/>
                    </a:lnTo>
                    <a:lnTo>
                      <a:pt x="289322" y="174129"/>
                    </a:lnTo>
                    <a:lnTo>
                      <a:pt x="279201" y="213419"/>
                    </a:lnTo>
                    <a:lnTo>
                      <a:pt x="209699" y="213419"/>
                    </a:lnTo>
                    <a:lnTo>
                      <a:pt x="283220" y="0"/>
                    </a:lnTo>
                    <a:close/>
                    <a:moveTo>
                      <a:pt x="0" y="0"/>
                    </a:moveTo>
                    <a:lnTo>
                      <a:pt x="88404" y="0"/>
                    </a:lnTo>
                    <a:cubicBezTo>
                      <a:pt x="163612" y="0"/>
                      <a:pt x="201216" y="34676"/>
                      <a:pt x="201216" y="104030"/>
                    </a:cubicBezTo>
                    <a:cubicBezTo>
                      <a:pt x="201216" y="125660"/>
                      <a:pt x="196676" y="144785"/>
                      <a:pt x="187598" y="161404"/>
                    </a:cubicBezTo>
                    <a:cubicBezTo>
                      <a:pt x="178519" y="178023"/>
                      <a:pt x="165546" y="190847"/>
                      <a:pt x="148679" y="199876"/>
                    </a:cubicBezTo>
                    <a:cubicBezTo>
                      <a:pt x="131812" y="208905"/>
                      <a:pt x="112365" y="213419"/>
                      <a:pt x="90339" y="213419"/>
                    </a:cubicBezTo>
                    <a:lnTo>
                      <a:pt x="0" y="213419"/>
                    </a:lnTo>
                    <a:lnTo>
                      <a:pt x="0" y="0"/>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grpSp>
        <p:nvGrpSpPr>
          <p:cNvPr id="4" name="Group 3">
            <a:extLst>
              <a:ext uri="{FF2B5EF4-FFF2-40B4-BE49-F238E27FC236}">
                <a16:creationId xmlns:a16="http://schemas.microsoft.com/office/drawing/2014/main" id="{9564662A-A483-4E8E-9FC2-AEEBC672BBB5}"/>
              </a:ext>
            </a:extLst>
          </p:cNvPr>
          <p:cNvGrpSpPr/>
          <p:nvPr/>
        </p:nvGrpSpPr>
        <p:grpSpPr>
          <a:xfrm>
            <a:off x="4291579" y="1706169"/>
            <a:ext cx="3845126" cy="4529737"/>
            <a:chOff x="4291579" y="1706169"/>
            <a:chExt cx="3845126" cy="4529737"/>
          </a:xfrm>
        </p:grpSpPr>
        <p:sp>
          <p:nvSpPr>
            <p:cNvPr id="12" name="Rectangle 11"/>
            <p:cNvSpPr/>
            <p:nvPr/>
          </p:nvSpPr>
          <p:spPr bwMode="auto">
            <a:xfrm>
              <a:off x="4291579" y="1706169"/>
              <a:ext cx="3845126" cy="4529737"/>
            </a:xfrm>
            <a:prstGeom prst="rect">
              <a:avLst/>
            </a:prstGeom>
            <a:solidFill>
              <a:schemeClr val="accent6">
                <a:lumMod val="90000"/>
              </a:schemeClr>
            </a:solidFill>
            <a:ln w="6350" cap="flat" cmpd="sng" algn="ctr">
              <a:noFill/>
              <a:prstDash val="solid"/>
              <a:headEnd type="none" w="med" len="med"/>
              <a:tailEnd type="none" w="med" len="med"/>
            </a:ln>
            <a:effectLst/>
          </p:spPr>
          <p:txBody>
            <a:bodyPr rot="0" spcFirstLastPara="0" vert="horz" wrap="square" lIns="142635" tIns="186494" rIns="95089" bIns="142635" numCol="1" spcCol="0" rtlCol="0" fromWordArt="0" anchor="t" anchorCtr="0" forceAA="0" compatLnSpc="1">
              <a:prstTxWarp prst="textNoShape">
                <a:avLst/>
              </a:prstTxWarp>
              <a:noAutofit/>
            </a:bodyPr>
            <a:lstStyle/>
            <a:p>
              <a:pPr marL="0" marR="0" lvl="0" indent="0" algn="l" defTabSz="950752"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Segoe UI Light"/>
                  <a:ea typeface="+mn-ea"/>
                  <a:cs typeface="+mn-cs"/>
                </a:rPr>
                <a:t>Operationalize machine learning models</a:t>
              </a:r>
            </a:p>
          </p:txBody>
        </p:sp>
        <p:grpSp>
          <p:nvGrpSpPr>
            <p:cNvPr id="42" name="Group 41"/>
            <p:cNvGrpSpPr/>
            <p:nvPr/>
          </p:nvGrpSpPr>
          <p:grpSpPr>
            <a:xfrm rot="2700000">
              <a:off x="5846442" y="4021923"/>
              <a:ext cx="881841" cy="1388405"/>
              <a:chOff x="2361853" y="3165133"/>
              <a:chExt cx="1783978" cy="2808773"/>
            </a:xfrm>
            <a:solidFill>
              <a:schemeClr val="accent2"/>
            </a:solidFill>
          </p:grpSpPr>
          <p:sp>
            <p:nvSpPr>
              <p:cNvPr id="43" name="Freeform 69"/>
              <p:cNvSpPr>
                <a:spLocks/>
              </p:cNvSpPr>
              <p:nvPr/>
            </p:nvSpPr>
            <p:spPr bwMode="auto">
              <a:xfrm>
                <a:off x="3572757" y="4764082"/>
                <a:ext cx="573074" cy="1209824"/>
              </a:xfrm>
              <a:custGeom>
                <a:avLst/>
                <a:gdLst>
                  <a:gd name="T0" fmla="*/ 0 w 93"/>
                  <a:gd name="T1" fmla="*/ 127 h 197"/>
                  <a:gd name="T2" fmla="*/ 54 w 93"/>
                  <a:gd name="T3" fmla="*/ 197 h 197"/>
                  <a:gd name="T4" fmla="*/ 76 w 93"/>
                  <a:gd name="T5" fmla="*/ 43 h 197"/>
                  <a:gd name="T6" fmla="*/ 43 w 93"/>
                  <a:gd name="T7" fmla="*/ 0 h 197"/>
                  <a:gd name="T8" fmla="*/ 0 w 93"/>
                  <a:gd name="T9" fmla="*/ 127 h 197"/>
                </a:gdLst>
                <a:ahLst/>
                <a:cxnLst>
                  <a:cxn ang="0">
                    <a:pos x="T0" y="T1"/>
                  </a:cxn>
                  <a:cxn ang="0">
                    <a:pos x="T2" y="T3"/>
                  </a:cxn>
                  <a:cxn ang="0">
                    <a:pos x="T4" y="T5"/>
                  </a:cxn>
                  <a:cxn ang="0">
                    <a:pos x="T6" y="T7"/>
                  </a:cxn>
                  <a:cxn ang="0">
                    <a:pos x="T8" y="T9"/>
                  </a:cxn>
                </a:cxnLst>
                <a:rect l="0" t="0" r="r" b="b"/>
                <a:pathLst>
                  <a:path w="93" h="197">
                    <a:moveTo>
                      <a:pt x="0" y="127"/>
                    </a:moveTo>
                    <a:cubicBezTo>
                      <a:pt x="0" y="127"/>
                      <a:pt x="44" y="159"/>
                      <a:pt x="54" y="197"/>
                    </a:cubicBezTo>
                    <a:cubicBezTo>
                      <a:pt x="80" y="167"/>
                      <a:pt x="93" y="87"/>
                      <a:pt x="76" y="43"/>
                    </a:cubicBezTo>
                    <a:cubicBezTo>
                      <a:pt x="43" y="0"/>
                      <a:pt x="43" y="0"/>
                      <a:pt x="43" y="0"/>
                    </a:cubicBezTo>
                    <a:lnTo>
                      <a:pt x="0" y="127"/>
                    </a:lnTo>
                    <a:close/>
                  </a:path>
                </a:pathLst>
              </a:custGeom>
              <a:grpFill/>
              <a:ln>
                <a:noFill/>
              </a:ln>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4" name="Freeform 70"/>
              <p:cNvSpPr>
                <a:spLocks/>
              </p:cNvSpPr>
              <p:nvPr/>
            </p:nvSpPr>
            <p:spPr bwMode="auto">
              <a:xfrm>
                <a:off x="2361853" y="4742857"/>
                <a:ext cx="566001" cy="1202745"/>
              </a:xfrm>
              <a:custGeom>
                <a:avLst/>
                <a:gdLst>
                  <a:gd name="T0" fmla="*/ 91 w 91"/>
                  <a:gd name="T1" fmla="*/ 128 h 196"/>
                  <a:gd name="T2" fmla="*/ 35 w 91"/>
                  <a:gd name="T3" fmla="*/ 196 h 196"/>
                  <a:gd name="T4" fmla="*/ 19 w 91"/>
                  <a:gd name="T5" fmla="*/ 42 h 196"/>
                  <a:gd name="T6" fmla="*/ 53 w 91"/>
                  <a:gd name="T7" fmla="*/ 0 h 196"/>
                  <a:gd name="T8" fmla="*/ 91 w 91"/>
                  <a:gd name="T9" fmla="*/ 128 h 196"/>
                </a:gdLst>
                <a:ahLst/>
                <a:cxnLst>
                  <a:cxn ang="0">
                    <a:pos x="T0" y="T1"/>
                  </a:cxn>
                  <a:cxn ang="0">
                    <a:pos x="T2" y="T3"/>
                  </a:cxn>
                  <a:cxn ang="0">
                    <a:pos x="T4" y="T5"/>
                  </a:cxn>
                  <a:cxn ang="0">
                    <a:pos x="T6" y="T7"/>
                  </a:cxn>
                  <a:cxn ang="0">
                    <a:pos x="T8" y="T9"/>
                  </a:cxn>
                </a:cxnLst>
                <a:rect l="0" t="0" r="r" b="b"/>
                <a:pathLst>
                  <a:path w="91" h="196">
                    <a:moveTo>
                      <a:pt x="91" y="128"/>
                    </a:moveTo>
                    <a:cubicBezTo>
                      <a:pt x="91" y="128"/>
                      <a:pt x="47" y="158"/>
                      <a:pt x="35" y="196"/>
                    </a:cubicBezTo>
                    <a:cubicBezTo>
                      <a:pt x="10" y="166"/>
                      <a:pt x="0" y="85"/>
                      <a:pt x="19" y="42"/>
                    </a:cubicBezTo>
                    <a:cubicBezTo>
                      <a:pt x="53" y="0"/>
                      <a:pt x="53" y="0"/>
                      <a:pt x="53" y="0"/>
                    </a:cubicBezTo>
                    <a:lnTo>
                      <a:pt x="91" y="128"/>
                    </a:lnTo>
                    <a:close/>
                  </a:path>
                </a:pathLst>
              </a:custGeom>
              <a:grpFill/>
              <a:ln>
                <a:noFill/>
              </a:ln>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5" name="Freeform: Shape 44"/>
              <p:cNvSpPr>
                <a:spLocks/>
              </p:cNvSpPr>
              <p:nvPr/>
            </p:nvSpPr>
            <p:spPr bwMode="auto">
              <a:xfrm>
                <a:off x="2684485" y="3808966"/>
                <a:ext cx="1162742" cy="1733359"/>
              </a:xfrm>
              <a:custGeom>
                <a:avLst/>
                <a:gdLst>
                  <a:gd name="connsiteX0" fmla="*/ 209219 w 1320790"/>
                  <a:gd name="connsiteY0" fmla="*/ 0 h 1968970"/>
                  <a:gd name="connsiteX1" fmla="*/ 334591 w 1320790"/>
                  <a:gd name="connsiteY1" fmla="*/ 48849 h 1968970"/>
                  <a:gd name="connsiteX2" fmla="*/ 333284 w 1320790"/>
                  <a:gd name="connsiteY2" fmla="*/ 52039 h 1968970"/>
                  <a:gd name="connsiteX3" fmla="*/ 495812 w 1320790"/>
                  <a:gd name="connsiteY3" fmla="*/ 86832 h 1968970"/>
                  <a:gd name="connsiteX4" fmla="*/ 669129 w 1320790"/>
                  <a:gd name="connsiteY4" fmla="*/ 100774 h 1968970"/>
                  <a:gd name="connsiteX5" fmla="*/ 1138312 w 1320790"/>
                  <a:gd name="connsiteY5" fmla="*/ 24094 h 1968970"/>
                  <a:gd name="connsiteX6" fmla="*/ 1320382 w 1320790"/>
                  <a:gd name="connsiteY6" fmla="*/ 902425 h 1968970"/>
                  <a:gd name="connsiteX7" fmla="*/ 1012263 w 1320790"/>
                  <a:gd name="connsiteY7" fmla="*/ 1968970 h 1968970"/>
                  <a:gd name="connsiteX8" fmla="*/ 410029 w 1320790"/>
                  <a:gd name="connsiteY8" fmla="*/ 1961999 h 1968970"/>
                  <a:gd name="connsiteX9" fmla="*/ 409516 w 1320790"/>
                  <a:gd name="connsiteY9" fmla="*/ 1960861 h 1968970"/>
                  <a:gd name="connsiteX10" fmla="*/ 365227 w 1320790"/>
                  <a:gd name="connsiteY10" fmla="*/ 1958643 h 1968970"/>
                  <a:gd name="connsiteX11" fmla="*/ 271905 w 1320790"/>
                  <a:gd name="connsiteY11" fmla="*/ 1953968 h 1968970"/>
                  <a:gd name="connsiteX12" fmla="*/ 264 w 1320790"/>
                  <a:gd name="connsiteY12" fmla="*/ 879286 h 1968970"/>
                  <a:gd name="connsiteX13" fmla="*/ 209219 w 1320790"/>
                  <a:gd name="connsiteY13" fmla="*/ 0 h 1968970"/>
                  <a:gd name="connsiteX0" fmla="*/ 209219 w 1320790"/>
                  <a:gd name="connsiteY0" fmla="*/ 0 h 1968970"/>
                  <a:gd name="connsiteX1" fmla="*/ 334591 w 1320790"/>
                  <a:gd name="connsiteY1" fmla="*/ 48849 h 1968970"/>
                  <a:gd name="connsiteX2" fmla="*/ 333284 w 1320790"/>
                  <a:gd name="connsiteY2" fmla="*/ 52039 h 1968970"/>
                  <a:gd name="connsiteX3" fmla="*/ 495812 w 1320790"/>
                  <a:gd name="connsiteY3" fmla="*/ 86832 h 1968970"/>
                  <a:gd name="connsiteX4" fmla="*/ 669129 w 1320790"/>
                  <a:gd name="connsiteY4" fmla="*/ 100774 h 1968970"/>
                  <a:gd name="connsiteX5" fmla="*/ 1138312 w 1320790"/>
                  <a:gd name="connsiteY5" fmla="*/ 24094 h 1968970"/>
                  <a:gd name="connsiteX6" fmla="*/ 1320382 w 1320790"/>
                  <a:gd name="connsiteY6" fmla="*/ 902425 h 1968970"/>
                  <a:gd name="connsiteX7" fmla="*/ 1012263 w 1320790"/>
                  <a:gd name="connsiteY7" fmla="*/ 1968970 h 1968970"/>
                  <a:gd name="connsiteX8" fmla="*/ 410029 w 1320790"/>
                  <a:gd name="connsiteY8" fmla="*/ 1961999 h 1968970"/>
                  <a:gd name="connsiteX9" fmla="*/ 365227 w 1320790"/>
                  <a:gd name="connsiteY9" fmla="*/ 1958643 h 1968970"/>
                  <a:gd name="connsiteX10" fmla="*/ 271905 w 1320790"/>
                  <a:gd name="connsiteY10" fmla="*/ 1953968 h 1968970"/>
                  <a:gd name="connsiteX11" fmla="*/ 264 w 1320790"/>
                  <a:gd name="connsiteY11" fmla="*/ 879286 h 1968970"/>
                  <a:gd name="connsiteX12" fmla="*/ 209219 w 1320790"/>
                  <a:gd name="connsiteY12" fmla="*/ 0 h 1968970"/>
                  <a:gd name="connsiteX0" fmla="*/ 209219 w 1320790"/>
                  <a:gd name="connsiteY0" fmla="*/ 0 h 1968970"/>
                  <a:gd name="connsiteX1" fmla="*/ 334591 w 1320790"/>
                  <a:gd name="connsiteY1" fmla="*/ 48849 h 1968970"/>
                  <a:gd name="connsiteX2" fmla="*/ 333284 w 1320790"/>
                  <a:gd name="connsiteY2" fmla="*/ 52039 h 1968970"/>
                  <a:gd name="connsiteX3" fmla="*/ 495812 w 1320790"/>
                  <a:gd name="connsiteY3" fmla="*/ 86832 h 1968970"/>
                  <a:gd name="connsiteX4" fmla="*/ 669129 w 1320790"/>
                  <a:gd name="connsiteY4" fmla="*/ 100774 h 1968970"/>
                  <a:gd name="connsiteX5" fmla="*/ 1138312 w 1320790"/>
                  <a:gd name="connsiteY5" fmla="*/ 24094 h 1968970"/>
                  <a:gd name="connsiteX6" fmla="*/ 1320382 w 1320790"/>
                  <a:gd name="connsiteY6" fmla="*/ 902425 h 1968970"/>
                  <a:gd name="connsiteX7" fmla="*/ 1012263 w 1320790"/>
                  <a:gd name="connsiteY7" fmla="*/ 1968970 h 1968970"/>
                  <a:gd name="connsiteX8" fmla="*/ 410029 w 1320790"/>
                  <a:gd name="connsiteY8" fmla="*/ 1961999 h 1968970"/>
                  <a:gd name="connsiteX9" fmla="*/ 271905 w 1320790"/>
                  <a:gd name="connsiteY9" fmla="*/ 1953968 h 1968970"/>
                  <a:gd name="connsiteX10" fmla="*/ 264 w 1320790"/>
                  <a:gd name="connsiteY10" fmla="*/ 879286 h 1968970"/>
                  <a:gd name="connsiteX11" fmla="*/ 209219 w 1320790"/>
                  <a:gd name="connsiteY11" fmla="*/ 0 h 1968970"/>
                  <a:gd name="connsiteX0" fmla="*/ 209219 w 1320790"/>
                  <a:gd name="connsiteY0" fmla="*/ 0 h 1968970"/>
                  <a:gd name="connsiteX1" fmla="*/ 334591 w 1320790"/>
                  <a:gd name="connsiteY1" fmla="*/ 48849 h 1968970"/>
                  <a:gd name="connsiteX2" fmla="*/ 333284 w 1320790"/>
                  <a:gd name="connsiteY2" fmla="*/ 52039 h 1968970"/>
                  <a:gd name="connsiteX3" fmla="*/ 495812 w 1320790"/>
                  <a:gd name="connsiteY3" fmla="*/ 86832 h 1968970"/>
                  <a:gd name="connsiteX4" fmla="*/ 669129 w 1320790"/>
                  <a:gd name="connsiteY4" fmla="*/ 100774 h 1968970"/>
                  <a:gd name="connsiteX5" fmla="*/ 1138312 w 1320790"/>
                  <a:gd name="connsiteY5" fmla="*/ 24094 h 1968970"/>
                  <a:gd name="connsiteX6" fmla="*/ 1320382 w 1320790"/>
                  <a:gd name="connsiteY6" fmla="*/ 902425 h 1968970"/>
                  <a:gd name="connsiteX7" fmla="*/ 1012263 w 1320790"/>
                  <a:gd name="connsiteY7" fmla="*/ 1968970 h 1968970"/>
                  <a:gd name="connsiteX8" fmla="*/ 271905 w 1320790"/>
                  <a:gd name="connsiteY8" fmla="*/ 1953968 h 1968970"/>
                  <a:gd name="connsiteX9" fmla="*/ 264 w 1320790"/>
                  <a:gd name="connsiteY9" fmla="*/ 879286 h 1968970"/>
                  <a:gd name="connsiteX10" fmla="*/ 209219 w 1320790"/>
                  <a:gd name="connsiteY10" fmla="*/ 0 h 1968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790" h="1968970">
                    <a:moveTo>
                      <a:pt x="209219" y="0"/>
                    </a:moveTo>
                    <a:cubicBezTo>
                      <a:pt x="251010" y="20935"/>
                      <a:pt x="292801" y="34892"/>
                      <a:pt x="334591" y="48849"/>
                    </a:cubicBezTo>
                    <a:lnTo>
                      <a:pt x="333284" y="52039"/>
                    </a:lnTo>
                    <a:lnTo>
                      <a:pt x="495812" y="86832"/>
                    </a:lnTo>
                    <a:cubicBezTo>
                      <a:pt x="551834" y="95546"/>
                      <a:pt x="609606" y="100774"/>
                      <a:pt x="669129" y="100774"/>
                    </a:cubicBezTo>
                    <a:cubicBezTo>
                      <a:pt x="837195" y="100774"/>
                      <a:pt x="991255" y="72890"/>
                      <a:pt x="1138312" y="24094"/>
                    </a:cubicBezTo>
                    <a:cubicBezTo>
                      <a:pt x="1243352" y="275046"/>
                      <a:pt x="1327385" y="581765"/>
                      <a:pt x="1320382" y="902425"/>
                    </a:cubicBezTo>
                    <a:cubicBezTo>
                      <a:pt x="1313380" y="1313707"/>
                      <a:pt x="1166322" y="1690135"/>
                      <a:pt x="1012263" y="1968970"/>
                    </a:cubicBezTo>
                    <a:lnTo>
                      <a:pt x="271905" y="1953968"/>
                    </a:lnTo>
                    <a:cubicBezTo>
                      <a:pt x="125637" y="1667851"/>
                      <a:pt x="-6701" y="1291014"/>
                      <a:pt x="264" y="879286"/>
                    </a:cubicBezTo>
                    <a:cubicBezTo>
                      <a:pt x="264" y="558277"/>
                      <a:pt x="97776" y="251225"/>
                      <a:pt x="209219" y="0"/>
                    </a:cubicBezTo>
                    <a:close/>
                  </a:path>
                </a:pathLst>
              </a:custGeom>
              <a:solidFill>
                <a:schemeClr val="accent1"/>
              </a:solidFill>
              <a:ln>
                <a:noFill/>
              </a:ln>
              <a:extLst/>
            </p:spPr>
            <p:txBody>
              <a:bodyPr vert="horz" wrap="square" lIns="93247" tIns="46623" rIns="93247" bIns="46623" numCol="1" anchor="t" anchorCtr="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6" name="Freeform 74"/>
              <p:cNvSpPr>
                <a:spLocks/>
              </p:cNvSpPr>
              <p:nvPr/>
            </p:nvSpPr>
            <p:spPr bwMode="auto">
              <a:xfrm>
                <a:off x="3166759" y="4792381"/>
                <a:ext cx="169801" cy="1167369"/>
              </a:xfrm>
              <a:custGeom>
                <a:avLst/>
                <a:gdLst>
                  <a:gd name="T0" fmla="*/ 0 w 24"/>
                  <a:gd name="T1" fmla="*/ 165 h 165"/>
                  <a:gd name="T2" fmla="*/ 21 w 24"/>
                  <a:gd name="T3" fmla="*/ 165 h 165"/>
                  <a:gd name="T4" fmla="*/ 24 w 24"/>
                  <a:gd name="T5" fmla="*/ 1 h 165"/>
                  <a:gd name="T6" fmla="*/ 3 w 24"/>
                  <a:gd name="T7" fmla="*/ 0 h 165"/>
                  <a:gd name="T8" fmla="*/ 0 w 24"/>
                  <a:gd name="T9" fmla="*/ 165 h 165"/>
                </a:gdLst>
                <a:ahLst/>
                <a:cxnLst>
                  <a:cxn ang="0">
                    <a:pos x="T0" y="T1"/>
                  </a:cxn>
                  <a:cxn ang="0">
                    <a:pos x="T2" y="T3"/>
                  </a:cxn>
                  <a:cxn ang="0">
                    <a:pos x="T4" y="T5"/>
                  </a:cxn>
                  <a:cxn ang="0">
                    <a:pos x="T6" y="T7"/>
                  </a:cxn>
                  <a:cxn ang="0">
                    <a:pos x="T8" y="T9"/>
                  </a:cxn>
                </a:cxnLst>
                <a:rect l="0" t="0" r="r" b="b"/>
                <a:pathLst>
                  <a:path w="24" h="165">
                    <a:moveTo>
                      <a:pt x="0" y="165"/>
                    </a:moveTo>
                    <a:lnTo>
                      <a:pt x="21" y="165"/>
                    </a:lnTo>
                    <a:lnTo>
                      <a:pt x="24" y="1"/>
                    </a:lnTo>
                    <a:lnTo>
                      <a:pt x="3" y="0"/>
                    </a:lnTo>
                    <a:lnTo>
                      <a:pt x="0" y="165"/>
                    </a:lnTo>
                    <a:close/>
                  </a:path>
                </a:pathLst>
              </a:custGeom>
              <a:grpFill/>
              <a:ln>
                <a:noFill/>
              </a:ln>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7" name="Oval 46"/>
              <p:cNvSpPr>
                <a:spLocks/>
              </p:cNvSpPr>
              <p:nvPr/>
            </p:nvSpPr>
            <p:spPr bwMode="auto">
              <a:xfrm>
                <a:off x="3023562" y="4119089"/>
                <a:ext cx="496945" cy="496422"/>
              </a:xfrm>
              <a:prstGeom prst="ellipse">
                <a:avLst/>
              </a:prstGeom>
              <a:grpFill/>
              <a:ln>
                <a:noFill/>
              </a:ln>
              <a:extLst/>
            </p:spPr>
            <p:txBody>
              <a:bodyPr vert="horz" wrap="square" lIns="93247" tIns="46623" rIns="93247" bIns="46623" numCol="1" anchor="t" anchorCtr="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8" name="Freeform 77"/>
              <p:cNvSpPr>
                <a:spLocks/>
              </p:cNvSpPr>
              <p:nvPr/>
            </p:nvSpPr>
            <p:spPr bwMode="auto">
              <a:xfrm>
                <a:off x="2869617" y="3165133"/>
                <a:ext cx="820698" cy="735797"/>
              </a:xfrm>
              <a:custGeom>
                <a:avLst/>
                <a:gdLst>
                  <a:gd name="T0" fmla="*/ 78 w 133"/>
                  <a:gd name="T1" fmla="*/ 13 h 119"/>
                  <a:gd name="T2" fmla="*/ 68 w 133"/>
                  <a:gd name="T3" fmla="*/ 0 h 119"/>
                  <a:gd name="T4" fmla="*/ 0 w 133"/>
                  <a:gd name="T5" fmla="*/ 105 h 119"/>
                  <a:gd name="T6" fmla="*/ 18 w 133"/>
                  <a:gd name="T7" fmla="*/ 112 h 119"/>
                  <a:gd name="T8" fmla="*/ 66 w 133"/>
                  <a:gd name="T9" fmla="*/ 119 h 119"/>
                  <a:gd name="T10" fmla="*/ 133 w 133"/>
                  <a:gd name="T11" fmla="*/ 108 h 119"/>
                  <a:gd name="T12" fmla="*/ 78 w 133"/>
                  <a:gd name="T13" fmla="*/ 13 h 119"/>
                </a:gdLst>
                <a:ahLst/>
                <a:cxnLst>
                  <a:cxn ang="0">
                    <a:pos x="T0" y="T1"/>
                  </a:cxn>
                  <a:cxn ang="0">
                    <a:pos x="T2" y="T3"/>
                  </a:cxn>
                  <a:cxn ang="0">
                    <a:pos x="T4" y="T5"/>
                  </a:cxn>
                  <a:cxn ang="0">
                    <a:pos x="T6" y="T7"/>
                  </a:cxn>
                  <a:cxn ang="0">
                    <a:pos x="T8" y="T9"/>
                  </a:cxn>
                  <a:cxn ang="0">
                    <a:pos x="T10" y="T11"/>
                  </a:cxn>
                  <a:cxn ang="0">
                    <a:pos x="T12" y="T13"/>
                  </a:cxn>
                </a:cxnLst>
                <a:rect l="0" t="0" r="r" b="b"/>
                <a:pathLst>
                  <a:path w="133" h="119">
                    <a:moveTo>
                      <a:pt x="78" y="13"/>
                    </a:moveTo>
                    <a:cubicBezTo>
                      <a:pt x="72" y="5"/>
                      <a:pt x="68" y="0"/>
                      <a:pt x="68" y="0"/>
                    </a:cubicBezTo>
                    <a:cubicBezTo>
                      <a:pt x="68" y="0"/>
                      <a:pt x="29" y="42"/>
                      <a:pt x="0" y="105"/>
                    </a:cubicBezTo>
                    <a:cubicBezTo>
                      <a:pt x="6" y="108"/>
                      <a:pt x="12" y="110"/>
                      <a:pt x="18" y="112"/>
                    </a:cubicBezTo>
                    <a:cubicBezTo>
                      <a:pt x="33" y="116"/>
                      <a:pt x="49" y="119"/>
                      <a:pt x="66" y="119"/>
                    </a:cubicBezTo>
                    <a:cubicBezTo>
                      <a:pt x="90" y="119"/>
                      <a:pt x="112" y="115"/>
                      <a:pt x="133" y="108"/>
                    </a:cubicBezTo>
                    <a:cubicBezTo>
                      <a:pt x="115" y="64"/>
                      <a:pt x="91" y="30"/>
                      <a:pt x="78" y="13"/>
                    </a:cubicBezTo>
                    <a:close/>
                  </a:path>
                </a:pathLst>
              </a:custGeom>
              <a:grpFill/>
              <a:ln>
                <a:noFill/>
              </a:ln>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grpSp>
      </p:grpSp>
      <p:grpSp>
        <p:nvGrpSpPr>
          <p:cNvPr id="5" name="Group 4">
            <a:extLst>
              <a:ext uri="{FF2B5EF4-FFF2-40B4-BE49-F238E27FC236}">
                <a16:creationId xmlns:a16="http://schemas.microsoft.com/office/drawing/2014/main" id="{4993F639-5DE8-404E-B2CC-3701561831AC}"/>
              </a:ext>
            </a:extLst>
          </p:cNvPr>
          <p:cNvGrpSpPr/>
          <p:nvPr/>
        </p:nvGrpSpPr>
        <p:grpSpPr>
          <a:xfrm>
            <a:off x="8331041" y="1706170"/>
            <a:ext cx="3845126" cy="4529736"/>
            <a:chOff x="8331041" y="1706170"/>
            <a:chExt cx="3845126" cy="4529736"/>
          </a:xfrm>
        </p:grpSpPr>
        <p:sp>
          <p:nvSpPr>
            <p:cNvPr id="16" name="Rectangle 15"/>
            <p:cNvSpPr/>
            <p:nvPr/>
          </p:nvSpPr>
          <p:spPr bwMode="auto">
            <a:xfrm>
              <a:off x="8331041" y="1706170"/>
              <a:ext cx="3845126" cy="4529736"/>
            </a:xfrm>
            <a:prstGeom prst="rect">
              <a:avLst/>
            </a:prstGeom>
            <a:solidFill>
              <a:schemeClr val="accent6">
                <a:lumMod val="90000"/>
              </a:schemeClr>
            </a:solidFill>
            <a:ln w="6350" cap="flat" cmpd="sng" algn="ctr">
              <a:noFill/>
              <a:prstDash val="solid"/>
              <a:headEnd type="none" w="med" len="med"/>
              <a:tailEnd type="none" w="med" len="med"/>
            </a:ln>
            <a:effectLst/>
          </p:spPr>
          <p:txBody>
            <a:bodyPr rot="0" spcFirstLastPara="0" vert="horz" wrap="square" lIns="142635" tIns="186494" rIns="95089" bIns="142635" numCol="1" spcCol="0" rtlCol="0" fromWordArt="0" anchor="t" anchorCtr="0" forceAA="0" compatLnSpc="1">
              <a:prstTxWarp prst="textNoShape">
                <a:avLst/>
              </a:prstTxWarp>
              <a:noAutofit/>
            </a:bodyPr>
            <a:lstStyle/>
            <a:p>
              <a:pPr marL="0" marR="0" lvl="0" indent="0" algn="l" defTabSz="950752"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Segoe UI Light"/>
                  <a:ea typeface="+mn-ea"/>
                  <a:cs typeface="+mn-cs"/>
                </a:rPr>
                <a:t>Get enterprise scale, performance, and security</a:t>
              </a:r>
            </a:p>
            <a:p>
              <a:pPr marL="0" marR="0" lvl="0" indent="0" algn="l" defTabSz="950752" rtl="0" eaLnBrk="1" fontAlgn="auto" latinLnBrk="0" hangingPunct="1">
                <a:lnSpc>
                  <a:spcPct val="100000"/>
                </a:lnSpc>
                <a:spcBef>
                  <a:spcPts val="0"/>
                </a:spcBef>
                <a:spcAft>
                  <a:spcPts val="0"/>
                </a:spcAft>
                <a:buClrTx/>
                <a:buSzTx/>
                <a:buFontTx/>
                <a:buNone/>
                <a:tabLst/>
                <a:defRPr/>
              </a:pPr>
              <a:endParaRPr kumimoji="0" lang="en-US" sz="2448" b="1" i="0" u="none" strike="noStrike" kern="0" cap="none" spc="0" normalizeH="0" baseline="0" noProof="0" dirty="0">
                <a:ln>
                  <a:noFill/>
                </a:ln>
                <a:solidFill>
                  <a:srgbClr val="FFFFFF"/>
                </a:solidFill>
                <a:effectLst/>
                <a:uLnTx/>
                <a:uFillTx/>
                <a:latin typeface="Segoe UI Light"/>
                <a:ea typeface="+mn-ea"/>
                <a:cs typeface="+mn-cs"/>
              </a:endParaRPr>
            </a:p>
          </p:txBody>
        </p:sp>
        <p:grpSp>
          <p:nvGrpSpPr>
            <p:cNvPr id="49" name="Group 48"/>
            <p:cNvGrpSpPr/>
            <p:nvPr/>
          </p:nvGrpSpPr>
          <p:grpSpPr>
            <a:xfrm>
              <a:off x="9652891" y="4235179"/>
              <a:ext cx="1201425" cy="1201425"/>
              <a:chOff x="8522523" y="7401264"/>
              <a:chExt cx="1217826" cy="1217826"/>
            </a:xfrm>
            <a:solidFill>
              <a:schemeClr val="accent2"/>
            </a:solidFill>
          </p:grpSpPr>
          <p:sp>
            <p:nvSpPr>
              <p:cNvPr id="50" name="Donut 67"/>
              <p:cNvSpPr/>
              <p:nvPr/>
            </p:nvSpPr>
            <p:spPr bwMode="auto">
              <a:xfrm>
                <a:off x="8522523" y="7401264"/>
                <a:ext cx="1217826" cy="1217826"/>
              </a:xfrm>
              <a:prstGeom prst="donut">
                <a:avLst>
                  <a:gd name="adj" fmla="val 7423"/>
                </a:avLst>
              </a:prstGeom>
              <a:grpFill/>
              <a:ln w="9525" cap="flat" cmpd="sng" algn="ctr">
                <a:noFill/>
                <a:prstDash val="solid"/>
                <a:headEnd type="none" w="med" len="med"/>
                <a:tailEnd type="none" w="med" len="med"/>
              </a:ln>
              <a:effectLst/>
            </p:spPr>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349656" marR="0" lvl="0" indent="-349656" algn="ctr" defTabSz="950846" rtl="0" eaLnBrk="1" fontAlgn="base" latinLnBrk="0" hangingPunct="1">
                  <a:lnSpc>
                    <a:spcPct val="90000"/>
                  </a:lnSpc>
                  <a:spcBef>
                    <a:spcPct val="0"/>
                  </a:spcBef>
                  <a:spcAft>
                    <a:spcPct val="0"/>
                  </a:spcAft>
                  <a:buClrTx/>
                  <a:buSzTx/>
                  <a:buFont typeface="Wingdings 3" panose="05040102010807070707" pitchFamily="18" charset="2"/>
                  <a:buChar char="Æ"/>
                  <a:tabLst/>
                  <a:defRPr/>
                </a:pPr>
                <a:endParaRPr kumimoji="0" lang="en-IN" sz="2040" b="1" i="0" u="none" strike="noStrike" kern="0" cap="none" spc="0" normalizeH="0" baseline="0" noProof="0" err="1">
                  <a:ln>
                    <a:noFill/>
                  </a:ln>
                  <a:solidFill>
                    <a:srgbClr val="FFFFFF"/>
                  </a:solidFill>
                  <a:effectLst/>
                  <a:uLnTx/>
                  <a:uFillTx/>
                  <a:latin typeface="Segoe UI Light"/>
                  <a:ea typeface="Segoe UI" pitchFamily="34" charset="0"/>
                  <a:cs typeface="Segoe UI" pitchFamily="34" charset="0"/>
                </a:endParaRPr>
              </a:p>
            </p:txBody>
          </p:sp>
          <p:sp>
            <p:nvSpPr>
              <p:cNvPr id="51" name="Freeform 76"/>
              <p:cNvSpPr>
                <a:spLocks/>
              </p:cNvSpPr>
              <p:nvPr/>
            </p:nvSpPr>
            <p:spPr bwMode="auto">
              <a:xfrm rot="19008074">
                <a:off x="9110504" y="7800341"/>
                <a:ext cx="423146" cy="411298"/>
              </a:xfrm>
              <a:custGeom>
                <a:avLst/>
                <a:gdLst>
                  <a:gd name="connsiteX0" fmla="*/ 145492 w 491469"/>
                  <a:gd name="connsiteY0" fmla="*/ 25592 h 477708"/>
                  <a:gd name="connsiteX1" fmla="*/ 171167 w 491469"/>
                  <a:gd name="connsiteY1" fmla="*/ 85305 h 477708"/>
                  <a:gd name="connsiteX2" fmla="*/ 325218 w 491469"/>
                  <a:gd name="connsiteY2" fmla="*/ 227480 h 477708"/>
                  <a:gd name="connsiteX3" fmla="*/ 325539 w 491469"/>
                  <a:gd name="connsiteY3" fmla="*/ 226709 h 477708"/>
                  <a:gd name="connsiteX4" fmla="*/ 484040 w 491469"/>
                  <a:gd name="connsiteY4" fmla="*/ 385210 h 477708"/>
                  <a:gd name="connsiteX5" fmla="*/ 488807 w 491469"/>
                  <a:gd name="connsiteY5" fmla="*/ 395069 h 477708"/>
                  <a:gd name="connsiteX6" fmla="*/ 473563 w 491469"/>
                  <a:gd name="connsiteY6" fmla="*/ 460647 h 477708"/>
                  <a:gd name="connsiteX7" fmla="*/ 387979 w 491469"/>
                  <a:gd name="connsiteY7" fmla="*/ 460647 h 477708"/>
                  <a:gd name="connsiteX8" fmla="*/ 85584 w 491469"/>
                  <a:gd name="connsiteY8" fmla="*/ 170610 h 477708"/>
                  <a:gd name="connsiteX9" fmla="*/ 0 w 491469"/>
                  <a:gd name="connsiteY9" fmla="*/ 85305 h 477708"/>
                  <a:gd name="connsiteX10" fmla="*/ 85584 w 491469"/>
                  <a:gd name="connsiteY10" fmla="*/ 0 h 477708"/>
                  <a:gd name="connsiteX11" fmla="*/ 145492 w 491469"/>
                  <a:gd name="connsiteY11" fmla="*/ 25592 h 477708"/>
                  <a:gd name="connsiteX0" fmla="*/ 145492 w 491469"/>
                  <a:gd name="connsiteY0" fmla="*/ 25592 h 477708"/>
                  <a:gd name="connsiteX1" fmla="*/ 171167 w 491469"/>
                  <a:gd name="connsiteY1" fmla="*/ 85305 h 477708"/>
                  <a:gd name="connsiteX2" fmla="*/ 325218 w 491469"/>
                  <a:gd name="connsiteY2" fmla="*/ 227480 h 477708"/>
                  <a:gd name="connsiteX3" fmla="*/ 484040 w 491469"/>
                  <a:gd name="connsiteY3" fmla="*/ 385210 h 477708"/>
                  <a:gd name="connsiteX4" fmla="*/ 488807 w 491469"/>
                  <a:gd name="connsiteY4" fmla="*/ 395069 h 477708"/>
                  <a:gd name="connsiteX5" fmla="*/ 473563 w 491469"/>
                  <a:gd name="connsiteY5" fmla="*/ 460647 h 477708"/>
                  <a:gd name="connsiteX6" fmla="*/ 387979 w 491469"/>
                  <a:gd name="connsiteY6" fmla="*/ 460647 h 477708"/>
                  <a:gd name="connsiteX7" fmla="*/ 85584 w 491469"/>
                  <a:gd name="connsiteY7" fmla="*/ 170610 h 477708"/>
                  <a:gd name="connsiteX8" fmla="*/ 0 w 491469"/>
                  <a:gd name="connsiteY8" fmla="*/ 85305 h 477708"/>
                  <a:gd name="connsiteX9" fmla="*/ 85584 w 491469"/>
                  <a:gd name="connsiteY9" fmla="*/ 0 h 477708"/>
                  <a:gd name="connsiteX10" fmla="*/ 145492 w 491469"/>
                  <a:gd name="connsiteY10" fmla="*/ 25592 h 477708"/>
                  <a:gd name="connsiteX0" fmla="*/ 145492 w 491469"/>
                  <a:gd name="connsiteY0" fmla="*/ 25592 h 477708"/>
                  <a:gd name="connsiteX1" fmla="*/ 171167 w 491469"/>
                  <a:gd name="connsiteY1" fmla="*/ 85305 h 477708"/>
                  <a:gd name="connsiteX2" fmla="*/ 484040 w 491469"/>
                  <a:gd name="connsiteY2" fmla="*/ 385210 h 477708"/>
                  <a:gd name="connsiteX3" fmla="*/ 488807 w 491469"/>
                  <a:gd name="connsiteY3" fmla="*/ 395069 h 477708"/>
                  <a:gd name="connsiteX4" fmla="*/ 473563 w 491469"/>
                  <a:gd name="connsiteY4" fmla="*/ 460647 h 477708"/>
                  <a:gd name="connsiteX5" fmla="*/ 387979 w 491469"/>
                  <a:gd name="connsiteY5" fmla="*/ 460647 h 477708"/>
                  <a:gd name="connsiteX6" fmla="*/ 85584 w 491469"/>
                  <a:gd name="connsiteY6" fmla="*/ 170610 h 477708"/>
                  <a:gd name="connsiteX7" fmla="*/ 0 w 491469"/>
                  <a:gd name="connsiteY7" fmla="*/ 85305 h 477708"/>
                  <a:gd name="connsiteX8" fmla="*/ 85584 w 491469"/>
                  <a:gd name="connsiteY8" fmla="*/ 0 h 477708"/>
                  <a:gd name="connsiteX9" fmla="*/ 145492 w 491469"/>
                  <a:gd name="connsiteY9" fmla="*/ 25592 h 477708"/>
                  <a:gd name="connsiteX0" fmla="*/ 145492 w 491469"/>
                  <a:gd name="connsiteY0" fmla="*/ 25592 h 477708"/>
                  <a:gd name="connsiteX1" fmla="*/ 171167 w 491469"/>
                  <a:gd name="connsiteY1" fmla="*/ 85305 h 477708"/>
                  <a:gd name="connsiteX2" fmla="*/ 488807 w 491469"/>
                  <a:gd name="connsiteY2" fmla="*/ 395069 h 477708"/>
                  <a:gd name="connsiteX3" fmla="*/ 473563 w 491469"/>
                  <a:gd name="connsiteY3" fmla="*/ 460647 h 477708"/>
                  <a:gd name="connsiteX4" fmla="*/ 387979 w 491469"/>
                  <a:gd name="connsiteY4" fmla="*/ 460647 h 477708"/>
                  <a:gd name="connsiteX5" fmla="*/ 85584 w 491469"/>
                  <a:gd name="connsiteY5" fmla="*/ 170610 h 477708"/>
                  <a:gd name="connsiteX6" fmla="*/ 0 w 491469"/>
                  <a:gd name="connsiteY6" fmla="*/ 85305 h 477708"/>
                  <a:gd name="connsiteX7" fmla="*/ 85584 w 491469"/>
                  <a:gd name="connsiteY7" fmla="*/ 0 h 477708"/>
                  <a:gd name="connsiteX8" fmla="*/ 145492 w 491469"/>
                  <a:gd name="connsiteY8" fmla="*/ 25592 h 47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1469" h="477708">
                    <a:moveTo>
                      <a:pt x="145492" y="25592"/>
                    </a:moveTo>
                    <a:cubicBezTo>
                      <a:pt x="161183" y="41231"/>
                      <a:pt x="171167" y="62557"/>
                      <a:pt x="171167" y="85305"/>
                    </a:cubicBezTo>
                    <a:lnTo>
                      <a:pt x="488807" y="395069"/>
                    </a:lnTo>
                    <a:cubicBezTo>
                      <a:pt x="494959" y="416928"/>
                      <a:pt x="490679" y="443586"/>
                      <a:pt x="473563" y="460647"/>
                    </a:cubicBezTo>
                    <a:cubicBezTo>
                      <a:pt x="450740" y="483395"/>
                      <a:pt x="410801" y="483395"/>
                      <a:pt x="387979" y="460647"/>
                    </a:cubicBezTo>
                    <a:lnTo>
                      <a:pt x="85584" y="170610"/>
                    </a:lnTo>
                    <a:cubicBezTo>
                      <a:pt x="39939" y="170610"/>
                      <a:pt x="0" y="136488"/>
                      <a:pt x="0" y="85305"/>
                    </a:cubicBezTo>
                    <a:cubicBezTo>
                      <a:pt x="0" y="39809"/>
                      <a:pt x="39939" y="0"/>
                      <a:pt x="85584" y="0"/>
                    </a:cubicBezTo>
                    <a:cubicBezTo>
                      <a:pt x="108406" y="0"/>
                      <a:pt x="129802" y="9952"/>
                      <a:pt x="145492" y="255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noAutofit/>
              </a:bodyPr>
              <a:lstStyle/>
              <a:p>
                <a:pPr marL="0" marR="0" lvl="0" indent="0" algn="l" defTabSz="950225" rtl="0" eaLnBrk="1" fontAlgn="base" latinLnBrk="0" hangingPunct="1">
                  <a:lnSpc>
                    <a:spcPct val="100000"/>
                  </a:lnSpc>
                  <a:spcBef>
                    <a:spcPct val="0"/>
                  </a:spcBef>
                  <a:spcAft>
                    <a:spcPct val="0"/>
                  </a:spcAft>
                  <a:buClrTx/>
                  <a:buSzTx/>
                  <a:buFontTx/>
                  <a:buNone/>
                  <a:tabLst/>
                  <a:defRPr/>
                </a:pPr>
                <a:endParaRPr kumimoji="0" lang="en-IN" sz="2448" b="0" i="0" u="none" strike="noStrike" kern="0" cap="none" spc="0" normalizeH="0" baseline="0" noProof="0">
                  <a:ln>
                    <a:noFill/>
                  </a:ln>
                  <a:solidFill>
                    <a:srgbClr val="000000"/>
                  </a:solidFill>
                  <a:effectLst/>
                  <a:uLnTx/>
                  <a:uFillTx/>
                  <a:latin typeface="Segoe UI Semilight"/>
                  <a:ea typeface="+mn-ea"/>
                  <a:cs typeface="+mn-cs"/>
                </a:endParaRPr>
              </a:p>
            </p:txBody>
          </p:sp>
          <p:sp>
            <p:nvSpPr>
              <p:cNvPr id="52" name="Freeform: Shape 51"/>
              <p:cNvSpPr/>
              <p:nvPr/>
            </p:nvSpPr>
            <p:spPr bwMode="auto">
              <a:xfrm>
                <a:off x="8714746" y="7594078"/>
                <a:ext cx="840478" cy="696197"/>
              </a:xfrm>
              <a:custGeom>
                <a:avLst/>
                <a:gdLst>
                  <a:gd name="connsiteX0" fmla="*/ 870013 w 1533400"/>
                  <a:gd name="connsiteY0" fmla="*/ 625587 h 889012"/>
                  <a:gd name="connsiteX1" fmla="*/ 876948 w 1533400"/>
                  <a:gd name="connsiteY1" fmla="*/ 625599 h 889012"/>
                  <a:gd name="connsiteX2" fmla="*/ 936151 w 1533400"/>
                  <a:gd name="connsiteY2" fmla="*/ 767881 h 889012"/>
                  <a:gd name="connsiteX3" fmla="*/ 801125 w 1533400"/>
                  <a:gd name="connsiteY3" fmla="*/ 889012 h 889012"/>
                  <a:gd name="connsiteX4" fmla="*/ 696651 w 1533400"/>
                  <a:gd name="connsiteY4" fmla="*/ 639151 h 889012"/>
                  <a:gd name="connsiteX5" fmla="*/ 870013 w 1533400"/>
                  <a:gd name="connsiteY5" fmla="*/ 625587 h 889012"/>
                  <a:gd name="connsiteX6" fmla="*/ 1109391 w 1533400"/>
                  <a:gd name="connsiteY6" fmla="*/ 535918 h 889012"/>
                  <a:gd name="connsiteX7" fmla="*/ 1137342 w 1533400"/>
                  <a:gd name="connsiteY7" fmla="*/ 541074 h 889012"/>
                  <a:gd name="connsiteX8" fmla="*/ 1148628 w 1533400"/>
                  <a:gd name="connsiteY8" fmla="*/ 548385 h 889012"/>
                  <a:gd name="connsiteX9" fmla="*/ 1070309 w 1533400"/>
                  <a:gd name="connsiteY9" fmla="*/ 548385 h 889012"/>
                  <a:gd name="connsiteX10" fmla="*/ 1081423 w 1533400"/>
                  <a:gd name="connsiteY10" fmla="*/ 541166 h 889012"/>
                  <a:gd name="connsiteX11" fmla="*/ 1109391 w 1533400"/>
                  <a:gd name="connsiteY11" fmla="*/ 535918 h 889012"/>
                  <a:gd name="connsiteX12" fmla="*/ 796775 w 1533400"/>
                  <a:gd name="connsiteY12" fmla="*/ 330268 h 889012"/>
                  <a:gd name="connsiteX13" fmla="*/ 932896 w 1533400"/>
                  <a:gd name="connsiteY13" fmla="*/ 452493 h 889012"/>
                  <a:gd name="connsiteX14" fmla="*/ 874048 w 1533400"/>
                  <a:gd name="connsiteY14" fmla="*/ 595129 h 889012"/>
                  <a:gd name="connsiteX15" fmla="*/ 692922 w 1533400"/>
                  <a:gd name="connsiteY15" fmla="*/ 580749 h 889012"/>
                  <a:gd name="connsiteX16" fmla="*/ 796775 w 1533400"/>
                  <a:gd name="connsiteY16" fmla="*/ 330268 h 889012"/>
                  <a:gd name="connsiteX17" fmla="*/ 1421850 w 1533400"/>
                  <a:gd name="connsiteY17" fmla="*/ 323865 h 889012"/>
                  <a:gd name="connsiteX18" fmla="*/ 1525526 w 1533400"/>
                  <a:gd name="connsiteY18" fmla="*/ 545643 h 889012"/>
                  <a:gd name="connsiteX19" fmla="*/ 1533400 w 1533400"/>
                  <a:gd name="connsiteY19" fmla="*/ 548384 h 889012"/>
                  <a:gd name="connsiteX20" fmla="*/ 1341297 w 1533400"/>
                  <a:gd name="connsiteY20" fmla="*/ 548385 h 889012"/>
                  <a:gd name="connsiteX21" fmla="*/ 1319267 w 1533400"/>
                  <a:gd name="connsiteY21" fmla="*/ 494828 h 889012"/>
                  <a:gd name="connsiteX22" fmla="*/ 1286403 w 1533400"/>
                  <a:gd name="connsiteY22" fmla="*/ 445463 h 889012"/>
                  <a:gd name="connsiteX23" fmla="*/ 1421850 w 1533400"/>
                  <a:gd name="connsiteY23" fmla="*/ 323865 h 889012"/>
                  <a:gd name="connsiteX24" fmla="*/ 1137187 w 1533400"/>
                  <a:gd name="connsiteY24" fmla="*/ 192815 h 889012"/>
                  <a:gd name="connsiteX25" fmla="*/ 1391160 w 1533400"/>
                  <a:gd name="connsiteY25" fmla="*/ 293177 h 889012"/>
                  <a:gd name="connsiteX26" fmla="*/ 1268935 w 1533400"/>
                  <a:gd name="connsiteY26" fmla="*/ 429299 h 889012"/>
                  <a:gd name="connsiteX27" fmla="*/ 1126299 w 1533400"/>
                  <a:gd name="connsiteY27" fmla="*/ 370450 h 889012"/>
                  <a:gd name="connsiteX28" fmla="*/ 1137187 w 1533400"/>
                  <a:gd name="connsiteY28" fmla="*/ 192815 h 889012"/>
                  <a:gd name="connsiteX29" fmla="*/ 1087838 w 1533400"/>
                  <a:gd name="connsiteY29" fmla="*/ 192815 h 889012"/>
                  <a:gd name="connsiteX30" fmla="*/ 1095937 w 1533400"/>
                  <a:gd name="connsiteY30" fmla="*/ 373239 h 889012"/>
                  <a:gd name="connsiteX31" fmla="*/ 957541 w 1533400"/>
                  <a:gd name="connsiteY31" fmla="*/ 427848 h 889012"/>
                  <a:gd name="connsiteX32" fmla="*/ 835261 w 1533400"/>
                  <a:gd name="connsiteY32" fmla="*/ 291782 h 889012"/>
                  <a:gd name="connsiteX33" fmla="*/ 1087838 w 1533400"/>
                  <a:gd name="connsiteY33" fmla="*/ 192815 h 889012"/>
                  <a:gd name="connsiteX34" fmla="*/ 174021 w 1533400"/>
                  <a:gd name="connsiteY34" fmla="*/ 0 h 889012"/>
                  <a:gd name="connsiteX35" fmla="*/ 348042 w 1533400"/>
                  <a:gd name="connsiteY35" fmla="*/ 366169 h 889012"/>
                  <a:gd name="connsiteX36" fmla="*/ 0 w 1533400"/>
                  <a:gd name="connsiteY36" fmla="*/ 366169 h 889012"/>
                  <a:gd name="connsiteX0" fmla="*/ 695992 w 1359379"/>
                  <a:gd name="connsiteY0" fmla="*/ 625587 h 889012"/>
                  <a:gd name="connsiteX1" fmla="*/ 702927 w 1359379"/>
                  <a:gd name="connsiteY1" fmla="*/ 625599 h 889012"/>
                  <a:gd name="connsiteX2" fmla="*/ 762130 w 1359379"/>
                  <a:gd name="connsiteY2" fmla="*/ 767881 h 889012"/>
                  <a:gd name="connsiteX3" fmla="*/ 627104 w 1359379"/>
                  <a:gd name="connsiteY3" fmla="*/ 889012 h 889012"/>
                  <a:gd name="connsiteX4" fmla="*/ 522630 w 1359379"/>
                  <a:gd name="connsiteY4" fmla="*/ 639151 h 889012"/>
                  <a:gd name="connsiteX5" fmla="*/ 695992 w 1359379"/>
                  <a:gd name="connsiteY5" fmla="*/ 625587 h 889012"/>
                  <a:gd name="connsiteX6" fmla="*/ 935370 w 1359379"/>
                  <a:gd name="connsiteY6" fmla="*/ 535918 h 889012"/>
                  <a:gd name="connsiteX7" fmla="*/ 963321 w 1359379"/>
                  <a:gd name="connsiteY7" fmla="*/ 541074 h 889012"/>
                  <a:gd name="connsiteX8" fmla="*/ 974607 w 1359379"/>
                  <a:gd name="connsiteY8" fmla="*/ 548385 h 889012"/>
                  <a:gd name="connsiteX9" fmla="*/ 896288 w 1359379"/>
                  <a:gd name="connsiteY9" fmla="*/ 548385 h 889012"/>
                  <a:gd name="connsiteX10" fmla="*/ 907402 w 1359379"/>
                  <a:gd name="connsiteY10" fmla="*/ 541166 h 889012"/>
                  <a:gd name="connsiteX11" fmla="*/ 935370 w 1359379"/>
                  <a:gd name="connsiteY11" fmla="*/ 535918 h 889012"/>
                  <a:gd name="connsiteX12" fmla="*/ 622754 w 1359379"/>
                  <a:gd name="connsiteY12" fmla="*/ 330268 h 889012"/>
                  <a:gd name="connsiteX13" fmla="*/ 758875 w 1359379"/>
                  <a:gd name="connsiteY13" fmla="*/ 452493 h 889012"/>
                  <a:gd name="connsiteX14" fmla="*/ 700027 w 1359379"/>
                  <a:gd name="connsiteY14" fmla="*/ 595129 h 889012"/>
                  <a:gd name="connsiteX15" fmla="*/ 518901 w 1359379"/>
                  <a:gd name="connsiteY15" fmla="*/ 580749 h 889012"/>
                  <a:gd name="connsiteX16" fmla="*/ 622754 w 1359379"/>
                  <a:gd name="connsiteY16" fmla="*/ 330268 h 889012"/>
                  <a:gd name="connsiteX17" fmla="*/ 1247829 w 1359379"/>
                  <a:gd name="connsiteY17" fmla="*/ 323865 h 889012"/>
                  <a:gd name="connsiteX18" fmla="*/ 1351505 w 1359379"/>
                  <a:gd name="connsiteY18" fmla="*/ 545643 h 889012"/>
                  <a:gd name="connsiteX19" fmla="*/ 1359379 w 1359379"/>
                  <a:gd name="connsiteY19" fmla="*/ 548384 h 889012"/>
                  <a:gd name="connsiteX20" fmla="*/ 1167276 w 1359379"/>
                  <a:gd name="connsiteY20" fmla="*/ 548385 h 889012"/>
                  <a:gd name="connsiteX21" fmla="*/ 1145246 w 1359379"/>
                  <a:gd name="connsiteY21" fmla="*/ 494828 h 889012"/>
                  <a:gd name="connsiteX22" fmla="*/ 1112382 w 1359379"/>
                  <a:gd name="connsiteY22" fmla="*/ 445463 h 889012"/>
                  <a:gd name="connsiteX23" fmla="*/ 1247829 w 1359379"/>
                  <a:gd name="connsiteY23" fmla="*/ 323865 h 889012"/>
                  <a:gd name="connsiteX24" fmla="*/ 963166 w 1359379"/>
                  <a:gd name="connsiteY24" fmla="*/ 192815 h 889012"/>
                  <a:gd name="connsiteX25" fmla="*/ 1217139 w 1359379"/>
                  <a:gd name="connsiteY25" fmla="*/ 293177 h 889012"/>
                  <a:gd name="connsiteX26" fmla="*/ 1094914 w 1359379"/>
                  <a:gd name="connsiteY26" fmla="*/ 429299 h 889012"/>
                  <a:gd name="connsiteX27" fmla="*/ 952278 w 1359379"/>
                  <a:gd name="connsiteY27" fmla="*/ 370450 h 889012"/>
                  <a:gd name="connsiteX28" fmla="*/ 963166 w 1359379"/>
                  <a:gd name="connsiteY28" fmla="*/ 192815 h 889012"/>
                  <a:gd name="connsiteX29" fmla="*/ 913817 w 1359379"/>
                  <a:gd name="connsiteY29" fmla="*/ 192815 h 889012"/>
                  <a:gd name="connsiteX30" fmla="*/ 921916 w 1359379"/>
                  <a:gd name="connsiteY30" fmla="*/ 373239 h 889012"/>
                  <a:gd name="connsiteX31" fmla="*/ 783520 w 1359379"/>
                  <a:gd name="connsiteY31" fmla="*/ 427848 h 889012"/>
                  <a:gd name="connsiteX32" fmla="*/ 661240 w 1359379"/>
                  <a:gd name="connsiteY32" fmla="*/ 291782 h 889012"/>
                  <a:gd name="connsiteX33" fmla="*/ 913817 w 1359379"/>
                  <a:gd name="connsiteY33" fmla="*/ 192815 h 889012"/>
                  <a:gd name="connsiteX34" fmla="*/ 0 w 1359379"/>
                  <a:gd name="connsiteY34" fmla="*/ 0 h 889012"/>
                  <a:gd name="connsiteX35" fmla="*/ 174021 w 1359379"/>
                  <a:gd name="connsiteY35" fmla="*/ 366169 h 889012"/>
                  <a:gd name="connsiteX36" fmla="*/ 0 w 1359379"/>
                  <a:gd name="connsiteY36" fmla="*/ 0 h 889012"/>
                  <a:gd name="connsiteX0" fmla="*/ 177091 w 840478"/>
                  <a:gd name="connsiteY0" fmla="*/ 432772 h 696197"/>
                  <a:gd name="connsiteX1" fmla="*/ 184026 w 840478"/>
                  <a:gd name="connsiteY1" fmla="*/ 432784 h 696197"/>
                  <a:gd name="connsiteX2" fmla="*/ 243229 w 840478"/>
                  <a:gd name="connsiteY2" fmla="*/ 575066 h 696197"/>
                  <a:gd name="connsiteX3" fmla="*/ 108203 w 840478"/>
                  <a:gd name="connsiteY3" fmla="*/ 696197 h 696197"/>
                  <a:gd name="connsiteX4" fmla="*/ 3729 w 840478"/>
                  <a:gd name="connsiteY4" fmla="*/ 446336 h 696197"/>
                  <a:gd name="connsiteX5" fmla="*/ 177091 w 840478"/>
                  <a:gd name="connsiteY5" fmla="*/ 432772 h 696197"/>
                  <a:gd name="connsiteX6" fmla="*/ 416469 w 840478"/>
                  <a:gd name="connsiteY6" fmla="*/ 343103 h 696197"/>
                  <a:gd name="connsiteX7" fmla="*/ 444420 w 840478"/>
                  <a:gd name="connsiteY7" fmla="*/ 348259 h 696197"/>
                  <a:gd name="connsiteX8" fmla="*/ 455706 w 840478"/>
                  <a:gd name="connsiteY8" fmla="*/ 355570 h 696197"/>
                  <a:gd name="connsiteX9" fmla="*/ 377387 w 840478"/>
                  <a:gd name="connsiteY9" fmla="*/ 355570 h 696197"/>
                  <a:gd name="connsiteX10" fmla="*/ 388501 w 840478"/>
                  <a:gd name="connsiteY10" fmla="*/ 348351 h 696197"/>
                  <a:gd name="connsiteX11" fmla="*/ 416469 w 840478"/>
                  <a:gd name="connsiteY11" fmla="*/ 343103 h 696197"/>
                  <a:gd name="connsiteX12" fmla="*/ 103853 w 840478"/>
                  <a:gd name="connsiteY12" fmla="*/ 137453 h 696197"/>
                  <a:gd name="connsiteX13" fmla="*/ 239974 w 840478"/>
                  <a:gd name="connsiteY13" fmla="*/ 259678 h 696197"/>
                  <a:gd name="connsiteX14" fmla="*/ 181126 w 840478"/>
                  <a:gd name="connsiteY14" fmla="*/ 402314 h 696197"/>
                  <a:gd name="connsiteX15" fmla="*/ 0 w 840478"/>
                  <a:gd name="connsiteY15" fmla="*/ 387934 h 696197"/>
                  <a:gd name="connsiteX16" fmla="*/ 103853 w 840478"/>
                  <a:gd name="connsiteY16" fmla="*/ 137453 h 696197"/>
                  <a:gd name="connsiteX17" fmla="*/ 728928 w 840478"/>
                  <a:gd name="connsiteY17" fmla="*/ 131050 h 696197"/>
                  <a:gd name="connsiteX18" fmla="*/ 832604 w 840478"/>
                  <a:gd name="connsiteY18" fmla="*/ 352828 h 696197"/>
                  <a:gd name="connsiteX19" fmla="*/ 840478 w 840478"/>
                  <a:gd name="connsiteY19" fmla="*/ 355569 h 696197"/>
                  <a:gd name="connsiteX20" fmla="*/ 648375 w 840478"/>
                  <a:gd name="connsiteY20" fmla="*/ 355570 h 696197"/>
                  <a:gd name="connsiteX21" fmla="*/ 626345 w 840478"/>
                  <a:gd name="connsiteY21" fmla="*/ 302013 h 696197"/>
                  <a:gd name="connsiteX22" fmla="*/ 593481 w 840478"/>
                  <a:gd name="connsiteY22" fmla="*/ 252648 h 696197"/>
                  <a:gd name="connsiteX23" fmla="*/ 728928 w 840478"/>
                  <a:gd name="connsiteY23" fmla="*/ 131050 h 696197"/>
                  <a:gd name="connsiteX24" fmla="*/ 444265 w 840478"/>
                  <a:gd name="connsiteY24" fmla="*/ 0 h 696197"/>
                  <a:gd name="connsiteX25" fmla="*/ 698238 w 840478"/>
                  <a:gd name="connsiteY25" fmla="*/ 100362 h 696197"/>
                  <a:gd name="connsiteX26" fmla="*/ 576013 w 840478"/>
                  <a:gd name="connsiteY26" fmla="*/ 236484 h 696197"/>
                  <a:gd name="connsiteX27" fmla="*/ 433377 w 840478"/>
                  <a:gd name="connsiteY27" fmla="*/ 177635 h 696197"/>
                  <a:gd name="connsiteX28" fmla="*/ 444265 w 840478"/>
                  <a:gd name="connsiteY28" fmla="*/ 0 h 696197"/>
                  <a:gd name="connsiteX29" fmla="*/ 394916 w 840478"/>
                  <a:gd name="connsiteY29" fmla="*/ 0 h 696197"/>
                  <a:gd name="connsiteX30" fmla="*/ 403015 w 840478"/>
                  <a:gd name="connsiteY30" fmla="*/ 180424 h 696197"/>
                  <a:gd name="connsiteX31" fmla="*/ 264619 w 840478"/>
                  <a:gd name="connsiteY31" fmla="*/ 235033 h 696197"/>
                  <a:gd name="connsiteX32" fmla="*/ 142339 w 840478"/>
                  <a:gd name="connsiteY32" fmla="*/ 98967 h 696197"/>
                  <a:gd name="connsiteX33" fmla="*/ 394916 w 840478"/>
                  <a:gd name="connsiteY33" fmla="*/ 0 h 696197"/>
                  <a:gd name="connsiteX0" fmla="*/ 177091 w 840478"/>
                  <a:gd name="connsiteY0" fmla="*/ 432772 h 696197"/>
                  <a:gd name="connsiteX1" fmla="*/ 184026 w 840478"/>
                  <a:gd name="connsiteY1" fmla="*/ 432784 h 696197"/>
                  <a:gd name="connsiteX2" fmla="*/ 243229 w 840478"/>
                  <a:gd name="connsiteY2" fmla="*/ 575066 h 696197"/>
                  <a:gd name="connsiteX3" fmla="*/ 108203 w 840478"/>
                  <a:gd name="connsiteY3" fmla="*/ 696197 h 696197"/>
                  <a:gd name="connsiteX4" fmla="*/ 3729 w 840478"/>
                  <a:gd name="connsiteY4" fmla="*/ 446336 h 696197"/>
                  <a:gd name="connsiteX5" fmla="*/ 177091 w 840478"/>
                  <a:gd name="connsiteY5" fmla="*/ 432772 h 696197"/>
                  <a:gd name="connsiteX6" fmla="*/ 388501 w 840478"/>
                  <a:gd name="connsiteY6" fmla="*/ 348351 h 696197"/>
                  <a:gd name="connsiteX7" fmla="*/ 444420 w 840478"/>
                  <a:gd name="connsiteY7" fmla="*/ 348259 h 696197"/>
                  <a:gd name="connsiteX8" fmla="*/ 455706 w 840478"/>
                  <a:gd name="connsiteY8" fmla="*/ 355570 h 696197"/>
                  <a:gd name="connsiteX9" fmla="*/ 377387 w 840478"/>
                  <a:gd name="connsiteY9" fmla="*/ 355570 h 696197"/>
                  <a:gd name="connsiteX10" fmla="*/ 388501 w 840478"/>
                  <a:gd name="connsiteY10" fmla="*/ 348351 h 696197"/>
                  <a:gd name="connsiteX11" fmla="*/ 103853 w 840478"/>
                  <a:gd name="connsiteY11" fmla="*/ 137453 h 696197"/>
                  <a:gd name="connsiteX12" fmla="*/ 239974 w 840478"/>
                  <a:gd name="connsiteY12" fmla="*/ 259678 h 696197"/>
                  <a:gd name="connsiteX13" fmla="*/ 181126 w 840478"/>
                  <a:gd name="connsiteY13" fmla="*/ 402314 h 696197"/>
                  <a:gd name="connsiteX14" fmla="*/ 0 w 840478"/>
                  <a:gd name="connsiteY14" fmla="*/ 387934 h 696197"/>
                  <a:gd name="connsiteX15" fmla="*/ 103853 w 840478"/>
                  <a:gd name="connsiteY15" fmla="*/ 137453 h 696197"/>
                  <a:gd name="connsiteX16" fmla="*/ 728928 w 840478"/>
                  <a:gd name="connsiteY16" fmla="*/ 131050 h 696197"/>
                  <a:gd name="connsiteX17" fmla="*/ 832604 w 840478"/>
                  <a:gd name="connsiteY17" fmla="*/ 352828 h 696197"/>
                  <a:gd name="connsiteX18" fmla="*/ 840478 w 840478"/>
                  <a:gd name="connsiteY18" fmla="*/ 355569 h 696197"/>
                  <a:gd name="connsiteX19" fmla="*/ 648375 w 840478"/>
                  <a:gd name="connsiteY19" fmla="*/ 355570 h 696197"/>
                  <a:gd name="connsiteX20" fmla="*/ 626345 w 840478"/>
                  <a:gd name="connsiteY20" fmla="*/ 302013 h 696197"/>
                  <a:gd name="connsiteX21" fmla="*/ 593481 w 840478"/>
                  <a:gd name="connsiteY21" fmla="*/ 252648 h 696197"/>
                  <a:gd name="connsiteX22" fmla="*/ 728928 w 840478"/>
                  <a:gd name="connsiteY22" fmla="*/ 131050 h 696197"/>
                  <a:gd name="connsiteX23" fmla="*/ 444265 w 840478"/>
                  <a:gd name="connsiteY23" fmla="*/ 0 h 696197"/>
                  <a:gd name="connsiteX24" fmla="*/ 698238 w 840478"/>
                  <a:gd name="connsiteY24" fmla="*/ 100362 h 696197"/>
                  <a:gd name="connsiteX25" fmla="*/ 576013 w 840478"/>
                  <a:gd name="connsiteY25" fmla="*/ 236484 h 696197"/>
                  <a:gd name="connsiteX26" fmla="*/ 433377 w 840478"/>
                  <a:gd name="connsiteY26" fmla="*/ 177635 h 696197"/>
                  <a:gd name="connsiteX27" fmla="*/ 444265 w 840478"/>
                  <a:gd name="connsiteY27" fmla="*/ 0 h 696197"/>
                  <a:gd name="connsiteX28" fmla="*/ 394916 w 840478"/>
                  <a:gd name="connsiteY28" fmla="*/ 0 h 696197"/>
                  <a:gd name="connsiteX29" fmla="*/ 403015 w 840478"/>
                  <a:gd name="connsiteY29" fmla="*/ 180424 h 696197"/>
                  <a:gd name="connsiteX30" fmla="*/ 264619 w 840478"/>
                  <a:gd name="connsiteY30" fmla="*/ 235033 h 696197"/>
                  <a:gd name="connsiteX31" fmla="*/ 142339 w 840478"/>
                  <a:gd name="connsiteY31" fmla="*/ 98967 h 696197"/>
                  <a:gd name="connsiteX32" fmla="*/ 394916 w 840478"/>
                  <a:gd name="connsiteY32" fmla="*/ 0 h 696197"/>
                  <a:gd name="connsiteX0" fmla="*/ 177091 w 840478"/>
                  <a:gd name="connsiteY0" fmla="*/ 432772 h 696197"/>
                  <a:gd name="connsiteX1" fmla="*/ 184026 w 840478"/>
                  <a:gd name="connsiteY1" fmla="*/ 432784 h 696197"/>
                  <a:gd name="connsiteX2" fmla="*/ 243229 w 840478"/>
                  <a:gd name="connsiteY2" fmla="*/ 575066 h 696197"/>
                  <a:gd name="connsiteX3" fmla="*/ 108203 w 840478"/>
                  <a:gd name="connsiteY3" fmla="*/ 696197 h 696197"/>
                  <a:gd name="connsiteX4" fmla="*/ 3729 w 840478"/>
                  <a:gd name="connsiteY4" fmla="*/ 446336 h 696197"/>
                  <a:gd name="connsiteX5" fmla="*/ 177091 w 840478"/>
                  <a:gd name="connsiteY5" fmla="*/ 432772 h 696197"/>
                  <a:gd name="connsiteX6" fmla="*/ 388501 w 840478"/>
                  <a:gd name="connsiteY6" fmla="*/ 348351 h 696197"/>
                  <a:gd name="connsiteX7" fmla="*/ 444420 w 840478"/>
                  <a:gd name="connsiteY7" fmla="*/ 348259 h 696197"/>
                  <a:gd name="connsiteX8" fmla="*/ 377387 w 840478"/>
                  <a:gd name="connsiteY8" fmla="*/ 355570 h 696197"/>
                  <a:gd name="connsiteX9" fmla="*/ 388501 w 840478"/>
                  <a:gd name="connsiteY9" fmla="*/ 348351 h 696197"/>
                  <a:gd name="connsiteX10" fmla="*/ 103853 w 840478"/>
                  <a:gd name="connsiteY10" fmla="*/ 137453 h 696197"/>
                  <a:gd name="connsiteX11" fmla="*/ 239974 w 840478"/>
                  <a:gd name="connsiteY11" fmla="*/ 259678 h 696197"/>
                  <a:gd name="connsiteX12" fmla="*/ 181126 w 840478"/>
                  <a:gd name="connsiteY12" fmla="*/ 402314 h 696197"/>
                  <a:gd name="connsiteX13" fmla="*/ 0 w 840478"/>
                  <a:gd name="connsiteY13" fmla="*/ 387934 h 696197"/>
                  <a:gd name="connsiteX14" fmla="*/ 103853 w 840478"/>
                  <a:gd name="connsiteY14" fmla="*/ 137453 h 696197"/>
                  <a:gd name="connsiteX15" fmla="*/ 728928 w 840478"/>
                  <a:gd name="connsiteY15" fmla="*/ 131050 h 696197"/>
                  <a:gd name="connsiteX16" fmla="*/ 832604 w 840478"/>
                  <a:gd name="connsiteY16" fmla="*/ 352828 h 696197"/>
                  <a:gd name="connsiteX17" fmla="*/ 840478 w 840478"/>
                  <a:gd name="connsiteY17" fmla="*/ 355569 h 696197"/>
                  <a:gd name="connsiteX18" fmla="*/ 648375 w 840478"/>
                  <a:gd name="connsiteY18" fmla="*/ 355570 h 696197"/>
                  <a:gd name="connsiteX19" fmla="*/ 626345 w 840478"/>
                  <a:gd name="connsiteY19" fmla="*/ 302013 h 696197"/>
                  <a:gd name="connsiteX20" fmla="*/ 593481 w 840478"/>
                  <a:gd name="connsiteY20" fmla="*/ 252648 h 696197"/>
                  <a:gd name="connsiteX21" fmla="*/ 728928 w 840478"/>
                  <a:gd name="connsiteY21" fmla="*/ 131050 h 696197"/>
                  <a:gd name="connsiteX22" fmla="*/ 444265 w 840478"/>
                  <a:gd name="connsiteY22" fmla="*/ 0 h 696197"/>
                  <a:gd name="connsiteX23" fmla="*/ 698238 w 840478"/>
                  <a:gd name="connsiteY23" fmla="*/ 100362 h 696197"/>
                  <a:gd name="connsiteX24" fmla="*/ 576013 w 840478"/>
                  <a:gd name="connsiteY24" fmla="*/ 236484 h 696197"/>
                  <a:gd name="connsiteX25" fmla="*/ 433377 w 840478"/>
                  <a:gd name="connsiteY25" fmla="*/ 177635 h 696197"/>
                  <a:gd name="connsiteX26" fmla="*/ 444265 w 840478"/>
                  <a:gd name="connsiteY26" fmla="*/ 0 h 696197"/>
                  <a:gd name="connsiteX27" fmla="*/ 394916 w 840478"/>
                  <a:gd name="connsiteY27" fmla="*/ 0 h 696197"/>
                  <a:gd name="connsiteX28" fmla="*/ 403015 w 840478"/>
                  <a:gd name="connsiteY28" fmla="*/ 180424 h 696197"/>
                  <a:gd name="connsiteX29" fmla="*/ 264619 w 840478"/>
                  <a:gd name="connsiteY29" fmla="*/ 235033 h 696197"/>
                  <a:gd name="connsiteX30" fmla="*/ 142339 w 840478"/>
                  <a:gd name="connsiteY30" fmla="*/ 98967 h 696197"/>
                  <a:gd name="connsiteX31" fmla="*/ 394916 w 840478"/>
                  <a:gd name="connsiteY31" fmla="*/ 0 h 696197"/>
                  <a:gd name="connsiteX0" fmla="*/ 177091 w 840478"/>
                  <a:gd name="connsiteY0" fmla="*/ 432772 h 696197"/>
                  <a:gd name="connsiteX1" fmla="*/ 184026 w 840478"/>
                  <a:gd name="connsiteY1" fmla="*/ 432784 h 696197"/>
                  <a:gd name="connsiteX2" fmla="*/ 243229 w 840478"/>
                  <a:gd name="connsiteY2" fmla="*/ 575066 h 696197"/>
                  <a:gd name="connsiteX3" fmla="*/ 108203 w 840478"/>
                  <a:gd name="connsiteY3" fmla="*/ 696197 h 696197"/>
                  <a:gd name="connsiteX4" fmla="*/ 3729 w 840478"/>
                  <a:gd name="connsiteY4" fmla="*/ 446336 h 696197"/>
                  <a:gd name="connsiteX5" fmla="*/ 177091 w 840478"/>
                  <a:gd name="connsiteY5" fmla="*/ 432772 h 696197"/>
                  <a:gd name="connsiteX6" fmla="*/ 377387 w 840478"/>
                  <a:gd name="connsiteY6" fmla="*/ 355570 h 696197"/>
                  <a:gd name="connsiteX7" fmla="*/ 444420 w 840478"/>
                  <a:gd name="connsiteY7" fmla="*/ 348259 h 696197"/>
                  <a:gd name="connsiteX8" fmla="*/ 377387 w 840478"/>
                  <a:gd name="connsiteY8" fmla="*/ 355570 h 696197"/>
                  <a:gd name="connsiteX9" fmla="*/ 103853 w 840478"/>
                  <a:gd name="connsiteY9" fmla="*/ 137453 h 696197"/>
                  <a:gd name="connsiteX10" fmla="*/ 239974 w 840478"/>
                  <a:gd name="connsiteY10" fmla="*/ 259678 h 696197"/>
                  <a:gd name="connsiteX11" fmla="*/ 181126 w 840478"/>
                  <a:gd name="connsiteY11" fmla="*/ 402314 h 696197"/>
                  <a:gd name="connsiteX12" fmla="*/ 0 w 840478"/>
                  <a:gd name="connsiteY12" fmla="*/ 387934 h 696197"/>
                  <a:gd name="connsiteX13" fmla="*/ 103853 w 840478"/>
                  <a:gd name="connsiteY13" fmla="*/ 137453 h 696197"/>
                  <a:gd name="connsiteX14" fmla="*/ 728928 w 840478"/>
                  <a:gd name="connsiteY14" fmla="*/ 131050 h 696197"/>
                  <a:gd name="connsiteX15" fmla="*/ 832604 w 840478"/>
                  <a:gd name="connsiteY15" fmla="*/ 352828 h 696197"/>
                  <a:gd name="connsiteX16" fmla="*/ 840478 w 840478"/>
                  <a:gd name="connsiteY16" fmla="*/ 355569 h 696197"/>
                  <a:gd name="connsiteX17" fmla="*/ 648375 w 840478"/>
                  <a:gd name="connsiteY17" fmla="*/ 355570 h 696197"/>
                  <a:gd name="connsiteX18" fmla="*/ 626345 w 840478"/>
                  <a:gd name="connsiteY18" fmla="*/ 302013 h 696197"/>
                  <a:gd name="connsiteX19" fmla="*/ 593481 w 840478"/>
                  <a:gd name="connsiteY19" fmla="*/ 252648 h 696197"/>
                  <a:gd name="connsiteX20" fmla="*/ 728928 w 840478"/>
                  <a:gd name="connsiteY20" fmla="*/ 131050 h 696197"/>
                  <a:gd name="connsiteX21" fmla="*/ 444265 w 840478"/>
                  <a:gd name="connsiteY21" fmla="*/ 0 h 696197"/>
                  <a:gd name="connsiteX22" fmla="*/ 698238 w 840478"/>
                  <a:gd name="connsiteY22" fmla="*/ 100362 h 696197"/>
                  <a:gd name="connsiteX23" fmla="*/ 576013 w 840478"/>
                  <a:gd name="connsiteY23" fmla="*/ 236484 h 696197"/>
                  <a:gd name="connsiteX24" fmla="*/ 433377 w 840478"/>
                  <a:gd name="connsiteY24" fmla="*/ 177635 h 696197"/>
                  <a:gd name="connsiteX25" fmla="*/ 444265 w 840478"/>
                  <a:gd name="connsiteY25" fmla="*/ 0 h 696197"/>
                  <a:gd name="connsiteX26" fmla="*/ 394916 w 840478"/>
                  <a:gd name="connsiteY26" fmla="*/ 0 h 696197"/>
                  <a:gd name="connsiteX27" fmla="*/ 403015 w 840478"/>
                  <a:gd name="connsiteY27" fmla="*/ 180424 h 696197"/>
                  <a:gd name="connsiteX28" fmla="*/ 264619 w 840478"/>
                  <a:gd name="connsiteY28" fmla="*/ 235033 h 696197"/>
                  <a:gd name="connsiteX29" fmla="*/ 142339 w 840478"/>
                  <a:gd name="connsiteY29" fmla="*/ 98967 h 696197"/>
                  <a:gd name="connsiteX30" fmla="*/ 394916 w 840478"/>
                  <a:gd name="connsiteY30" fmla="*/ 0 h 696197"/>
                  <a:gd name="connsiteX0" fmla="*/ 177091 w 840478"/>
                  <a:gd name="connsiteY0" fmla="*/ 432772 h 696197"/>
                  <a:gd name="connsiteX1" fmla="*/ 184026 w 840478"/>
                  <a:gd name="connsiteY1" fmla="*/ 432784 h 696197"/>
                  <a:gd name="connsiteX2" fmla="*/ 243229 w 840478"/>
                  <a:gd name="connsiteY2" fmla="*/ 575066 h 696197"/>
                  <a:gd name="connsiteX3" fmla="*/ 108203 w 840478"/>
                  <a:gd name="connsiteY3" fmla="*/ 696197 h 696197"/>
                  <a:gd name="connsiteX4" fmla="*/ 3729 w 840478"/>
                  <a:gd name="connsiteY4" fmla="*/ 446336 h 696197"/>
                  <a:gd name="connsiteX5" fmla="*/ 177091 w 840478"/>
                  <a:gd name="connsiteY5" fmla="*/ 432772 h 696197"/>
                  <a:gd name="connsiteX6" fmla="*/ 103853 w 840478"/>
                  <a:gd name="connsiteY6" fmla="*/ 137453 h 696197"/>
                  <a:gd name="connsiteX7" fmla="*/ 239974 w 840478"/>
                  <a:gd name="connsiteY7" fmla="*/ 259678 h 696197"/>
                  <a:gd name="connsiteX8" fmla="*/ 181126 w 840478"/>
                  <a:gd name="connsiteY8" fmla="*/ 402314 h 696197"/>
                  <a:gd name="connsiteX9" fmla="*/ 0 w 840478"/>
                  <a:gd name="connsiteY9" fmla="*/ 387934 h 696197"/>
                  <a:gd name="connsiteX10" fmla="*/ 103853 w 840478"/>
                  <a:gd name="connsiteY10" fmla="*/ 137453 h 696197"/>
                  <a:gd name="connsiteX11" fmla="*/ 728928 w 840478"/>
                  <a:gd name="connsiteY11" fmla="*/ 131050 h 696197"/>
                  <a:gd name="connsiteX12" fmla="*/ 832604 w 840478"/>
                  <a:gd name="connsiteY12" fmla="*/ 352828 h 696197"/>
                  <a:gd name="connsiteX13" fmla="*/ 840478 w 840478"/>
                  <a:gd name="connsiteY13" fmla="*/ 355569 h 696197"/>
                  <a:gd name="connsiteX14" fmla="*/ 648375 w 840478"/>
                  <a:gd name="connsiteY14" fmla="*/ 355570 h 696197"/>
                  <a:gd name="connsiteX15" fmla="*/ 626345 w 840478"/>
                  <a:gd name="connsiteY15" fmla="*/ 302013 h 696197"/>
                  <a:gd name="connsiteX16" fmla="*/ 593481 w 840478"/>
                  <a:gd name="connsiteY16" fmla="*/ 252648 h 696197"/>
                  <a:gd name="connsiteX17" fmla="*/ 728928 w 840478"/>
                  <a:gd name="connsiteY17" fmla="*/ 131050 h 696197"/>
                  <a:gd name="connsiteX18" fmla="*/ 444265 w 840478"/>
                  <a:gd name="connsiteY18" fmla="*/ 0 h 696197"/>
                  <a:gd name="connsiteX19" fmla="*/ 698238 w 840478"/>
                  <a:gd name="connsiteY19" fmla="*/ 100362 h 696197"/>
                  <a:gd name="connsiteX20" fmla="*/ 576013 w 840478"/>
                  <a:gd name="connsiteY20" fmla="*/ 236484 h 696197"/>
                  <a:gd name="connsiteX21" fmla="*/ 433377 w 840478"/>
                  <a:gd name="connsiteY21" fmla="*/ 177635 h 696197"/>
                  <a:gd name="connsiteX22" fmla="*/ 444265 w 840478"/>
                  <a:gd name="connsiteY22" fmla="*/ 0 h 696197"/>
                  <a:gd name="connsiteX23" fmla="*/ 394916 w 840478"/>
                  <a:gd name="connsiteY23" fmla="*/ 0 h 696197"/>
                  <a:gd name="connsiteX24" fmla="*/ 403015 w 840478"/>
                  <a:gd name="connsiteY24" fmla="*/ 180424 h 696197"/>
                  <a:gd name="connsiteX25" fmla="*/ 264619 w 840478"/>
                  <a:gd name="connsiteY25" fmla="*/ 235033 h 696197"/>
                  <a:gd name="connsiteX26" fmla="*/ 142339 w 840478"/>
                  <a:gd name="connsiteY26" fmla="*/ 98967 h 696197"/>
                  <a:gd name="connsiteX27" fmla="*/ 394916 w 840478"/>
                  <a:gd name="connsiteY27" fmla="*/ 0 h 69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40478" h="696197">
                    <a:moveTo>
                      <a:pt x="177091" y="432772"/>
                    </a:moveTo>
                    <a:lnTo>
                      <a:pt x="184026" y="432784"/>
                    </a:lnTo>
                    <a:cubicBezTo>
                      <a:pt x="187586" y="484806"/>
                      <a:pt x="208478" y="533392"/>
                      <a:pt x="243229" y="575066"/>
                    </a:cubicBezTo>
                    <a:lnTo>
                      <a:pt x="108203" y="696197"/>
                    </a:lnTo>
                    <a:cubicBezTo>
                      <a:pt x="45660" y="626732"/>
                      <a:pt x="7362" y="539971"/>
                      <a:pt x="3729" y="446336"/>
                    </a:cubicBezTo>
                    <a:lnTo>
                      <a:pt x="177091" y="432772"/>
                    </a:lnTo>
                    <a:close/>
                    <a:moveTo>
                      <a:pt x="103853" y="137453"/>
                    </a:moveTo>
                    <a:lnTo>
                      <a:pt x="239974" y="259678"/>
                    </a:lnTo>
                    <a:cubicBezTo>
                      <a:pt x="208726" y="297907"/>
                      <a:pt x="184479" y="350085"/>
                      <a:pt x="181126" y="402314"/>
                    </a:cubicBezTo>
                    <a:lnTo>
                      <a:pt x="0" y="387934"/>
                    </a:lnTo>
                    <a:cubicBezTo>
                      <a:pt x="6741" y="297407"/>
                      <a:pt x="41340" y="206947"/>
                      <a:pt x="103853" y="137453"/>
                    </a:cubicBezTo>
                    <a:close/>
                    <a:moveTo>
                      <a:pt x="728928" y="131050"/>
                    </a:moveTo>
                    <a:cubicBezTo>
                      <a:pt x="784313" y="193382"/>
                      <a:pt x="822330" y="273083"/>
                      <a:pt x="832604" y="352828"/>
                    </a:cubicBezTo>
                    <a:lnTo>
                      <a:pt x="840478" y="355569"/>
                    </a:lnTo>
                    <a:lnTo>
                      <a:pt x="648375" y="355570"/>
                    </a:lnTo>
                    <a:lnTo>
                      <a:pt x="626345" y="302013"/>
                    </a:lnTo>
                    <a:cubicBezTo>
                      <a:pt x="616837" y="284689"/>
                      <a:pt x="605593" y="268234"/>
                      <a:pt x="593481" y="252648"/>
                    </a:cubicBezTo>
                    <a:lnTo>
                      <a:pt x="728928" y="131050"/>
                    </a:lnTo>
                    <a:close/>
                    <a:moveTo>
                      <a:pt x="444265" y="0"/>
                    </a:moveTo>
                    <a:cubicBezTo>
                      <a:pt x="538285" y="3250"/>
                      <a:pt x="625253" y="41341"/>
                      <a:pt x="698238" y="100362"/>
                    </a:cubicBezTo>
                    <a:lnTo>
                      <a:pt x="576013" y="236484"/>
                    </a:lnTo>
                    <a:cubicBezTo>
                      <a:pt x="537783" y="205236"/>
                      <a:pt x="485606" y="180988"/>
                      <a:pt x="433377" y="177635"/>
                    </a:cubicBezTo>
                    <a:lnTo>
                      <a:pt x="444265" y="0"/>
                    </a:lnTo>
                    <a:close/>
                    <a:moveTo>
                      <a:pt x="394916" y="0"/>
                    </a:moveTo>
                    <a:lnTo>
                      <a:pt x="403015" y="180424"/>
                    </a:lnTo>
                    <a:cubicBezTo>
                      <a:pt x="351004" y="183558"/>
                      <a:pt x="302575" y="204059"/>
                      <a:pt x="264619" y="235033"/>
                    </a:cubicBezTo>
                    <a:lnTo>
                      <a:pt x="142339" y="98967"/>
                    </a:lnTo>
                    <a:cubicBezTo>
                      <a:pt x="214804" y="40465"/>
                      <a:pt x="301280" y="2866"/>
                      <a:pt x="394916" y="0"/>
                    </a:cubicBez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spTree>
    <p:extLst>
      <p:ext uri="{BB962C8B-B14F-4D97-AF65-F5344CB8AC3E}">
        <p14:creationId xmlns:p14="http://schemas.microsoft.com/office/powerpoint/2010/main" val="2952318070"/>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16="http://schemas.microsoft.com/office/drawing/2014/main" xmlns:asvg="http://schemas.microsoft.com/office/drawing/2016/SVG/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6053C-09A2-4B36-AA1C-35DB8737F257}"/>
              </a:ext>
            </a:extLst>
          </p:cNvPr>
          <p:cNvSpPr>
            <a:spLocks noGrp="1"/>
          </p:cNvSpPr>
          <p:nvPr>
            <p:ph type="title"/>
          </p:nvPr>
        </p:nvSpPr>
        <p:spPr>
          <a:xfrm>
            <a:off x="274638" y="295274"/>
            <a:ext cx="12310145" cy="917575"/>
          </a:xfrm>
        </p:spPr>
        <p:txBody>
          <a:bodyPr/>
          <a:lstStyle/>
          <a:p>
            <a:r>
              <a:rPr lang="en-US" dirty="0"/>
              <a:t>SQL Server Machine Learning Services</a:t>
            </a:r>
            <a:br>
              <a:rPr lang="en-US" dirty="0"/>
            </a:br>
            <a:endParaRPr lang="en-US" dirty="0"/>
          </a:p>
        </p:txBody>
      </p:sp>
      <p:sp>
        <p:nvSpPr>
          <p:cNvPr id="3" name="Text Placeholder 2">
            <a:extLst>
              <a:ext uri="{FF2B5EF4-FFF2-40B4-BE49-F238E27FC236}">
                <a16:creationId xmlns:a16="http://schemas.microsoft.com/office/drawing/2014/main" id="{925F079F-94E3-4673-A74A-01523F31A3C7}"/>
              </a:ext>
            </a:extLst>
          </p:cNvPr>
          <p:cNvSpPr>
            <a:spLocks noGrp="1"/>
          </p:cNvSpPr>
          <p:nvPr>
            <p:ph type="body" sz="quarter" idx="10"/>
          </p:nvPr>
        </p:nvSpPr>
        <p:spPr>
          <a:xfrm>
            <a:off x="274638" y="1539440"/>
            <a:ext cx="11888787" cy="4407360"/>
          </a:xfrm>
        </p:spPr>
        <p:txBody>
          <a:bodyPr vert="horz" wrap="square" lIns="146304" tIns="91440" rIns="146304" bIns="91440" rtlCol="0" anchor="t">
            <a:spAutoFit/>
          </a:bodyPr>
          <a:lstStyle/>
          <a:p>
            <a:r>
              <a:rPr lang="en-US" dirty="0"/>
              <a:t>R/Python Integration Design</a:t>
            </a:r>
          </a:p>
          <a:p>
            <a:pPr lvl="1"/>
            <a:r>
              <a:rPr lang="en-US" dirty="0"/>
              <a:t>Invokes runtime outside of SQL Server process</a:t>
            </a:r>
          </a:p>
          <a:p>
            <a:pPr lvl="1"/>
            <a:r>
              <a:rPr lang="en-US" dirty="0"/>
              <a:t>Batch-oriented operations</a:t>
            </a:r>
          </a:p>
          <a:p>
            <a:r>
              <a:rPr lang="en-US" dirty="0"/>
              <a:t>SQL Compute context</a:t>
            </a:r>
          </a:p>
          <a:p>
            <a:r>
              <a:rPr lang="en-US" dirty="0"/>
              <a:t>Features in </a:t>
            </a:r>
            <a:r>
              <a:rPr lang="en-US" dirty="0" err="1"/>
              <a:t>sp_execute_external_script</a:t>
            </a:r>
            <a:endParaRPr lang="en-US" dirty="0"/>
          </a:p>
          <a:p>
            <a:pPr lvl="1"/>
            <a:r>
              <a:rPr lang="en-US" dirty="0"/>
              <a:t>Streaming data from SQL</a:t>
            </a:r>
          </a:p>
          <a:p>
            <a:pPr lvl="1"/>
            <a:r>
              <a:rPr lang="en-US" dirty="0"/>
              <a:t>Parallel execution of SQL query &amp; R/Python scripts</a:t>
            </a:r>
            <a:endParaRPr lang="en-US" dirty="0">
              <a:solidFill>
                <a:schemeClr val="tx1"/>
              </a:solidFill>
            </a:endParaRPr>
          </a:p>
          <a:p>
            <a:r>
              <a:rPr lang="en-US" dirty="0"/>
              <a:t>Native scoring </a:t>
            </a:r>
            <a:r>
              <a:rPr lang="en-US" sz="2800" b="1" baseline="30000" dirty="0">
                <a:solidFill>
                  <a:schemeClr val="accent3"/>
                </a:solidFill>
              </a:rPr>
              <a:t>New in 2017!</a:t>
            </a:r>
            <a:endParaRPr lang="en-US" dirty="0"/>
          </a:p>
        </p:txBody>
      </p:sp>
      <p:pic>
        <p:nvPicPr>
          <p:cNvPr id="5" name="Graphic 4" descr="Tools">
            <a:extLst>
              <a:ext uri="{FF2B5EF4-FFF2-40B4-BE49-F238E27FC236}">
                <a16:creationId xmlns:a16="http://schemas.microsoft.com/office/drawing/2014/main" id="{0AEBD896-ADAC-4AA5-ACAB-4ACF723B9C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86078" y="4475746"/>
            <a:ext cx="2004773" cy="2004773"/>
          </a:xfrm>
          <a:prstGeom prst="rect">
            <a:avLst/>
          </a:prstGeom>
        </p:spPr>
      </p:pic>
    </p:spTree>
    <p:extLst>
      <p:ext uri="{BB962C8B-B14F-4D97-AF65-F5344CB8AC3E}">
        <p14:creationId xmlns:p14="http://schemas.microsoft.com/office/powerpoint/2010/main" val="1118343800"/>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5.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08D05-DCD9-4C42-A580-8FDFC86D6D1B}"/>
              </a:ext>
            </a:extLst>
          </p:cNvPr>
          <p:cNvSpPr>
            <a:spLocks noGrp="1"/>
          </p:cNvSpPr>
          <p:nvPr>
            <p:ph type="title"/>
          </p:nvPr>
        </p:nvSpPr>
        <p:spPr/>
        <p:txBody>
          <a:bodyPr/>
          <a:lstStyle/>
          <a:p>
            <a:r>
              <a:rPr lang="en-US" dirty="0"/>
              <a:t>Key performance considerations</a:t>
            </a:r>
          </a:p>
        </p:txBody>
      </p:sp>
      <p:sp>
        <p:nvSpPr>
          <p:cNvPr id="3" name="Text Placeholder 2">
            <a:extLst>
              <a:ext uri="{FF2B5EF4-FFF2-40B4-BE49-F238E27FC236}">
                <a16:creationId xmlns:a16="http://schemas.microsoft.com/office/drawing/2014/main" id="{4C86DD2F-9C3C-4E88-9E3A-181A946B2271}"/>
              </a:ext>
            </a:extLst>
          </p:cNvPr>
          <p:cNvSpPr>
            <a:spLocks noGrp="1"/>
          </p:cNvSpPr>
          <p:nvPr>
            <p:ph type="body" sz="quarter" idx="10"/>
          </p:nvPr>
        </p:nvSpPr>
        <p:spPr>
          <a:xfrm>
            <a:off x="274702" y="1211287"/>
            <a:ext cx="11888787" cy="5321457"/>
          </a:xfrm>
        </p:spPr>
        <p:txBody>
          <a:bodyPr/>
          <a:lstStyle/>
          <a:p>
            <a:r>
              <a:rPr lang="en-US" dirty="0"/>
              <a:t>How long does it take for </a:t>
            </a:r>
            <a:r>
              <a:rPr lang="en-US" u="sng" dirty="0"/>
              <a:t>data movement</a:t>
            </a:r>
            <a:r>
              <a:rPr lang="en-US" dirty="0"/>
              <a:t>?</a:t>
            </a:r>
          </a:p>
          <a:p>
            <a:pPr marL="457200" lvl="2" indent="0">
              <a:buNone/>
            </a:pPr>
            <a:r>
              <a:rPr lang="en-US" dirty="0"/>
              <a:t>Use </a:t>
            </a:r>
            <a:r>
              <a:rPr lang="en-US" dirty="0" err="1"/>
              <a:t>XEvents</a:t>
            </a:r>
            <a:r>
              <a:rPr lang="en-US" dirty="0"/>
              <a:t> or exec </a:t>
            </a:r>
            <a:r>
              <a:rPr lang="en-US" dirty="0" err="1"/>
              <a:t>sp_execute_external_script</a:t>
            </a:r>
            <a:endParaRPr lang="en-US" dirty="0"/>
          </a:p>
          <a:p>
            <a:pPr marL="457200" lvl="2" indent="0">
              <a:buNone/>
            </a:pPr>
            <a:r>
              <a:rPr lang="en-US" dirty="0"/>
              <a:t>			@language = N’R’, @script = N‘’, @input_data_1 = &lt;</a:t>
            </a:r>
            <a:r>
              <a:rPr lang="en-US" dirty="0" err="1"/>
              <a:t>sql_query</a:t>
            </a:r>
            <a:r>
              <a:rPr lang="en-US" dirty="0"/>
              <a:t>&gt;</a:t>
            </a:r>
          </a:p>
          <a:p>
            <a:endParaRPr lang="en-US" sz="2000" dirty="0"/>
          </a:p>
          <a:p>
            <a:r>
              <a:rPr lang="en-US" dirty="0"/>
              <a:t>How can you separate </a:t>
            </a:r>
            <a:r>
              <a:rPr lang="en-US" u="sng" dirty="0"/>
              <a:t>CPU</a:t>
            </a:r>
            <a:r>
              <a:rPr lang="en-US" dirty="0"/>
              <a:t> usage of SQL &amp; R/Python?</a:t>
            </a:r>
          </a:p>
          <a:p>
            <a:pPr lvl="1"/>
            <a:r>
              <a:rPr lang="en-US" dirty="0"/>
              <a:t>Use EXTERNAL RESOURCE POOL for CPU affinity</a:t>
            </a:r>
          </a:p>
          <a:p>
            <a:endParaRPr lang="en-US" sz="2400" dirty="0"/>
          </a:p>
          <a:p>
            <a:r>
              <a:rPr lang="en-US" dirty="0"/>
              <a:t>How can you allocate more </a:t>
            </a:r>
            <a:r>
              <a:rPr lang="en-US" u="sng" dirty="0"/>
              <a:t>memory</a:t>
            </a:r>
            <a:r>
              <a:rPr lang="en-US" dirty="0"/>
              <a:t> to R/Python?</a:t>
            </a:r>
          </a:p>
          <a:p>
            <a:pPr lvl="1"/>
            <a:r>
              <a:rPr lang="en-US" dirty="0"/>
              <a:t>Default is 20%</a:t>
            </a:r>
          </a:p>
          <a:p>
            <a:pPr lvl="1"/>
            <a:r>
              <a:rPr lang="en-US" dirty="0"/>
              <a:t>Use EXTERNAL RESOURCE POOL to adjust memory limit</a:t>
            </a:r>
          </a:p>
          <a:p>
            <a:pPr lvl="1"/>
            <a:r>
              <a:rPr lang="en-US" dirty="0"/>
              <a:t>Use ‘max server memory’ </a:t>
            </a:r>
            <a:r>
              <a:rPr lang="en-US" dirty="0" err="1"/>
              <a:t>sp_configure</a:t>
            </a:r>
            <a:r>
              <a:rPr lang="en-US" dirty="0"/>
              <a:t> option to reduce SQL footprint</a:t>
            </a:r>
          </a:p>
        </p:txBody>
      </p:sp>
    </p:spTree>
    <p:extLst>
      <p:ext uri="{BB962C8B-B14F-4D97-AF65-F5344CB8AC3E}">
        <p14:creationId xmlns:p14="http://schemas.microsoft.com/office/powerpoint/2010/main" val="3323595265"/>
      </p:ext>
    </p:extLst>
  </p:cSld>
  <p:clrMapOvr>
    <a:masterClrMapping/>
  </p:clrMapOvr>
  <p:transition>
    <p:fade/>
  </p:transition>
</p:sld>
</file>

<file path=ppt/slides/slide6.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0AFA71-0870-4139-911A-5606E4E414AF}"/>
              </a:ext>
            </a:extLst>
          </p:cNvPr>
          <p:cNvSpPr>
            <a:spLocks noGrp="1"/>
          </p:cNvSpPr>
          <p:nvPr>
            <p:ph type="title"/>
          </p:nvPr>
        </p:nvSpPr>
        <p:spPr/>
        <p:txBody>
          <a:bodyPr/>
          <a:lstStyle/>
          <a:p>
            <a:r>
              <a:rPr lang="en-US" dirty="0"/>
              <a:t>SQL Compute Context</a:t>
            </a:r>
          </a:p>
        </p:txBody>
      </p:sp>
    </p:spTree>
    <p:extLst>
      <p:ext uri="{BB962C8B-B14F-4D97-AF65-F5344CB8AC3E}">
        <p14:creationId xmlns:p14="http://schemas.microsoft.com/office/powerpoint/2010/main" val="1525902697"/>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7.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56507" y="497675"/>
            <a:ext cx="11967115" cy="446205"/>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endParaRPr kumimoji="0" lang="en-US" sz="408" b="1" i="0" u="none" strike="noStrike" kern="1200" cap="none" spc="0" normalizeH="0" baseline="0" noProof="0">
              <a:ln>
                <a:noFill/>
              </a:ln>
              <a:solidFill>
                <a:srgbClr val="FFFFFF"/>
              </a:solidFill>
              <a:effectLst/>
              <a:uLnTx/>
              <a:uFillTx/>
              <a:latin typeface="Segoe UI"/>
              <a:ea typeface="+mn-ea"/>
              <a:cs typeface="+mn-cs"/>
            </a:endParaRPr>
          </a:p>
          <a:p>
            <a:pPr marL="0" marR="0" lvl="0" indent="0" algn="l"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a:ea typeface="+mn-ea"/>
              <a:cs typeface="+mn-cs"/>
            </a:endParaRPr>
          </a:p>
        </p:txBody>
      </p:sp>
      <p:grpSp>
        <p:nvGrpSpPr>
          <p:cNvPr id="14" name="Group 13">
            <a:extLst>
              <a:ext uri="{FF2B5EF4-FFF2-40B4-BE49-F238E27FC236}">
                <a16:creationId xmlns:a16="http://schemas.microsoft.com/office/drawing/2014/main" id="{7369C095-76F4-40C7-9AB1-B1CE97172CF9}"/>
              </a:ext>
            </a:extLst>
          </p:cNvPr>
          <p:cNvGrpSpPr/>
          <p:nvPr/>
        </p:nvGrpSpPr>
        <p:grpSpPr>
          <a:xfrm>
            <a:off x="980033" y="1985843"/>
            <a:ext cx="2990347" cy="3916014"/>
            <a:chOff x="980033" y="1985843"/>
            <a:chExt cx="2990347" cy="3916014"/>
          </a:xfrm>
        </p:grpSpPr>
        <p:sp>
          <p:nvSpPr>
            <p:cNvPr id="5" name="Rectangle 4"/>
            <p:cNvSpPr/>
            <p:nvPr/>
          </p:nvSpPr>
          <p:spPr>
            <a:xfrm>
              <a:off x="980033" y="1985843"/>
              <a:ext cx="2990347" cy="3916014"/>
            </a:xfrm>
            <a:prstGeom prst="rect">
              <a:avLst/>
            </a:prstGeom>
            <a:solidFill>
              <a:schemeClr val="accent1">
                <a:alpha val="13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a:ln>
                    <a:noFill/>
                  </a:ln>
                  <a:solidFill>
                    <a:srgbClr val="FFFFFF"/>
                  </a:solidFill>
                  <a:effectLst/>
                  <a:uLnTx/>
                  <a:uFillTx/>
                  <a:latin typeface="Segoe UI"/>
                  <a:ea typeface="+mn-ea"/>
                  <a:cs typeface="+mn-cs"/>
                </a:rPr>
                <a:t>		</a:t>
              </a:r>
            </a:p>
          </p:txBody>
        </p:sp>
        <p:pic>
          <p:nvPicPr>
            <p:cNvPr id="8" name="Picture 7"/>
            <p:cNvPicPr>
              <a:picLocks noChangeAspect="1"/>
            </p:cNvPicPr>
            <p:nvPr/>
          </p:nvPicPr>
          <p:blipFill>
            <a:blip r:embed="rId3"/>
            <a:stretch>
              <a:fillRect/>
            </a:stretch>
          </p:blipFill>
          <p:spPr>
            <a:xfrm>
              <a:off x="1887822" y="2695877"/>
              <a:ext cx="1133930" cy="841303"/>
            </a:xfrm>
            <a:prstGeom prst="rect">
              <a:avLst/>
            </a:prstGeom>
          </p:spPr>
        </p:pic>
        <p:sp>
          <p:nvSpPr>
            <p:cNvPr id="11" name="Rectangle 10"/>
            <p:cNvSpPr/>
            <p:nvPr/>
          </p:nvSpPr>
          <p:spPr>
            <a:xfrm>
              <a:off x="1493849" y="4397023"/>
              <a:ext cx="1798913" cy="517131"/>
            </a:xfrm>
            <a:prstGeom prst="rect">
              <a:avLst/>
            </a:prstGeom>
            <a:solidFill>
              <a:srgbClr val="FFC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632" b="0" i="0" u="none" strike="noStrike" kern="1200" cap="none" spc="0" normalizeH="0" baseline="0" noProof="0">
                  <a:ln>
                    <a:noFill/>
                  </a:ln>
                  <a:solidFill>
                    <a:srgbClr val="505050">
                      <a:lumMod val="50000"/>
                    </a:srgbClr>
                  </a:solidFill>
                  <a:effectLst/>
                  <a:uLnTx/>
                  <a:uFillTx/>
                  <a:latin typeface="Segoe UI"/>
                  <a:ea typeface="+mn-ea"/>
                  <a:cs typeface="+mn-cs"/>
                </a:rPr>
                <a:t>Any R/Python IDE</a:t>
              </a:r>
            </a:p>
          </p:txBody>
        </p:sp>
        <p:sp>
          <p:nvSpPr>
            <p:cNvPr id="12" name="TextBox 11"/>
            <p:cNvSpPr txBox="1"/>
            <p:nvPr/>
          </p:nvSpPr>
          <p:spPr>
            <a:xfrm>
              <a:off x="1018894" y="3555505"/>
              <a:ext cx="2918815" cy="776691"/>
            </a:xfrm>
            <a:prstGeom prst="rect">
              <a:avLst/>
            </a:prstGeom>
            <a:noFill/>
          </p:spPr>
          <p:txBody>
            <a:bodyPr wrap="square" rtlCol="0">
              <a:spAutoFit/>
            </a:bodyP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2173" b="0" i="0" u="none" strike="noStrike" kern="1200" cap="none" spc="0" normalizeH="0" baseline="0" noProof="0" dirty="0">
                  <a:ln>
                    <a:noFill/>
                  </a:ln>
                  <a:solidFill>
                    <a:srgbClr val="FFFFFF">
                      <a:lumMod val="95000"/>
                    </a:srgbClr>
                  </a:solidFill>
                  <a:effectLst/>
                  <a:uLnTx/>
                  <a:uFillTx/>
                  <a:latin typeface="Segoe UI"/>
                  <a:ea typeface="+mn-ea"/>
                  <a:cs typeface="+mn-cs"/>
                </a:rPr>
                <a:t>Data Scientist Workstation</a:t>
              </a:r>
            </a:p>
          </p:txBody>
        </p:sp>
      </p:grpSp>
      <p:sp>
        <p:nvSpPr>
          <p:cNvPr id="34" name="Title 1"/>
          <p:cNvSpPr>
            <a:spLocks noGrp="1"/>
          </p:cNvSpPr>
          <p:nvPr>
            <p:ph type="title"/>
          </p:nvPr>
        </p:nvSpPr>
        <p:spPr>
          <a:xfrm>
            <a:off x="624205" y="281018"/>
            <a:ext cx="11649409" cy="794997"/>
          </a:xfrm>
        </p:spPr>
        <p:txBody>
          <a:bodyPr/>
          <a:lstStyle/>
          <a:p>
            <a:r>
              <a:rPr lang="en-US" sz="3599" dirty="0"/>
              <a:t>Typical Machine Learning workflow against database</a:t>
            </a:r>
          </a:p>
        </p:txBody>
      </p:sp>
      <p:grpSp>
        <p:nvGrpSpPr>
          <p:cNvPr id="18" name="Group 17">
            <a:extLst>
              <a:ext uri="{FF2B5EF4-FFF2-40B4-BE49-F238E27FC236}">
                <a16:creationId xmlns:a16="http://schemas.microsoft.com/office/drawing/2014/main" id="{24C3DEB4-0594-4F0A-9259-D9CE5B799E0D}"/>
              </a:ext>
            </a:extLst>
          </p:cNvPr>
          <p:cNvGrpSpPr/>
          <p:nvPr/>
        </p:nvGrpSpPr>
        <p:grpSpPr>
          <a:xfrm>
            <a:off x="7740187" y="2162689"/>
            <a:ext cx="2990347" cy="3783714"/>
            <a:chOff x="7740187" y="2162689"/>
            <a:chExt cx="2990347" cy="3783714"/>
          </a:xfrm>
        </p:grpSpPr>
        <p:sp>
          <p:nvSpPr>
            <p:cNvPr id="29" name="Rectangle 28">
              <a:extLst>
                <a:ext uri="{FF2B5EF4-FFF2-40B4-BE49-F238E27FC236}">
                  <a16:creationId xmlns:a16="http://schemas.microsoft.com/office/drawing/2014/main" id="{5428DDF8-FE9C-4D56-ADAA-A0A10D8EC161}"/>
                </a:ext>
              </a:extLst>
            </p:cNvPr>
            <p:cNvSpPr/>
            <p:nvPr/>
          </p:nvSpPr>
          <p:spPr>
            <a:xfrm>
              <a:off x="7740187" y="2162689"/>
              <a:ext cx="2990347" cy="3783714"/>
            </a:xfrm>
            <a:prstGeom prst="rect">
              <a:avLst/>
            </a:prstGeom>
            <a:solidFill>
              <a:schemeClr val="accent1">
                <a:alpha val="13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a:ln>
                    <a:noFill/>
                  </a:ln>
                  <a:solidFill>
                    <a:srgbClr val="505050"/>
                  </a:solidFill>
                  <a:effectLst/>
                  <a:uLnTx/>
                  <a:uFillTx/>
                  <a:latin typeface="Segoe UI"/>
                  <a:ea typeface="+mn-ea"/>
                  <a:cs typeface="+mn-cs"/>
                </a:rPr>
                <a:t>		</a:t>
              </a:r>
            </a:p>
          </p:txBody>
        </p:sp>
        <p:sp>
          <p:nvSpPr>
            <p:cNvPr id="41" name="Flowchart: Magnetic Disk 40">
              <a:extLst>
                <a:ext uri="{FF2B5EF4-FFF2-40B4-BE49-F238E27FC236}">
                  <a16:creationId xmlns:a16="http://schemas.microsoft.com/office/drawing/2014/main" id="{F0A309C7-6A8C-42CF-BB4F-E8EA603E08D2}"/>
                </a:ext>
              </a:extLst>
            </p:cNvPr>
            <p:cNvSpPr/>
            <p:nvPr/>
          </p:nvSpPr>
          <p:spPr bwMode="auto">
            <a:xfrm>
              <a:off x="8356221" y="2590013"/>
              <a:ext cx="1716614" cy="2565408"/>
            </a:xfrm>
            <a:prstGeom prst="flowChartMagneticDisk">
              <a:avLst/>
            </a:prstGeom>
            <a:ln>
              <a:headEnd type="none" w="med" len="med"/>
              <a:tailEnd type="none" w="med" len="med"/>
            </a:ln>
          </p:spPr>
          <p:style>
            <a:lnRef idx="1">
              <a:schemeClr val="accent1"/>
            </a:lnRef>
            <a:fillRef idx="1002">
              <a:schemeClr val="dk2"/>
            </a:fillRef>
            <a:effectRef idx="1">
              <a:schemeClr val="accent1"/>
            </a:effectRef>
            <a:fontRef idx="minor">
              <a:schemeClr val="dk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3" name="TextBox 32">
              <a:extLst>
                <a:ext uri="{FF2B5EF4-FFF2-40B4-BE49-F238E27FC236}">
                  <a16:creationId xmlns:a16="http://schemas.microsoft.com/office/drawing/2014/main" id="{14B27CBA-A005-4403-BE56-7B90333F9B8F}"/>
                </a:ext>
              </a:extLst>
            </p:cNvPr>
            <p:cNvSpPr txBox="1"/>
            <p:nvPr/>
          </p:nvSpPr>
          <p:spPr>
            <a:xfrm>
              <a:off x="8446210" y="3697377"/>
              <a:ext cx="1578299" cy="426720"/>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2173" b="0" i="0" u="none" strike="noStrike" kern="1200" cap="none" spc="0" normalizeH="0" baseline="0" noProof="0" dirty="0">
                  <a:ln>
                    <a:noFill/>
                  </a:ln>
                  <a:solidFill>
                    <a:srgbClr val="FFFFFF">
                      <a:lumMod val="95000"/>
                    </a:srgbClr>
                  </a:solidFill>
                  <a:effectLst/>
                  <a:uLnTx/>
                  <a:uFillTx/>
                  <a:latin typeface="Segoe UI"/>
                  <a:ea typeface="+mn-ea"/>
                  <a:cs typeface="+mn-cs"/>
                </a:rPr>
                <a:t>SQL Server</a:t>
              </a:r>
            </a:p>
          </p:txBody>
        </p:sp>
      </p:grpSp>
      <p:grpSp>
        <p:nvGrpSpPr>
          <p:cNvPr id="10" name="Group 9">
            <a:extLst>
              <a:ext uri="{FF2B5EF4-FFF2-40B4-BE49-F238E27FC236}">
                <a16:creationId xmlns:a16="http://schemas.microsoft.com/office/drawing/2014/main" id="{674FF674-E5E6-4F7D-9A9E-4AE2A7B4DDD6}"/>
              </a:ext>
            </a:extLst>
          </p:cNvPr>
          <p:cNvGrpSpPr/>
          <p:nvPr/>
        </p:nvGrpSpPr>
        <p:grpSpPr>
          <a:xfrm>
            <a:off x="3970379" y="1655700"/>
            <a:ext cx="3737137" cy="2026373"/>
            <a:chOff x="3970379" y="1655700"/>
            <a:chExt cx="3737137" cy="2026373"/>
          </a:xfrm>
        </p:grpSpPr>
        <p:cxnSp>
          <p:nvCxnSpPr>
            <p:cNvPr id="15" name="Straight Arrow Connector 14"/>
            <p:cNvCxnSpPr>
              <a:cxnSpLocks/>
            </p:cNvCxnSpPr>
            <p:nvPr/>
          </p:nvCxnSpPr>
          <p:spPr>
            <a:xfrm flipV="1">
              <a:off x="3970379" y="3672701"/>
              <a:ext cx="3737137" cy="9372"/>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9BF82E73-35A7-4DEA-8815-791457CDA158}"/>
                </a:ext>
              </a:extLst>
            </p:cNvPr>
            <p:cNvGrpSpPr/>
            <p:nvPr/>
          </p:nvGrpSpPr>
          <p:grpSpPr>
            <a:xfrm>
              <a:off x="4192945" y="1655700"/>
              <a:ext cx="3357865" cy="2019018"/>
              <a:chOff x="4192945" y="1655700"/>
              <a:chExt cx="3357865" cy="2019018"/>
            </a:xfrm>
          </p:grpSpPr>
          <p:sp>
            <p:nvSpPr>
              <p:cNvPr id="20" name="Oval 19"/>
              <p:cNvSpPr/>
              <p:nvPr/>
            </p:nvSpPr>
            <p:spPr>
              <a:xfrm>
                <a:off x="4820771" y="3337988"/>
                <a:ext cx="289350" cy="25018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a:ea typeface="+mn-ea"/>
                  <a:cs typeface="+mn-cs"/>
                </a:endParaRPr>
              </a:p>
            </p:txBody>
          </p:sp>
          <p:sp>
            <p:nvSpPr>
              <p:cNvPr id="16" name="TextBox 15"/>
              <p:cNvSpPr txBox="1"/>
              <p:nvPr/>
            </p:nvSpPr>
            <p:spPr>
              <a:xfrm>
                <a:off x="5058043" y="3299872"/>
                <a:ext cx="1297878" cy="37484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lumMod val="95000"/>
                      </a:srgbClr>
                    </a:solidFill>
                    <a:effectLst/>
                    <a:uLnTx/>
                    <a:uFillTx/>
                    <a:latin typeface="Segoe UI"/>
                    <a:ea typeface="+mn-ea"/>
                    <a:cs typeface="+mn-cs"/>
                  </a:rPr>
                  <a:t>Pull Data</a:t>
                </a:r>
              </a:p>
            </p:txBody>
          </p:sp>
          <p:sp>
            <p:nvSpPr>
              <p:cNvPr id="21" name="TextBox 20"/>
              <p:cNvSpPr txBox="1"/>
              <p:nvPr/>
            </p:nvSpPr>
            <p:spPr>
              <a:xfrm>
                <a:off x="4826792" y="3317680"/>
                <a:ext cx="252743" cy="28622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224" b="1" i="0" u="none" strike="noStrike" kern="1200" cap="none" spc="0" normalizeH="0" baseline="0" noProof="0">
                    <a:ln>
                      <a:noFill/>
                    </a:ln>
                    <a:solidFill>
                      <a:srgbClr val="505050"/>
                    </a:solidFill>
                    <a:effectLst/>
                    <a:uLnTx/>
                    <a:uFillTx/>
                    <a:latin typeface="Segoe UI"/>
                    <a:ea typeface="+mn-ea"/>
                    <a:cs typeface="+mn-cs"/>
                  </a:rPr>
                  <a:t>1</a:t>
                </a:r>
              </a:p>
            </p:txBody>
          </p:sp>
          <p:sp>
            <p:nvSpPr>
              <p:cNvPr id="30" name="Rectangle 29">
                <a:extLst>
                  <a:ext uri="{FF2B5EF4-FFF2-40B4-BE49-F238E27FC236}">
                    <a16:creationId xmlns:a16="http://schemas.microsoft.com/office/drawing/2014/main" id="{2307D712-E819-4C73-A8FF-732395E71214}"/>
                  </a:ext>
                </a:extLst>
              </p:cNvPr>
              <p:cNvSpPr/>
              <p:nvPr/>
            </p:nvSpPr>
            <p:spPr>
              <a:xfrm>
                <a:off x="4192945" y="1655700"/>
                <a:ext cx="3357865" cy="1186607"/>
              </a:xfrm>
              <a:prstGeom prst="rect">
                <a:avLst/>
              </a:prstGeom>
            </p:spPr>
            <p:txBody>
              <a:bodyPr wrap="square">
                <a:spAutoFit/>
              </a:bodyPr>
              <a:lstStyle/>
              <a:p>
                <a:pPr marL="0" marR="0" lvl="0" indent="0" algn="l" defTabSz="950938" rtl="0" eaLnBrk="1" fontAlgn="auto" latinLnBrk="0" hangingPunct="1">
                  <a:lnSpc>
                    <a:spcPct val="107000"/>
                  </a:lnSpc>
                  <a:spcBef>
                    <a:spcPts val="0"/>
                  </a:spcBef>
                  <a:spcAft>
                    <a:spcPts val="816"/>
                  </a:spcAft>
                  <a:buClrTx/>
                  <a:buSzTx/>
                  <a:buFontTx/>
                  <a:buNone/>
                  <a:tabLst/>
                  <a:defRPr/>
                </a:pPr>
                <a:r>
                  <a:rPr kumimoji="0" lang="en-US" sz="1800" b="1" i="1" u="none" strike="noStrike" kern="1200" cap="none" spc="0" normalizeH="0" baseline="0" noProof="0" dirty="0">
                    <a:ln>
                      <a:noFill/>
                    </a:ln>
                    <a:solidFill>
                      <a:srgbClr val="FFB900"/>
                    </a:solidFill>
                    <a:effectLst/>
                    <a:uLnTx/>
                    <a:uFillTx/>
                    <a:latin typeface="Segoe UI"/>
                    <a:ea typeface="+mn-ea"/>
                    <a:cs typeface="+mn-cs"/>
                  </a:rPr>
                  <a:t>train &lt;- </a:t>
                </a:r>
                <a:r>
                  <a:rPr kumimoji="0" lang="en-US" sz="1800" b="1" i="1" u="none" strike="noStrike" kern="1200" cap="none" spc="0" normalizeH="0" baseline="0" noProof="0" dirty="0" err="1">
                    <a:ln>
                      <a:noFill/>
                    </a:ln>
                    <a:solidFill>
                      <a:srgbClr val="FFB900"/>
                    </a:solidFill>
                    <a:effectLst/>
                    <a:uLnTx/>
                    <a:uFillTx/>
                    <a:latin typeface="Segoe UI"/>
                    <a:ea typeface="+mn-ea"/>
                    <a:cs typeface="+mn-cs"/>
                  </a:rPr>
                  <a:t>sqlQuery</a:t>
                </a:r>
                <a:r>
                  <a:rPr kumimoji="0" lang="en-US" sz="1800" b="1" i="1" u="none" strike="noStrike" kern="1200" cap="none" spc="0" normalizeH="0" baseline="0" noProof="0" dirty="0">
                    <a:ln>
                      <a:noFill/>
                    </a:ln>
                    <a:solidFill>
                      <a:srgbClr val="FFB900"/>
                    </a:solidFill>
                    <a:effectLst/>
                    <a:uLnTx/>
                    <a:uFillTx/>
                    <a:latin typeface="Segoe UI"/>
                    <a:ea typeface="+mn-ea"/>
                    <a:cs typeface="+mn-cs"/>
                  </a:rPr>
                  <a:t>(connection, </a:t>
                </a:r>
                <a:endParaRPr kumimoji="0" lang="en-US" sz="1800" b="0" i="1" u="none" strike="noStrike" kern="1200" cap="none" spc="0" normalizeH="0" baseline="0" noProof="0" dirty="0">
                  <a:ln>
                    <a:noFill/>
                  </a:ln>
                  <a:solidFill>
                    <a:srgbClr val="FFB900"/>
                  </a:solidFill>
                  <a:effectLst/>
                  <a:uLnTx/>
                  <a:uFillTx/>
                  <a:latin typeface="Segoe UI"/>
                  <a:ea typeface="+mn-ea"/>
                  <a:cs typeface="+mn-cs"/>
                </a:endParaRPr>
              </a:p>
              <a:p>
                <a:pPr marL="0" marR="0" lvl="0" indent="0" algn="l" defTabSz="950938" rtl="0" eaLnBrk="1" fontAlgn="auto" latinLnBrk="0" hangingPunct="1">
                  <a:lnSpc>
                    <a:spcPct val="107000"/>
                  </a:lnSpc>
                  <a:spcBef>
                    <a:spcPts val="0"/>
                  </a:spcBef>
                  <a:spcAft>
                    <a:spcPts val="816"/>
                  </a:spcAft>
                  <a:buClrTx/>
                  <a:buSzTx/>
                  <a:buFontTx/>
                  <a:buNone/>
                  <a:tabLst/>
                  <a:defRPr/>
                </a:pPr>
                <a:r>
                  <a:rPr kumimoji="0" lang="en-US" sz="1800" b="0" i="1" u="none" strike="noStrike" kern="1200" cap="none" spc="0" normalizeH="0" baseline="0" noProof="0" dirty="0">
                    <a:ln>
                      <a:noFill/>
                    </a:ln>
                    <a:solidFill>
                      <a:srgbClr val="FFB900"/>
                    </a:solidFill>
                    <a:effectLst/>
                    <a:uLnTx/>
                    <a:uFillTx/>
                    <a:latin typeface="Segoe UI"/>
                    <a:ea typeface="+mn-ea"/>
                    <a:cs typeface="+mn-cs"/>
                  </a:rPr>
                  <a:t> “select * from </a:t>
                </a:r>
                <a:r>
                  <a:rPr kumimoji="0" lang="en-US" sz="1800" b="0" i="1" u="none" strike="noStrike" kern="1200" cap="none" spc="0" normalizeH="0" baseline="0" noProof="0" dirty="0" err="1">
                    <a:ln>
                      <a:noFill/>
                    </a:ln>
                    <a:solidFill>
                      <a:srgbClr val="FFB900"/>
                    </a:solidFill>
                    <a:effectLst/>
                    <a:uLnTx/>
                    <a:uFillTx/>
                    <a:latin typeface="Segoe UI"/>
                    <a:ea typeface="+mn-ea"/>
                    <a:cs typeface="+mn-cs"/>
                  </a:rPr>
                  <a:t>nyctaxi_sample</a:t>
                </a:r>
                <a:r>
                  <a:rPr kumimoji="0" lang="en-US" sz="1800" b="0" i="1" u="none" strike="noStrike" kern="1200" cap="none" spc="0" normalizeH="0" baseline="0" noProof="0">
                    <a:ln>
                      <a:noFill/>
                    </a:ln>
                    <a:solidFill>
                      <a:srgbClr val="FFB900"/>
                    </a:solidFill>
                    <a:effectLst/>
                    <a:uLnTx/>
                    <a:uFillTx/>
                    <a:latin typeface="Segoe UI"/>
                    <a:ea typeface="+mn-ea"/>
                    <a:cs typeface="+mn-cs"/>
                  </a:rPr>
                  <a:t>”)</a:t>
                </a:r>
                <a:endParaRPr kumimoji="0" lang="en-US" sz="1800" b="0" i="1" u="none" strike="noStrike" kern="1200" cap="none" spc="0" normalizeH="0" baseline="0" noProof="0" dirty="0">
                  <a:ln>
                    <a:noFill/>
                  </a:ln>
                  <a:solidFill>
                    <a:srgbClr val="FFB900"/>
                  </a:solidFill>
                  <a:effectLst/>
                  <a:uLnTx/>
                  <a:uFillTx/>
                  <a:latin typeface="Segoe UI"/>
                  <a:ea typeface="+mn-ea"/>
                  <a:cs typeface="+mn-cs"/>
                </a:endParaRPr>
              </a:p>
              <a:p>
                <a:pPr marL="0" marR="0" lvl="0" indent="0" algn="l" defTabSz="950938" rtl="0" eaLnBrk="1" fontAlgn="auto" latinLnBrk="0" hangingPunct="1">
                  <a:lnSpc>
                    <a:spcPct val="107000"/>
                  </a:lnSpc>
                  <a:spcBef>
                    <a:spcPts val="0"/>
                  </a:spcBef>
                  <a:spcAft>
                    <a:spcPts val="816"/>
                  </a:spcAft>
                  <a:buClrTx/>
                  <a:buSzTx/>
                  <a:buFontTx/>
                  <a:buNone/>
                  <a:tabLst/>
                  <a:defRPr/>
                </a:pPr>
                <a:r>
                  <a:rPr kumimoji="0" lang="en-US" sz="1800" b="0" i="1" u="none" strike="noStrike" kern="1200" cap="none" spc="0" normalizeH="0" baseline="0" noProof="0" dirty="0">
                    <a:ln>
                      <a:noFill/>
                    </a:ln>
                    <a:solidFill>
                      <a:srgbClr val="FFB900"/>
                    </a:solidFill>
                    <a:effectLst/>
                    <a:uLnTx/>
                    <a:uFillTx/>
                    <a:latin typeface="Segoe UI"/>
                    <a:ea typeface="+mn-ea"/>
                    <a:cs typeface="+mn-cs"/>
                  </a:rPr>
                  <a:t>model &lt;- </a:t>
                </a:r>
                <a:r>
                  <a:rPr kumimoji="0" lang="en-US" sz="1800" b="1" i="1" u="none" strike="noStrike" kern="1200" cap="none" spc="0" normalizeH="0" baseline="0" noProof="0" dirty="0" err="1">
                    <a:ln>
                      <a:noFill/>
                    </a:ln>
                    <a:solidFill>
                      <a:srgbClr val="FFB900"/>
                    </a:solidFill>
                    <a:effectLst/>
                    <a:uLnTx/>
                    <a:uFillTx/>
                    <a:latin typeface="Segoe UI"/>
                    <a:ea typeface="+mn-ea"/>
                    <a:cs typeface="+mn-cs"/>
                  </a:rPr>
                  <a:t>glm</a:t>
                </a:r>
                <a:r>
                  <a:rPr kumimoji="0" lang="en-US" sz="1800" b="0" i="1" u="none" strike="noStrike" kern="1200" cap="none" spc="0" normalizeH="0" baseline="0" noProof="0" dirty="0">
                    <a:ln>
                      <a:noFill/>
                    </a:ln>
                    <a:solidFill>
                      <a:srgbClr val="FFB900"/>
                    </a:solidFill>
                    <a:effectLst/>
                    <a:uLnTx/>
                    <a:uFillTx/>
                    <a:latin typeface="Segoe UI"/>
                    <a:ea typeface="+mn-ea"/>
                    <a:cs typeface="+mn-cs"/>
                  </a:rPr>
                  <a:t>(formula, train)</a:t>
                </a:r>
              </a:p>
            </p:txBody>
          </p:sp>
        </p:grpSp>
      </p:grpSp>
      <p:grpSp>
        <p:nvGrpSpPr>
          <p:cNvPr id="13" name="Group 12">
            <a:extLst>
              <a:ext uri="{FF2B5EF4-FFF2-40B4-BE49-F238E27FC236}">
                <a16:creationId xmlns:a16="http://schemas.microsoft.com/office/drawing/2014/main" id="{77AD305B-13DF-44DD-A400-0DF331E1A7B9}"/>
              </a:ext>
            </a:extLst>
          </p:cNvPr>
          <p:cNvGrpSpPr/>
          <p:nvPr/>
        </p:nvGrpSpPr>
        <p:grpSpPr>
          <a:xfrm>
            <a:off x="3937709" y="4120696"/>
            <a:ext cx="2401383" cy="1290678"/>
            <a:chOff x="3937709" y="4120696"/>
            <a:chExt cx="2401383" cy="1290678"/>
          </a:xfrm>
        </p:grpSpPr>
        <p:sp>
          <p:nvSpPr>
            <p:cNvPr id="25" name="Oval 24"/>
            <p:cNvSpPr/>
            <p:nvPr/>
          </p:nvSpPr>
          <p:spPr>
            <a:xfrm>
              <a:off x="4808489" y="4127615"/>
              <a:ext cx="289350" cy="25018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a:ea typeface="+mn-ea"/>
                <a:cs typeface="+mn-cs"/>
              </a:endParaRPr>
            </a:p>
          </p:txBody>
        </p:sp>
        <p:sp>
          <p:nvSpPr>
            <p:cNvPr id="26" name="TextBox 25"/>
            <p:cNvSpPr txBox="1"/>
            <p:nvPr/>
          </p:nvSpPr>
          <p:spPr>
            <a:xfrm>
              <a:off x="4809457" y="4120696"/>
              <a:ext cx="252743" cy="28622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224" b="1" i="0" u="none" strike="noStrike" kern="1200" cap="none" spc="0" normalizeH="0" baseline="0" noProof="0" dirty="0">
                  <a:ln>
                    <a:noFill/>
                  </a:ln>
                  <a:solidFill>
                    <a:srgbClr val="505050"/>
                  </a:solidFill>
                  <a:effectLst/>
                  <a:uLnTx/>
                  <a:uFillTx/>
                  <a:latin typeface="Segoe UI"/>
                  <a:ea typeface="+mn-ea"/>
                  <a:cs typeface="+mn-cs"/>
                </a:rPr>
                <a:t>3</a:t>
              </a:r>
            </a:p>
          </p:txBody>
        </p:sp>
        <p:sp>
          <p:nvSpPr>
            <p:cNvPr id="3" name="Flowchart: Stored Data 2">
              <a:extLst>
                <a:ext uri="{FF2B5EF4-FFF2-40B4-BE49-F238E27FC236}">
                  <a16:creationId xmlns:a16="http://schemas.microsoft.com/office/drawing/2014/main" id="{E7995496-A6F7-4F64-A447-A9EB8325544F}"/>
                </a:ext>
              </a:extLst>
            </p:cNvPr>
            <p:cNvSpPr/>
            <p:nvPr/>
          </p:nvSpPr>
          <p:spPr bwMode="auto">
            <a:xfrm>
              <a:off x="4723465" y="4499502"/>
              <a:ext cx="1615627" cy="911872"/>
            </a:xfrm>
            <a:prstGeom prst="flowChartOnlineStorag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7" name="TextBox 16"/>
            <p:cNvSpPr txBox="1"/>
            <p:nvPr/>
          </p:nvSpPr>
          <p:spPr>
            <a:xfrm>
              <a:off x="4988496" y="4617671"/>
              <a:ext cx="1047083" cy="657359"/>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lumMod val="95000"/>
                    </a:srgbClr>
                  </a:solidFill>
                  <a:effectLst/>
                  <a:uLnTx/>
                  <a:uFillTx/>
                  <a:latin typeface="Segoe UI"/>
                  <a:ea typeface="+mn-ea"/>
                  <a:cs typeface="+mn-cs"/>
                </a:rPr>
                <a:t>Model Output</a:t>
              </a:r>
            </a:p>
          </p:txBody>
        </p:sp>
        <p:cxnSp>
          <p:nvCxnSpPr>
            <p:cNvPr id="28" name="Straight Arrow Connector 27">
              <a:extLst>
                <a:ext uri="{FF2B5EF4-FFF2-40B4-BE49-F238E27FC236}">
                  <a16:creationId xmlns:a16="http://schemas.microsoft.com/office/drawing/2014/main" id="{5548C9C3-1408-49FC-A79C-32FDA20242CC}"/>
                </a:ext>
              </a:extLst>
            </p:cNvPr>
            <p:cNvCxnSpPr>
              <a:cxnSpLocks/>
              <a:stCxn id="3" idx="1"/>
            </p:cNvCxnSpPr>
            <p:nvPr/>
          </p:nvCxnSpPr>
          <p:spPr>
            <a:xfrm flipH="1">
              <a:off x="3937709" y="4955438"/>
              <a:ext cx="785756"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1CC31B7E-607B-4D36-BA6A-710EDBBE3788}"/>
              </a:ext>
            </a:extLst>
          </p:cNvPr>
          <p:cNvGrpSpPr/>
          <p:nvPr/>
        </p:nvGrpSpPr>
        <p:grpSpPr>
          <a:xfrm>
            <a:off x="1476835" y="5372002"/>
            <a:ext cx="1544917" cy="374846"/>
            <a:chOff x="4788174" y="5848186"/>
            <a:chExt cx="1544917" cy="374846"/>
          </a:xfrm>
        </p:grpSpPr>
        <p:sp>
          <p:nvSpPr>
            <p:cNvPr id="27" name="Oval 26">
              <a:extLst>
                <a:ext uri="{FF2B5EF4-FFF2-40B4-BE49-F238E27FC236}">
                  <a16:creationId xmlns:a16="http://schemas.microsoft.com/office/drawing/2014/main" id="{CB2D9C65-3166-4EBC-9880-A73ACC8BAFDF}"/>
                </a:ext>
              </a:extLst>
            </p:cNvPr>
            <p:cNvSpPr/>
            <p:nvPr/>
          </p:nvSpPr>
          <p:spPr>
            <a:xfrm>
              <a:off x="4788174" y="5905551"/>
              <a:ext cx="289350" cy="25018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a:ea typeface="+mn-ea"/>
                <a:cs typeface="+mn-cs"/>
              </a:endParaRPr>
            </a:p>
          </p:txBody>
        </p:sp>
        <p:sp>
          <p:nvSpPr>
            <p:cNvPr id="31" name="TextBox 30">
              <a:extLst>
                <a:ext uri="{FF2B5EF4-FFF2-40B4-BE49-F238E27FC236}">
                  <a16:creationId xmlns:a16="http://schemas.microsoft.com/office/drawing/2014/main" id="{B6EC5D49-C26B-4E76-903A-960F5412A4C0}"/>
                </a:ext>
              </a:extLst>
            </p:cNvPr>
            <p:cNvSpPr txBox="1"/>
            <p:nvPr/>
          </p:nvSpPr>
          <p:spPr>
            <a:xfrm>
              <a:off x="4789142" y="5898632"/>
              <a:ext cx="252743" cy="28622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224" b="1" i="0" u="none" strike="noStrike" kern="1200" cap="none" spc="0" normalizeH="0" baseline="0" noProof="0" dirty="0">
                  <a:ln>
                    <a:noFill/>
                  </a:ln>
                  <a:solidFill>
                    <a:srgbClr val="505050"/>
                  </a:solidFill>
                  <a:effectLst/>
                  <a:uLnTx/>
                  <a:uFillTx/>
                  <a:latin typeface="Segoe UI"/>
                  <a:ea typeface="+mn-ea"/>
                  <a:cs typeface="+mn-cs"/>
                </a:rPr>
                <a:t>2</a:t>
              </a:r>
            </a:p>
          </p:txBody>
        </p:sp>
        <p:sp>
          <p:nvSpPr>
            <p:cNvPr id="37" name="TextBox 36">
              <a:extLst>
                <a:ext uri="{FF2B5EF4-FFF2-40B4-BE49-F238E27FC236}">
                  <a16:creationId xmlns:a16="http://schemas.microsoft.com/office/drawing/2014/main" id="{CDA34863-119A-48B7-8188-4DCAAE1CC77C}"/>
                </a:ext>
              </a:extLst>
            </p:cNvPr>
            <p:cNvSpPr txBox="1"/>
            <p:nvPr/>
          </p:nvSpPr>
          <p:spPr>
            <a:xfrm>
              <a:off x="5035213" y="5848186"/>
              <a:ext cx="1297878" cy="37484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lumMod val="95000"/>
                    </a:srgbClr>
                  </a:solidFill>
                  <a:effectLst/>
                  <a:uLnTx/>
                  <a:uFillTx/>
                  <a:latin typeface="Segoe UI"/>
                  <a:ea typeface="+mn-ea"/>
                  <a:cs typeface="+mn-cs"/>
                </a:rPr>
                <a:t>Execution</a:t>
              </a:r>
            </a:p>
          </p:txBody>
        </p:sp>
      </p:grpSp>
    </p:spTree>
    <p:extLst>
      <p:ext uri="{BB962C8B-B14F-4D97-AF65-F5344CB8AC3E}">
        <p14:creationId xmlns:p14="http://schemas.microsoft.com/office/powerpoint/2010/main" val="3378637580"/>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56507" y="497675"/>
            <a:ext cx="11967115" cy="446205"/>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endParaRPr kumimoji="0" lang="en-US" sz="408" b="1" i="0" u="none" strike="noStrike" kern="1200" cap="none" spc="0" normalizeH="0" baseline="0" noProof="0">
              <a:ln>
                <a:noFill/>
              </a:ln>
              <a:solidFill>
                <a:srgbClr val="FFFFFF"/>
              </a:solidFill>
              <a:effectLst/>
              <a:uLnTx/>
              <a:uFillTx/>
              <a:latin typeface="Segoe UI"/>
              <a:ea typeface="+mn-ea"/>
              <a:cs typeface="+mn-cs"/>
            </a:endParaRPr>
          </a:p>
          <a:p>
            <a:pPr marL="0" marR="0" lvl="0" indent="0" algn="l"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6C680C14-6122-47AA-A20B-5801103F99C1}"/>
              </a:ext>
            </a:extLst>
          </p:cNvPr>
          <p:cNvGrpSpPr/>
          <p:nvPr/>
        </p:nvGrpSpPr>
        <p:grpSpPr>
          <a:xfrm>
            <a:off x="980033" y="1985843"/>
            <a:ext cx="2990347" cy="3916014"/>
            <a:chOff x="980033" y="1985843"/>
            <a:chExt cx="2990347" cy="3916014"/>
          </a:xfrm>
        </p:grpSpPr>
        <p:sp>
          <p:nvSpPr>
            <p:cNvPr id="5" name="Rectangle 4"/>
            <p:cNvSpPr/>
            <p:nvPr/>
          </p:nvSpPr>
          <p:spPr>
            <a:xfrm>
              <a:off x="980033" y="1985843"/>
              <a:ext cx="2990347" cy="3916014"/>
            </a:xfrm>
            <a:prstGeom prst="rect">
              <a:avLst/>
            </a:prstGeom>
            <a:solidFill>
              <a:schemeClr val="accent1">
                <a:alpha val="13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a:ln>
                    <a:noFill/>
                  </a:ln>
                  <a:solidFill>
                    <a:srgbClr val="FFFFFF"/>
                  </a:solidFill>
                  <a:effectLst/>
                  <a:uLnTx/>
                  <a:uFillTx/>
                  <a:latin typeface="Segoe UI"/>
                  <a:ea typeface="+mn-ea"/>
                  <a:cs typeface="+mn-cs"/>
                </a:rPr>
                <a:t>		</a:t>
              </a:r>
            </a:p>
          </p:txBody>
        </p:sp>
        <p:pic>
          <p:nvPicPr>
            <p:cNvPr id="8" name="Picture 7"/>
            <p:cNvPicPr>
              <a:picLocks noChangeAspect="1"/>
            </p:cNvPicPr>
            <p:nvPr/>
          </p:nvPicPr>
          <p:blipFill>
            <a:blip r:embed="rId3"/>
            <a:stretch>
              <a:fillRect/>
            </a:stretch>
          </p:blipFill>
          <p:spPr>
            <a:xfrm>
              <a:off x="1887822" y="2695877"/>
              <a:ext cx="1133930" cy="841303"/>
            </a:xfrm>
            <a:prstGeom prst="rect">
              <a:avLst/>
            </a:prstGeom>
          </p:spPr>
        </p:pic>
        <p:sp>
          <p:nvSpPr>
            <p:cNvPr id="11" name="Rectangle 10"/>
            <p:cNvSpPr/>
            <p:nvPr/>
          </p:nvSpPr>
          <p:spPr>
            <a:xfrm>
              <a:off x="1493849" y="4397023"/>
              <a:ext cx="1798913" cy="517131"/>
            </a:xfrm>
            <a:prstGeom prst="rect">
              <a:avLst/>
            </a:prstGeom>
            <a:solidFill>
              <a:srgbClr val="FFC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632" b="0" i="0" u="none" strike="noStrike" kern="1200" cap="none" spc="0" normalizeH="0" baseline="0" noProof="0">
                  <a:ln>
                    <a:noFill/>
                  </a:ln>
                  <a:solidFill>
                    <a:srgbClr val="505050">
                      <a:lumMod val="50000"/>
                    </a:srgbClr>
                  </a:solidFill>
                  <a:effectLst/>
                  <a:uLnTx/>
                  <a:uFillTx/>
                  <a:latin typeface="Segoe UI"/>
                  <a:ea typeface="+mn-ea"/>
                  <a:cs typeface="+mn-cs"/>
                </a:rPr>
                <a:t>Any R/Python IDE</a:t>
              </a:r>
            </a:p>
          </p:txBody>
        </p:sp>
        <p:sp>
          <p:nvSpPr>
            <p:cNvPr id="12" name="TextBox 11"/>
            <p:cNvSpPr txBox="1"/>
            <p:nvPr/>
          </p:nvSpPr>
          <p:spPr>
            <a:xfrm>
              <a:off x="1018894" y="3555505"/>
              <a:ext cx="2918815" cy="776691"/>
            </a:xfrm>
            <a:prstGeom prst="rect">
              <a:avLst/>
            </a:prstGeom>
            <a:noFill/>
          </p:spPr>
          <p:txBody>
            <a:bodyPr wrap="square" rtlCol="0">
              <a:spAutoFit/>
            </a:bodyP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2173" b="0" i="0" u="none" strike="noStrike" kern="1200" cap="none" spc="0" normalizeH="0" baseline="0" noProof="0" dirty="0">
                  <a:ln>
                    <a:noFill/>
                  </a:ln>
                  <a:solidFill>
                    <a:srgbClr val="FFFFFF">
                      <a:lumMod val="95000"/>
                    </a:srgbClr>
                  </a:solidFill>
                  <a:effectLst/>
                  <a:uLnTx/>
                  <a:uFillTx/>
                  <a:latin typeface="Segoe UI"/>
                  <a:ea typeface="+mn-ea"/>
                  <a:cs typeface="+mn-cs"/>
                </a:rPr>
                <a:t>Data Scientist Workstation</a:t>
              </a:r>
            </a:p>
          </p:txBody>
        </p:sp>
      </p:grpSp>
      <p:grpSp>
        <p:nvGrpSpPr>
          <p:cNvPr id="45" name="Group 44">
            <a:extLst>
              <a:ext uri="{FF2B5EF4-FFF2-40B4-BE49-F238E27FC236}">
                <a16:creationId xmlns:a16="http://schemas.microsoft.com/office/drawing/2014/main" id="{F6AC3F4C-19C4-4253-ACC1-7AC6709796F2}"/>
              </a:ext>
            </a:extLst>
          </p:cNvPr>
          <p:cNvGrpSpPr/>
          <p:nvPr/>
        </p:nvGrpSpPr>
        <p:grpSpPr>
          <a:xfrm>
            <a:off x="5341804" y="4011117"/>
            <a:ext cx="1559439" cy="374846"/>
            <a:chOff x="4808489" y="4011117"/>
            <a:chExt cx="1559439" cy="374846"/>
          </a:xfrm>
        </p:grpSpPr>
        <p:sp>
          <p:nvSpPr>
            <p:cNvPr id="17" name="TextBox 16"/>
            <p:cNvSpPr txBox="1"/>
            <p:nvPr/>
          </p:nvSpPr>
          <p:spPr>
            <a:xfrm>
              <a:off x="5068880" y="4011117"/>
              <a:ext cx="1299048" cy="37484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err="1">
                  <a:ln>
                    <a:noFill/>
                  </a:ln>
                  <a:solidFill>
                    <a:srgbClr val="FFFFFF">
                      <a:lumMod val="95000"/>
                    </a:srgbClr>
                  </a:solidFill>
                  <a:effectLst/>
                  <a:uLnTx/>
                  <a:uFillTx/>
                  <a:latin typeface="Segoe UI"/>
                  <a:ea typeface="+mn-ea"/>
                  <a:cs typeface="+mn-cs"/>
                </a:rPr>
                <a:t>rx</a:t>
              </a:r>
              <a:r>
                <a:rPr kumimoji="0" lang="en-US" sz="1836" b="0" i="0" u="none" strike="noStrike" kern="1200" cap="none" spc="0" normalizeH="0" baseline="0" noProof="0" dirty="0">
                  <a:ln>
                    <a:noFill/>
                  </a:ln>
                  <a:solidFill>
                    <a:srgbClr val="FFFFFF">
                      <a:lumMod val="95000"/>
                    </a:srgbClr>
                  </a:solidFill>
                  <a:effectLst/>
                  <a:uLnTx/>
                  <a:uFillTx/>
                  <a:latin typeface="Segoe UI"/>
                  <a:ea typeface="+mn-ea"/>
                  <a:cs typeface="+mn-cs"/>
                </a:rPr>
                <a:t>* output</a:t>
              </a:r>
            </a:p>
          </p:txBody>
        </p:sp>
        <p:sp>
          <p:nvSpPr>
            <p:cNvPr id="25" name="Oval 24"/>
            <p:cNvSpPr/>
            <p:nvPr/>
          </p:nvSpPr>
          <p:spPr>
            <a:xfrm>
              <a:off x="4808489" y="4077125"/>
              <a:ext cx="289350" cy="25018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a:ea typeface="+mn-ea"/>
                <a:cs typeface="+mn-cs"/>
              </a:endParaRPr>
            </a:p>
          </p:txBody>
        </p:sp>
        <p:sp>
          <p:nvSpPr>
            <p:cNvPr id="26" name="TextBox 25"/>
            <p:cNvSpPr txBox="1"/>
            <p:nvPr/>
          </p:nvSpPr>
          <p:spPr>
            <a:xfrm>
              <a:off x="4809457" y="4070206"/>
              <a:ext cx="252743" cy="28622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224" b="1" i="0" u="none" strike="noStrike" kern="1200" cap="none" spc="0" normalizeH="0" baseline="0" noProof="0" dirty="0">
                  <a:ln>
                    <a:noFill/>
                  </a:ln>
                  <a:solidFill>
                    <a:srgbClr val="505050"/>
                  </a:solidFill>
                  <a:effectLst/>
                  <a:uLnTx/>
                  <a:uFillTx/>
                  <a:latin typeface="Segoe UI"/>
                  <a:ea typeface="+mn-ea"/>
                  <a:cs typeface="+mn-cs"/>
                </a:rPr>
                <a:t>3</a:t>
              </a:r>
            </a:p>
          </p:txBody>
        </p:sp>
      </p:grpSp>
      <p:cxnSp>
        <p:nvCxnSpPr>
          <p:cNvPr id="27" name="Straight Arrow Connector 26"/>
          <p:cNvCxnSpPr>
            <a:cxnSpLocks/>
          </p:cNvCxnSpPr>
          <p:nvPr/>
        </p:nvCxnSpPr>
        <p:spPr>
          <a:xfrm flipV="1">
            <a:off x="3970379" y="4451000"/>
            <a:ext cx="4270441" cy="8955"/>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4" name="Title 1"/>
          <p:cNvSpPr>
            <a:spLocks noGrp="1"/>
          </p:cNvSpPr>
          <p:nvPr>
            <p:ph type="title"/>
          </p:nvPr>
        </p:nvSpPr>
        <p:spPr>
          <a:xfrm>
            <a:off x="624205" y="281018"/>
            <a:ext cx="11649409" cy="794997"/>
          </a:xfrm>
        </p:spPr>
        <p:txBody>
          <a:bodyPr/>
          <a:lstStyle/>
          <a:p>
            <a:r>
              <a:rPr lang="en-US" sz="3599" dirty="0"/>
              <a:t>Machine Learning workflow using SQL compute context</a:t>
            </a:r>
          </a:p>
        </p:txBody>
      </p:sp>
      <p:grpSp>
        <p:nvGrpSpPr>
          <p:cNvPr id="3" name="Group 2">
            <a:extLst>
              <a:ext uri="{FF2B5EF4-FFF2-40B4-BE49-F238E27FC236}">
                <a16:creationId xmlns:a16="http://schemas.microsoft.com/office/drawing/2014/main" id="{77609400-CF9C-4BCC-A245-2DCBC26BD9E7}"/>
              </a:ext>
            </a:extLst>
          </p:cNvPr>
          <p:cNvGrpSpPr/>
          <p:nvPr/>
        </p:nvGrpSpPr>
        <p:grpSpPr>
          <a:xfrm>
            <a:off x="10953945" y="2496108"/>
            <a:ext cx="1588320" cy="382200"/>
            <a:chOff x="10353692" y="2496108"/>
            <a:chExt cx="1588320" cy="382200"/>
          </a:xfrm>
        </p:grpSpPr>
        <p:grpSp>
          <p:nvGrpSpPr>
            <p:cNvPr id="2" name="Group 1">
              <a:extLst>
                <a:ext uri="{FF2B5EF4-FFF2-40B4-BE49-F238E27FC236}">
                  <a16:creationId xmlns:a16="http://schemas.microsoft.com/office/drawing/2014/main" id="{C1B875A4-74B0-4C84-8B9E-27747041F55B}"/>
                </a:ext>
              </a:extLst>
            </p:cNvPr>
            <p:cNvGrpSpPr/>
            <p:nvPr/>
          </p:nvGrpSpPr>
          <p:grpSpPr>
            <a:xfrm>
              <a:off x="10353692" y="2496108"/>
              <a:ext cx="1588320" cy="382200"/>
              <a:chOff x="10353692" y="2496108"/>
              <a:chExt cx="1588320" cy="382200"/>
            </a:xfrm>
          </p:grpSpPr>
          <p:sp>
            <p:nvSpPr>
              <p:cNvPr id="18" name="TextBox 17"/>
              <p:cNvSpPr txBox="1"/>
              <p:nvPr/>
            </p:nvSpPr>
            <p:spPr>
              <a:xfrm>
                <a:off x="10643043" y="2496108"/>
                <a:ext cx="1298969" cy="382200"/>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a:ea typeface="+mn-ea"/>
                    <a:cs typeface="+mn-cs"/>
                  </a:rPr>
                  <a:t>Execution</a:t>
                </a:r>
              </a:p>
            </p:txBody>
          </p:sp>
          <p:sp>
            <p:nvSpPr>
              <p:cNvPr id="36" name="Oval 35">
                <a:extLst>
                  <a:ext uri="{FF2B5EF4-FFF2-40B4-BE49-F238E27FC236}">
                    <a16:creationId xmlns:a16="http://schemas.microsoft.com/office/drawing/2014/main" id="{387A7FE5-1DB5-47A8-A804-4F26032FEF58}"/>
                  </a:ext>
                </a:extLst>
              </p:cNvPr>
              <p:cNvSpPr/>
              <p:nvPr/>
            </p:nvSpPr>
            <p:spPr>
              <a:xfrm>
                <a:off x="10353692" y="2553106"/>
                <a:ext cx="289350" cy="268206"/>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a:ea typeface="+mn-ea"/>
                  <a:cs typeface="+mn-cs"/>
                </a:endParaRPr>
              </a:p>
            </p:txBody>
          </p:sp>
        </p:grpSp>
        <p:sp>
          <p:nvSpPr>
            <p:cNvPr id="37" name="TextBox 36">
              <a:extLst>
                <a:ext uri="{FF2B5EF4-FFF2-40B4-BE49-F238E27FC236}">
                  <a16:creationId xmlns:a16="http://schemas.microsoft.com/office/drawing/2014/main" id="{1E355AD6-4923-4BC4-8820-89CAD01383A3}"/>
                </a:ext>
              </a:extLst>
            </p:cNvPr>
            <p:cNvSpPr txBox="1"/>
            <p:nvPr/>
          </p:nvSpPr>
          <p:spPr>
            <a:xfrm>
              <a:off x="10395007" y="2544097"/>
              <a:ext cx="176316" cy="28622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224" b="1" i="0" u="none" strike="noStrike" kern="1200" cap="none" spc="0" normalizeH="0" baseline="0" noProof="0" dirty="0">
                  <a:ln>
                    <a:noFill/>
                  </a:ln>
                  <a:solidFill>
                    <a:srgbClr val="505050"/>
                  </a:solidFill>
                  <a:effectLst/>
                  <a:uLnTx/>
                  <a:uFillTx/>
                  <a:latin typeface="Segoe UI"/>
                  <a:ea typeface="+mn-ea"/>
                  <a:cs typeface="+mn-cs"/>
                </a:rPr>
                <a:t>2</a:t>
              </a:r>
            </a:p>
          </p:txBody>
        </p:sp>
      </p:grpSp>
      <p:grpSp>
        <p:nvGrpSpPr>
          <p:cNvPr id="6" name="Group 5">
            <a:extLst>
              <a:ext uri="{FF2B5EF4-FFF2-40B4-BE49-F238E27FC236}">
                <a16:creationId xmlns:a16="http://schemas.microsoft.com/office/drawing/2014/main" id="{9242516D-538E-4170-9BE9-E2675F4D8FCD}"/>
              </a:ext>
            </a:extLst>
          </p:cNvPr>
          <p:cNvGrpSpPr/>
          <p:nvPr/>
        </p:nvGrpSpPr>
        <p:grpSpPr>
          <a:xfrm>
            <a:off x="8294266" y="1985843"/>
            <a:ext cx="2990347" cy="3916014"/>
            <a:chOff x="7740187" y="2162689"/>
            <a:chExt cx="2990347" cy="3916014"/>
          </a:xfrm>
        </p:grpSpPr>
        <p:sp>
          <p:nvSpPr>
            <p:cNvPr id="29" name="Rectangle 28">
              <a:extLst>
                <a:ext uri="{FF2B5EF4-FFF2-40B4-BE49-F238E27FC236}">
                  <a16:creationId xmlns:a16="http://schemas.microsoft.com/office/drawing/2014/main" id="{5428DDF8-FE9C-4D56-ADAA-A0A10D8EC161}"/>
                </a:ext>
              </a:extLst>
            </p:cNvPr>
            <p:cNvSpPr/>
            <p:nvPr/>
          </p:nvSpPr>
          <p:spPr>
            <a:xfrm>
              <a:off x="7740187" y="2162689"/>
              <a:ext cx="2990347" cy="3916014"/>
            </a:xfrm>
            <a:prstGeom prst="rect">
              <a:avLst/>
            </a:prstGeom>
            <a:solidFill>
              <a:schemeClr val="accent1">
                <a:alpha val="13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a:ln>
                    <a:noFill/>
                  </a:ln>
                  <a:solidFill>
                    <a:srgbClr val="505050"/>
                  </a:solidFill>
                  <a:effectLst/>
                  <a:uLnTx/>
                  <a:uFillTx/>
                  <a:latin typeface="Segoe UI"/>
                  <a:ea typeface="+mn-ea"/>
                  <a:cs typeface="+mn-cs"/>
                </a:rPr>
                <a:t>		</a:t>
              </a:r>
            </a:p>
          </p:txBody>
        </p:sp>
        <p:sp>
          <p:nvSpPr>
            <p:cNvPr id="33" name="TextBox 32">
              <a:extLst>
                <a:ext uri="{FF2B5EF4-FFF2-40B4-BE49-F238E27FC236}">
                  <a16:creationId xmlns:a16="http://schemas.microsoft.com/office/drawing/2014/main" id="{14B27CBA-A005-4403-BE56-7B90333F9B8F}"/>
                </a:ext>
              </a:extLst>
            </p:cNvPr>
            <p:cNvSpPr txBox="1"/>
            <p:nvPr/>
          </p:nvSpPr>
          <p:spPr>
            <a:xfrm>
              <a:off x="8070584" y="3498743"/>
              <a:ext cx="2403095" cy="435417"/>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2173" b="0" i="0" u="none" strike="noStrike" kern="1200" cap="none" spc="0" normalizeH="0" baseline="0" noProof="0" dirty="0">
                  <a:ln>
                    <a:noFill/>
                  </a:ln>
                  <a:solidFill>
                    <a:srgbClr val="FFFFFF">
                      <a:lumMod val="95000"/>
                    </a:srgbClr>
                  </a:solidFill>
                  <a:effectLst/>
                  <a:uLnTx/>
                  <a:uFillTx/>
                  <a:latin typeface="Segoe UI"/>
                  <a:ea typeface="+mn-ea"/>
                  <a:cs typeface="+mn-cs"/>
                </a:rPr>
                <a:t>SQL Server 2017</a:t>
              </a:r>
            </a:p>
          </p:txBody>
        </p:sp>
        <p:sp>
          <p:nvSpPr>
            <p:cNvPr id="38" name="Rectangle 37">
              <a:extLst>
                <a:ext uri="{FF2B5EF4-FFF2-40B4-BE49-F238E27FC236}">
                  <a16:creationId xmlns:a16="http://schemas.microsoft.com/office/drawing/2014/main" id="{DC937F4B-562B-459B-A038-99A4B28608F7}"/>
                </a:ext>
              </a:extLst>
            </p:cNvPr>
            <p:cNvSpPr/>
            <p:nvPr/>
          </p:nvSpPr>
          <p:spPr>
            <a:xfrm>
              <a:off x="8372081" y="4091629"/>
              <a:ext cx="1826782" cy="564143"/>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rgbClr val="FFFFFF"/>
                  </a:solidFill>
                  <a:effectLst/>
                  <a:uLnTx/>
                  <a:uFillTx/>
                  <a:latin typeface="Segoe UI"/>
                  <a:ea typeface="+mn-ea"/>
                  <a:cs typeface="+mn-cs"/>
                </a:rPr>
                <a:t>SQL Server</a:t>
              </a:r>
            </a:p>
          </p:txBody>
        </p:sp>
        <p:sp>
          <p:nvSpPr>
            <p:cNvPr id="39" name="Rectangle 38">
              <a:extLst>
                <a:ext uri="{FF2B5EF4-FFF2-40B4-BE49-F238E27FC236}">
                  <a16:creationId xmlns:a16="http://schemas.microsoft.com/office/drawing/2014/main" id="{F140198F-7ED7-4430-B2EE-B2040EE7E800}"/>
                </a:ext>
              </a:extLst>
            </p:cNvPr>
            <p:cNvSpPr/>
            <p:nvPr/>
          </p:nvSpPr>
          <p:spPr>
            <a:xfrm>
              <a:off x="8372080" y="5491931"/>
              <a:ext cx="1823857" cy="492605"/>
            </a:xfrm>
            <a:prstGeom prst="rect">
              <a:avLst/>
            </a:prstGeom>
            <a:solidFill>
              <a:srgbClr val="FFC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a:ln>
                    <a:noFill/>
                  </a:ln>
                  <a:solidFill>
                    <a:srgbClr val="505050"/>
                  </a:solidFill>
                  <a:effectLst/>
                  <a:uLnTx/>
                  <a:uFillTx/>
                  <a:latin typeface="Segoe UI"/>
                  <a:ea typeface="+mn-ea"/>
                  <a:cs typeface="+mn-cs"/>
                </a:rPr>
                <a:t>R/Python Runtime</a:t>
              </a:r>
            </a:p>
          </p:txBody>
        </p:sp>
        <p:sp>
          <p:nvSpPr>
            <p:cNvPr id="40" name="Rectangle 39">
              <a:extLst>
                <a:ext uri="{FF2B5EF4-FFF2-40B4-BE49-F238E27FC236}">
                  <a16:creationId xmlns:a16="http://schemas.microsoft.com/office/drawing/2014/main" id="{112476FE-AF6C-4854-BA1F-AF6322D5ED9D}"/>
                </a:ext>
              </a:extLst>
            </p:cNvPr>
            <p:cNvSpPr/>
            <p:nvPr/>
          </p:nvSpPr>
          <p:spPr>
            <a:xfrm>
              <a:off x="8375006" y="4813241"/>
              <a:ext cx="1823857" cy="522090"/>
            </a:xfrm>
            <a:prstGeom prst="rect">
              <a:avLst/>
            </a:prstGeom>
            <a:ln/>
          </p:spPr>
          <p:style>
            <a:lnRef idx="1">
              <a:schemeClr val="accent2"/>
            </a:lnRef>
            <a:fillRef idx="1001">
              <a:schemeClr val="lt2"/>
            </a:fillRef>
            <a:effectRef idx="1">
              <a:schemeClr val="accent2"/>
            </a:effectRef>
            <a:fontRef idx="minor">
              <a:schemeClr val="dk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a:ln>
                    <a:noFill/>
                  </a:ln>
                  <a:solidFill>
                    <a:srgbClr val="505050"/>
                  </a:solidFill>
                  <a:effectLst/>
                  <a:uLnTx/>
                  <a:uFillTx/>
                  <a:latin typeface="Segoe UI"/>
                  <a:ea typeface="+mn-ea"/>
                  <a:cs typeface="+mn-cs"/>
                </a:rPr>
                <a:t>Machine Learning Services</a:t>
              </a:r>
            </a:p>
          </p:txBody>
        </p:sp>
        <p:sp>
          <p:nvSpPr>
            <p:cNvPr id="41" name="Flowchart: Magnetic Disk 40">
              <a:extLst>
                <a:ext uri="{FF2B5EF4-FFF2-40B4-BE49-F238E27FC236}">
                  <a16:creationId xmlns:a16="http://schemas.microsoft.com/office/drawing/2014/main" id="{F0A309C7-6A8C-42CF-BB4F-E8EA603E08D2}"/>
                </a:ext>
              </a:extLst>
            </p:cNvPr>
            <p:cNvSpPr/>
            <p:nvPr/>
          </p:nvSpPr>
          <p:spPr bwMode="auto">
            <a:xfrm>
              <a:off x="8726762" y="2561964"/>
              <a:ext cx="869731" cy="816082"/>
            </a:xfrm>
            <a:prstGeom prst="flowChartMagneticDisk">
              <a:avLst/>
            </a:prstGeom>
            <a:ln>
              <a:headEnd type="none" w="med" len="med"/>
              <a:tailEnd type="none" w="med" len="med"/>
            </a:ln>
          </p:spPr>
          <p:style>
            <a:lnRef idx="1">
              <a:schemeClr val="accent1"/>
            </a:lnRef>
            <a:fillRef idx="1002">
              <a:schemeClr val="dk2"/>
            </a:fillRef>
            <a:effectRef idx="1">
              <a:schemeClr val="accent1"/>
            </a:effectRef>
            <a:fontRef idx="minor">
              <a:schemeClr val="dk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7" name="Group 46">
            <a:extLst>
              <a:ext uri="{FF2B5EF4-FFF2-40B4-BE49-F238E27FC236}">
                <a16:creationId xmlns:a16="http://schemas.microsoft.com/office/drawing/2014/main" id="{748E51AA-8CD4-4170-A823-7DD72850ADCA}"/>
              </a:ext>
            </a:extLst>
          </p:cNvPr>
          <p:cNvGrpSpPr/>
          <p:nvPr/>
        </p:nvGrpSpPr>
        <p:grpSpPr>
          <a:xfrm>
            <a:off x="3970379" y="1663696"/>
            <a:ext cx="4688979" cy="2018377"/>
            <a:chOff x="3970379" y="1663696"/>
            <a:chExt cx="4688979" cy="2018377"/>
          </a:xfrm>
        </p:grpSpPr>
        <p:cxnSp>
          <p:nvCxnSpPr>
            <p:cNvPr id="15" name="Straight Arrow Connector 14"/>
            <p:cNvCxnSpPr>
              <a:cxnSpLocks/>
            </p:cNvCxnSpPr>
            <p:nvPr/>
          </p:nvCxnSpPr>
          <p:spPr>
            <a:xfrm>
              <a:off x="3970379" y="3682073"/>
              <a:ext cx="432388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21AB558E-1BE1-4C06-8797-548FAF8B3FB2}"/>
                </a:ext>
              </a:extLst>
            </p:cNvPr>
            <p:cNvGrpSpPr/>
            <p:nvPr/>
          </p:nvGrpSpPr>
          <p:grpSpPr>
            <a:xfrm>
              <a:off x="5341804" y="3299872"/>
              <a:ext cx="1081039" cy="382200"/>
              <a:chOff x="4820771" y="3299872"/>
              <a:chExt cx="1081039" cy="382200"/>
            </a:xfrm>
          </p:grpSpPr>
          <p:sp>
            <p:nvSpPr>
              <p:cNvPr id="16" name="TextBox 15"/>
              <p:cNvSpPr txBox="1"/>
              <p:nvPr/>
            </p:nvSpPr>
            <p:spPr>
              <a:xfrm>
                <a:off x="5058043" y="3299872"/>
                <a:ext cx="843767" cy="382200"/>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lumMod val="95000"/>
                      </a:srgbClr>
                    </a:solidFill>
                    <a:effectLst/>
                    <a:uLnTx/>
                    <a:uFillTx/>
                    <a:latin typeface="Segoe UI"/>
                    <a:ea typeface="+mn-ea"/>
                    <a:cs typeface="+mn-cs"/>
                  </a:rPr>
                  <a:t>Script</a:t>
                </a:r>
              </a:p>
            </p:txBody>
          </p:sp>
          <p:sp>
            <p:nvSpPr>
              <p:cNvPr id="20" name="Oval 19"/>
              <p:cNvSpPr/>
              <p:nvPr/>
            </p:nvSpPr>
            <p:spPr>
              <a:xfrm>
                <a:off x="4820771" y="3337988"/>
                <a:ext cx="289350" cy="25018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a:ea typeface="+mn-ea"/>
                  <a:cs typeface="+mn-cs"/>
                </a:endParaRPr>
              </a:p>
            </p:txBody>
          </p:sp>
          <p:sp>
            <p:nvSpPr>
              <p:cNvPr id="21" name="TextBox 20"/>
              <p:cNvSpPr txBox="1"/>
              <p:nvPr/>
            </p:nvSpPr>
            <p:spPr>
              <a:xfrm>
                <a:off x="4826792" y="3317680"/>
                <a:ext cx="252743" cy="28622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224" b="1" i="0" u="none" strike="noStrike" kern="1200" cap="none" spc="0" normalizeH="0" baseline="0" noProof="0">
                    <a:ln>
                      <a:noFill/>
                    </a:ln>
                    <a:solidFill>
                      <a:srgbClr val="505050"/>
                    </a:solidFill>
                    <a:effectLst/>
                    <a:uLnTx/>
                    <a:uFillTx/>
                    <a:latin typeface="Segoe UI"/>
                    <a:ea typeface="+mn-ea"/>
                    <a:cs typeface="+mn-cs"/>
                  </a:rPr>
                  <a:t>1</a:t>
                </a:r>
              </a:p>
            </p:txBody>
          </p:sp>
        </p:grpSp>
        <p:sp>
          <p:nvSpPr>
            <p:cNvPr id="30" name="Rectangle 29">
              <a:extLst>
                <a:ext uri="{FF2B5EF4-FFF2-40B4-BE49-F238E27FC236}">
                  <a16:creationId xmlns:a16="http://schemas.microsoft.com/office/drawing/2014/main" id="{2307D712-E819-4C73-A8FF-732395E71214}"/>
                </a:ext>
              </a:extLst>
            </p:cNvPr>
            <p:cNvSpPr/>
            <p:nvPr/>
          </p:nvSpPr>
          <p:spPr>
            <a:xfrm>
              <a:off x="4191968" y="1663696"/>
              <a:ext cx="4467390" cy="1084015"/>
            </a:xfrm>
            <a:prstGeom prst="rect">
              <a:avLst/>
            </a:prstGeom>
          </p:spPr>
          <p:txBody>
            <a:bodyPr wrap="square">
              <a:spAutoFit/>
            </a:bodyPr>
            <a:lstStyle/>
            <a:p>
              <a:pPr marL="0" marR="0" lvl="0" indent="0" algn="l" defTabSz="950938" rtl="0" eaLnBrk="1" fontAlgn="auto" latinLnBrk="0" hangingPunct="1">
                <a:lnSpc>
                  <a:spcPct val="107000"/>
                </a:lnSpc>
                <a:spcBef>
                  <a:spcPts val="0"/>
                </a:spcBef>
                <a:spcAft>
                  <a:spcPts val="816"/>
                </a:spcAft>
                <a:buClrTx/>
                <a:buSzTx/>
                <a:buFontTx/>
                <a:buNone/>
                <a:tabLst/>
                <a:defRPr/>
              </a:pPr>
              <a:r>
                <a:rPr kumimoji="0" lang="en-US" sz="1800" b="1" i="1" u="none" strike="noStrike" kern="1200" cap="none" spc="0" normalizeH="0" baseline="0" noProof="0" dirty="0">
                  <a:ln>
                    <a:noFill/>
                  </a:ln>
                  <a:solidFill>
                    <a:srgbClr val="FFB900"/>
                  </a:solidFill>
                  <a:effectLst/>
                  <a:uLnTx/>
                  <a:uFillTx/>
                  <a:latin typeface="Segoe UI"/>
                  <a:ea typeface="+mn-ea"/>
                  <a:cs typeface="+mn-cs"/>
                </a:rPr>
                <a:t>cc</a:t>
              </a:r>
              <a:r>
                <a:rPr kumimoji="0" lang="en-US" sz="1800" b="0" i="1" u="none" strike="noStrike" kern="1200" cap="none" spc="0" normalizeH="0" baseline="0" noProof="0" dirty="0">
                  <a:ln>
                    <a:noFill/>
                  </a:ln>
                  <a:solidFill>
                    <a:srgbClr val="FFB900"/>
                  </a:solidFill>
                  <a:effectLst/>
                  <a:uLnTx/>
                  <a:uFillTx/>
                  <a:latin typeface="Segoe UI"/>
                  <a:ea typeface="+mn-ea"/>
                  <a:cs typeface="+mn-cs"/>
                </a:rPr>
                <a:t> &lt;- </a:t>
              </a:r>
              <a:r>
                <a:rPr kumimoji="0" lang="en-US" sz="1800" b="0" i="1" u="none" strike="noStrike" kern="1200" cap="none" spc="0" normalizeH="0" baseline="0" noProof="0" dirty="0" err="1">
                  <a:ln>
                    <a:noFill/>
                  </a:ln>
                  <a:solidFill>
                    <a:srgbClr val="FFB900"/>
                  </a:solidFill>
                  <a:effectLst/>
                  <a:uLnTx/>
                  <a:uFillTx/>
                  <a:latin typeface="Segoe UI"/>
                  <a:ea typeface="+mn-ea"/>
                  <a:cs typeface="+mn-cs"/>
                </a:rPr>
                <a:t>RxInSqlServer</a:t>
              </a:r>
              <a:r>
                <a:rPr kumimoji="0" lang="en-US" sz="1800" b="0" i="1" u="none" strike="noStrike" kern="1200" cap="none" spc="0" normalizeH="0" baseline="0" noProof="0" dirty="0">
                  <a:ln>
                    <a:noFill/>
                  </a:ln>
                  <a:solidFill>
                    <a:srgbClr val="FFB900"/>
                  </a:solidFill>
                  <a:effectLst/>
                  <a:uLnTx/>
                  <a:uFillTx/>
                  <a:latin typeface="Segoe UI"/>
                  <a:ea typeface="+mn-ea"/>
                  <a:cs typeface="+mn-cs"/>
                </a:rPr>
                <a:t>( </a:t>
              </a:r>
              <a:r>
                <a:rPr kumimoji="0" lang="en-US" sz="1800" b="0" i="1" u="none" strike="noStrike" kern="1200" cap="none" spc="0" normalizeH="0" baseline="0" noProof="0" dirty="0" err="1">
                  <a:ln>
                    <a:noFill/>
                  </a:ln>
                  <a:solidFill>
                    <a:srgbClr val="FFB900"/>
                  </a:solidFill>
                  <a:effectLst/>
                  <a:uLnTx/>
                  <a:uFillTx/>
                  <a:latin typeface="Segoe UI"/>
                  <a:ea typeface="+mn-ea"/>
                  <a:cs typeface="+mn-cs"/>
                </a:rPr>
                <a:t>connectionString</a:t>
              </a:r>
              <a:r>
                <a:rPr kumimoji="0" lang="en-US" sz="1800" b="0" i="1" u="none" strike="noStrike" kern="1200" cap="none" spc="0" normalizeH="0" baseline="0" noProof="0" dirty="0">
                  <a:ln>
                    <a:noFill/>
                  </a:ln>
                  <a:solidFill>
                    <a:srgbClr val="FFB900"/>
                  </a:solidFill>
                  <a:effectLst/>
                  <a:uLnTx/>
                  <a:uFillTx/>
                  <a:latin typeface="Segoe UI"/>
                  <a:ea typeface="+mn-ea"/>
                  <a:cs typeface="+mn-cs"/>
                </a:rPr>
                <a:t>, </a:t>
              </a:r>
              <a:r>
                <a:rPr kumimoji="0" lang="en-US" sz="1800" b="1" i="1" u="none" strike="noStrike" kern="1200" cap="none" spc="0" normalizeH="0" baseline="0" noProof="0" dirty="0" err="1">
                  <a:ln>
                    <a:noFill/>
                  </a:ln>
                  <a:solidFill>
                    <a:srgbClr val="FFB900"/>
                  </a:solidFill>
                  <a:effectLst/>
                  <a:uLnTx/>
                  <a:uFillTx/>
                  <a:latin typeface="Segoe UI"/>
                  <a:ea typeface="+mn-ea"/>
                  <a:cs typeface="+mn-cs"/>
                </a:rPr>
                <a:t>computeContext</a:t>
              </a:r>
              <a:r>
                <a:rPr kumimoji="0" lang="en-US" sz="1800" b="0" i="1" u="none" strike="noStrike" kern="1200" cap="none" spc="0" normalizeH="0" baseline="0" noProof="0" dirty="0">
                  <a:ln>
                    <a:noFill/>
                  </a:ln>
                  <a:solidFill>
                    <a:srgbClr val="FFB900"/>
                  </a:solidFill>
                  <a:effectLst/>
                  <a:uLnTx/>
                  <a:uFillTx/>
                  <a:latin typeface="Segoe UI"/>
                  <a:ea typeface="+mn-ea"/>
                  <a:cs typeface="+mn-cs"/>
                </a:rPr>
                <a:t>)</a:t>
              </a:r>
            </a:p>
            <a:p>
              <a:pPr marL="0" marR="0" lvl="0" indent="0" algn="l" defTabSz="950938" rtl="0" eaLnBrk="1" fontAlgn="auto" latinLnBrk="0" hangingPunct="1">
                <a:lnSpc>
                  <a:spcPct val="107000"/>
                </a:lnSpc>
                <a:spcBef>
                  <a:spcPts val="0"/>
                </a:spcBef>
                <a:spcAft>
                  <a:spcPts val="816"/>
                </a:spcAft>
                <a:buClrTx/>
                <a:buSzTx/>
                <a:buFontTx/>
                <a:buNone/>
                <a:tabLst/>
                <a:defRPr/>
              </a:pPr>
              <a:r>
                <a:rPr kumimoji="0" lang="en-US" sz="1800" b="0" i="1" u="none" strike="noStrike" kern="1200" cap="none" spc="0" normalizeH="0" baseline="0" noProof="0" dirty="0" err="1">
                  <a:ln>
                    <a:noFill/>
                  </a:ln>
                  <a:solidFill>
                    <a:srgbClr val="FFB900"/>
                  </a:solidFill>
                  <a:effectLst/>
                  <a:uLnTx/>
                  <a:uFillTx/>
                  <a:latin typeface="Segoe UI"/>
                  <a:ea typeface="+mn-ea"/>
                  <a:cs typeface="+mn-cs"/>
                </a:rPr>
                <a:t>rxLogit</a:t>
              </a:r>
              <a:r>
                <a:rPr kumimoji="0" lang="en-US" sz="1800" b="0" i="1" u="none" strike="noStrike" kern="1200" cap="none" spc="0" normalizeH="0" baseline="0" noProof="0" dirty="0">
                  <a:ln>
                    <a:noFill/>
                  </a:ln>
                  <a:solidFill>
                    <a:srgbClr val="FFB900"/>
                  </a:solidFill>
                  <a:effectLst/>
                  <a:uLnTx/>
                  <a:uFillTx/>
                  <a:latin typeface="Segoe UI"/>
                  <a:ea typeface="+mn-ea"/>
                  <a:cs typeface="+mn-cs"/>
                </a:rPr>
                <a:t>(formula, </a:t>
              </a:r>
              <a:r>
                <a:rPr kumimoji="0" lang="en-US" sz="1800" b="1" i="1" u="none" strike="noStrike" kern="1200" cap="none" spc="0" normalizeH="0" baseline="0" noProof="0" dirty="0">
                  <a:ln>
                    <a:noFill/>
                  </a:ln>
                  <a:solidFill>
                    <a:srgbClr val="FFB900"/>
                  </a:solidFill>
                  <a:effectLst/>
                  <a:uLnTx/>
                  <a:uFillTx/>
                  <a:latin typeface="Segoe UI"/>
                  <a:ea typeface="+mn-ea"/>
                  <a:cs typeface="+mn-cs"/>
                </a:rPr>
                <a:t>cc</a:t>
              </a:r>
              <a:r>
                <a:rPr kumimoji="0" lang="en-US" sz="1800" b="0" i="1" u="none" strike="noStrike" kern="1200" cap="none" spc="0" normalizeH="0" baseline="0" noProof="0" dirty="0">
                  <a:ln>
                    <a:noFill/>
                  </a:ln>
                  <a:solidFill>
                    <a:srgbClr val="FFB900"/>
                  </a:solidFill>
                  <a:effectLst/>
                  <a:uLnTx/>
                  <a:uFillTx/>
                  <a:latin typeface="Segoe UI"/>
                  <a:ea typeface="+mn-ea"/>
                  <a:cs typeface="+mn-cs"/>
                </a:rPr>
                <a:t>)</a:t>
              </a:r>
            </a:p>
          </p:txBody>
        </p:sp>
      </p:grpSp>
      <p:cxnSp>
        <p:nvCxnSpPr>
          <p:cNvPr id="28" name="Straight Arrow Connector 27">
            <a:extLst>
              <a:ext uri="{FF2B5EF4-FFF2-40B4-BE49-F238E27FC236}">
                <a16:creationId xmlns:a16="http://schemas.microsoft.com/office/drawing/2014/main" id="{5CF51814-6603-47CD-AE67-C92CD5615E6D}"/>
              </a:ext>
            </a:extLst>
          </p:cNvPr>
          <p:cNvCxnSpPr>
            <a:cxnSpLocks/>
          </p:cNvCxnSpPr>
          <p:nvPr/>
        </p:nvCxnSpPr>
        <p:spPr>
          <a:xfrm flipH="1">
            <a:off x="3970379" y="5414307"/>
            <a:ext cx="4323887"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0BD160C3-F607-4496-B9E3-95271B410051}"/>
              </a:ext>
            </a:extLst>
          </p:cNvPr>
          <p:cNvGrpSpPr/>
          <p:nvPr/>
        </p:nvGrpSpPr>
        <p:grpSpPr>
          <a:xfrm>
            <a:off x="5341804" y="4658657"/>
            <a:ext cx="1636807" cy="657359"/>
            <a:chOff x="4797652" y="4658657"/>
            <a:chExt cx="1636807" cy="657359"/>
          </a:xfrm>
        </p:grpSpPr>
        <p:sp>
          <p:nvSpPr>
            <p:cNvPr id="35" name="TextBox 34">
              <a:extLst>
                <a:ext uri="{FF2B5EF4-FFF2-40B4-BE49-F238E27FC236}">
                  <a16:creationId xmlns:a16="http://schemas.microsoft.com/office/drawing/2014/main" id="{5B93743E-21B1-4AFA-B5D4-313F63D01AC9}"/>
                </a:ext>
              </a:extLst>
            </p:cNvPr>
            <p:cNvSpPr txBox="1"/>
            <p:nvPr/>
          </p:nvSpPr>
          <p:spPr>
            <a:xfrm>
              <a:off x="5058043" y="4658657"/>
              <a:ext cx="1376416" cy="657359"/>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lumMod val="95000"/>
                    </a:srgbClr>
                  </a:solidFill>
                  <a:effectLst/>
                  <a:uLnTx/>
                  <a:uFillTx/>
                  <a:latin typeface="Segoe UI"/>
                  <a:ea typeface="+mn-ea"/>
                  <a:cs typeface="+mn-cs"/>
                </a:rPr>
                <a:t>Model or Predictions</a:t>
              </a:r>
            </a:p>
          </p:txBody>
        </p:sp>
        <p:sp>
          <p:nvSpPr>
            <p:cNvPr id="42" name="Oval 41">
              <a:extLst>
                <a:ext uri="{FF2B5EF4-FFF2-40B4-BE49-F238E27FC236}">
                  <a16:creationId xmlns:a16="http://schemas.microsoft.com/office/drawing/2014/main" id="{7886B4D1-17BF-4F87-B883-9E249D5C6490}"/>
                </a:ext>
              </a:extLst>
            </p:cNvPr>
            <p:cNvSpPr/>
            <p:nvPr/>
          </p:nvSpPr>
          <p:spPr>
            <a:xfrm>
              <a:off x="4797652" y="4724666"/>
              <a:ext cx="289350" cy="25018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239"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505050"/>
                </a:solidFill>
                <a:effectLst/>
                <a:uLnTx/>
                <a:uFillTx/>
                <a:latin typeface="Segoe UI"/>
                <a:ea typeface="+mn-ea"/>
                <a:cs typeface="+mn-cs"/>
              </a:endParaRPr>
            </a:p>
          </p:txBody>
        </p:sp>
        <p:sp>
          <p:nvSpPr>
            <p:cNvPr id="43" name="TextBox 42">
              <a:extLst>
                <a:ext uri="{FF2B5EF4-FFF2-40B4-BE49-F238E27FC236}">
                  <a16:creationId xmlns:a16="http://schemas.microsoft.com/office/drawing/2014/main" id="{86C39BDB-C5D7-449F-B780-7168077B542B}"/>
                </a:ext>
              </a:extLst>
            </p:cNvPr>
            <p:cNvSpPr txBox="1"/>
            <p:nvPr/>
          </p:nvSpPr>
          <p:spPr>
            <a:xfrm>
              <a:off x="4798620" y="4717747"/>
              <a:ext cx="252743" cy="286226"/>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1224" b="1" i="0" u="none" strike="noStrike" kern="1200" cap="none" spc="0" normalizeH="0" baseline="0" noProof="0" dirty="0">
                  <a:ln>
                    <a:noFill/>
                  </a:ln>
                  <a:solidFill>
                    <a:srgbClr val="505050"/>
                  </a:solidFill>
                  <a:effectLst/>
                  <a:uLnTx/>
                  <a:uFillTx/>
                  <a:latin typeface="Segoe UI"/>
                  <a:ea typeface="+mn-ea"/>
                  <a:cs typeface="+mn-cs"/>
                </a:rPr>
                <a:t>4</a:t>
              </a:r>
            </a:p>
          </p:txBody>
        </p:sp>
      </p:grpSp>
    </p:spTree>
    <p:extLst>
      <p:ext uri="{BB962C8B-B14F-4D97-AF65-F5344CB8AC3E}">
        <p14:creationId xmlns:p14="http://schemas.microsoft.com/office/powerpoint/2010/main" val="2615813338"/>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82FD-6BCE-4A78-8EE8-44CD9B24E3DB}"/>
              </a:ext>
            </a:extLst>
          </p:cNvPr>
          <p:cNvSpPr>
            <a:spLocks noGrp="1"/>
          </p:cNvSpPr>
          <p:nvPr>
            <p:ph type="title"/>
          </p:nvPr>
        </p:nvSpPr>
        <p:spPr/>
        <p:txBody>
          <a:bodyPr/>
          <a:lstStyle/>
          <a:p>
            <a:r>
              <a:rPr lang="en-US" dirty="0"/>
              <a:t>SQL Compute Context from R/Python client</a:t>
            </a:r>
          </a:p>
        </p:txBody>
      </p:sp>
      <p:sp>
        <p:nvSpPr>
          <p:cNvPr id="3" name="Text Placeholder 2">
            <a:extLst>
              <a:ext uri="{FF2B5EF4-FFF2-40B4-BE49-F238E27FC236}">
                <a16:creationId xmlns:a16="http://schemas.microsoft.com/office/drawing/2014/main" id="{D39A2D21-2174-4494-B515-D87CAD4C16D5}"/>
              </a:ext>
            </a:extLst>
          </p:cNvPr>
          <p:cNvSpPr>
            <a:spLocks noGrp="1"/>
          </p:cNvSpPr>
          <p:nvPr>
            <p:ph type="body" sz="quarter" idx="10"/>
          </p:nvPr>
        </p:nvSpPr>
        <p:spPr>
          <a:xfrm>
            <a:off x="274702" y="1211287"/>
            <a:ext cx="11888787" cy="4801314"/>
          </a:xfrm>
        </p:spPr>
        <p:txBody>
          <a:bodyPr/>
          <a:lstStyle/>
          <a:p>
            <a:pPr marL="0" indent="0">
              <a:buNone/>
            </a:pPr>
            <a:r>
              <a:rPr lang="en-US" sz="4000" dirty="0"/>
              <a:t>Requirement</a:t>
            </a:r>
          </a:p>
          <a:p>
            <a:pPr marL="0" indent="0">
              <a:buNone/>
            </a:pPr>
            <a:r>
              <a:rPr lang="en-US" sz="4000" dirty="0"/>
              <a:t>	Use </a:t>
            </a:r>
            <a:r>
              <a:rPr lang="en-US" sz="4000" dirty="0" err="1"/>
              <a:t>rx</a:t>
            </a:r>
            <a:r>
              <a:rPr lang="en-US" sz="4000" dirty="0"/>
              <a:t>* functions</a:t>
            </a:r>
          </a:p>
          <a:p>
            <a:pPr marL="0" indent="0">
              <a:buNone/>
            </a:pPr>
            <a:endParaRPr lang="en-US" sz="4000" dirty="0"/>
          </a:p>
          <a:p>
            <a:pPr marL="0" indent="0">
              <a:buNone/>
            </a:pPr>
            <a:r>
              <a:rPr lang="en-US" sz="4000" dirty="0"/>
              <a:t>Key Benefits</a:t>
            </a:r>
          </a:p>
          <a:p>
            <a:pPr marL="0" indent="0">
              <a:buNone/>
            </a:pPr>
            <a:r>
              <a:rPr lang="en-US" sz="4000" dirty="0"/>
              <a:t>	Push compute to server</a:t>
            </a:r>
          </a:p>
          <a:p>
            <a:pPr marL="0" indent="0">
              <a:buNone/>
            </a:pPr>
            <a:r>
              <a:rPr lang="en-US" sz="4000" dirty="0"/>
              <a:t>	Eliminate data movement from server to client</a:t>
            </a:r>
          </a:p>
          <a:p>
            <a:pPr marL="0" indent="0">
              <a:buNone/>
            </a:pPr>
            <a:r>
              <a:rPr lang="en-US" sz="4000" dirty="0"/>
              <a:t>	Use server resources for ML script execution</a:t>
            </a:r>
          </a:p>
        </p:txBody>
      </p:sp>
    </p:spTree>
    <p:extLst>
      <p:ext uri="{BB962C8B-B14F-4D97-AF65-F5344CB8AC3E}">
        <p14:creationId xmlns:p14="http://schemas.microsoft.com/office/powerpoint/2010/main" val="749650605"/>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10.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7" y="2125677"/>
            <a:ext cx="11651832" cy="2179058"/>
          </a:xfrm>
        </p:spPr>
        <p:txBody>
          <a:bodyPr/>
          <a:lstStyle/>
          <a:p>
            <a:r>
              <a:rPr lang="en-US" dirty="0"/>
              <a:t>Demo - SQL Compute context</a:t>
            </a:r>
          </a:p>
        </p:txBody>
      </p:sp>
      <p:sp>
        <p:nvSpPr>
          <p:cNvPr id="5" name="Text Placeholder 4">
            <a:extLst>
              <a:ext uri="{FF2B5EF4-FFF2-40B4-BE49-F238E27FC236}">
                <a16:creationId xmlns:a16="http://schemas.microsoft.com/office/drawing/2014/main" id="{86D90F6A-36C9-446F-B5CF-D74386BB828D}"/>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4290867242"/>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11.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0AFA71-0870-4139-911A-5606E4E414AF}"/>
              </a:ext>
            </a:extLst>
          </p:cNvPr>
          <p:cNvSpPr>
            <a:spLocks noGrp="1"/>
          </p:cNvSpPr>
          <p:nvPr>
            <p:ph type="title"/>
          </p:nvPr>
        </p:nvSpPr>
        <p:spPr/>
        <p:txBody>
          <a:bodyPr/>
          <a:lstStyle/>
          <a:p>
            <a:r>
              <a:rPr lang="en-US" dirty="0" err="1"/>
              <a:t>sp_execute_external_script</a:t>
            </a:r>
            <a:endParaRPr lang="en-US" dirty="0"/>
          </a:p>
        </p:txBody>
      </p:sp>
    </p:spTree>
    <p:extLst>
      <p:ext uri="{BB962C8B-B14F-4D97-AF65-F5344CB8AC3E}">
        <p14:creationId xmlns:p14="http://schemas.microsoft.com/office/powerpoint/2010/main" val="49968853"/>
      </p:ext>
    </p:extLst>
  </p:cSld>
  <p:clrMapOvr>
    <a:masterClrMapping/>
  </p:clrMapOvr>
  <p:transition>
    <p:fade/>
  </p:transition>
</p:sld>
</file>

<file path=ppt/slides/slide12.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1A63-4262-4870-B2C0-B66ECC61876E}"/>
              </a:ext>
            </a:extLst>
          </p:cNvPr>
          <p:cNvSpPr>
            <a:spLocks noGrp="1"/>
          </p:cNvSpPr>
          <p:nvPr>
            <p:ph type="title"/>
          </p:nvPr>
        </p:nvSpPr>
        <p:spPr>
          <a:xfrm>
            <a:off x="274639" y="235509"/>
            <a:ext cx="11889564" cy="917575"/>
          </a:xfrm>
        </p:spPr>
        <p:txBody>
          <a:bodyPr/>
          <a:lstStyle/>
          <a:p>
            <a:r>
              <a:rPr lang="en-US" dirty="0"/>
              <a:t>Push data from SQL Server to external runtime</a:t>
            </a:r>
          </a:p>
        </p:txBody>
      </p:sp>
      <p:sp>
        <p:nvSpPr>
          <p:cNvPr id="3" name="Text Placeholder 2">
            <a:extLst>
              <a:ext uri="{FF2B5EF4-FFF2-40B4-BE49-F238E27FC236}">
                <a16:creationId xmlns:a16="http://schemas.microsoft.com/office/drawing/2014/main" id="{E3FAFF91-DBFC-4FE4-9D11-565CC0562C23}"/>
              </a:ext>
            </a:extLst>
          </p:cNvPr>
          <p:cNvSpPr>
            <a:spLocks noGrp="1"/>
          </p:cNvSpPr>
          <p:nvPr>
            <p:ph type="body" sz="quarter" idx="10"/>
          </p:nvPr>
        </p:nvSpPr>
        <p:spPr>
          <a:xfrm>
            <a:off x="200027" y="1201271"/>
            <a:ext cx="12021856" cy="5312223"/>
          </a:xfrm>
        </p:spPr>
        <p:txBody>
          <a:bodyPr/>
          <a:lstStyle/>
          <a:p>
            <a:pPr marL="0" indent="0">
              <a:buNone/>
            </a:pPr>
            <a:r>
              <a:rPr lang="en-US" sz="2800" dirty="0"/>
              <a:t>Requirements:</a:t>
            </a:r>
          </a:p>
          <a:p>
            <a:pPr marL="0" indent="0">
              <a:buNone/>
            </a:pPr>
            <a:r>
              <a:rPr lang="en-US" sz="2800" dirty="0"/>
              <a:t>	Enough memory for R / Python processes to store &amp; process the data</a:t>
            </a:r>
          </a:p>
          <a:p>
            <a:pPr marL="0" indent="0">
              <a:buNone/>
            </a:pPr>
            <a:endParaRPr lang="en-US" sz="2800" dirty="0"/>
          </a:p>
          <a:p>
            <a:pPr marL="0" indent="0">
              <a:buNone/>
            </a:pPr>
            <a:r>
              <a:rPr lang="en-US" sz="2800" dirty="0"/>
              <a:t>Key Benefits:</a:t>
            </a:r>
          </a:p>
          <a:p>
            <a:pPr marL="0" indent="0">
              <a:buNone/>
            </a:pPr>
            <a:r>
              <a:rPr lang="en-US" sz="2800" dirty="0"/>
              <a:t>	Only option for CRAN-R or Python functions (non </a:t>
            </a:r>
            <a:r>
              <a:rPr lang="en-US" sz="2800" dirty="0" err="1"/>
              <a:t>rx</a:t>
            </a:r>
            <a:r>
              <a:rPr lang="en-US" sz="2800" dirty="0"/>
              <a:t>*)</a:t>
            </a:r>
          </a:p>
          <a:p>
            <a:pPr marL="0" indent="0">
              <a:buNone/>
            </a:pPr>
            <a:r>
              <a:rPr lang="en-US" sz="2800" dirty="0"/>
              <a:t>	Entire query result is copied into R/Python process</a:t>
            </a:r>
          </a:p>
          <a:p>
            <a:pPr marL="0" indent="0">
              <a:buNone/>
            </a:pPr>
            <a:endParaRPr lang="en-US" sz="2800" dirty="0"/>
          </a:p>
          <a:p>
            <a:pPr marL="0" indent="0">
              <a:buNone/>
            </a:pPr>
            <a:r>
              <a:rPr lang="en-US" sz="2800" dirty="0"/>
              <a:t>Disadvantages:</a:t>
            </a:r>
          </a:p>
          <a:p>
            <a:pPr marL="0" indent="0">
              <a:buNone/>
            </a:pPr>
            <a:r>
              <a:rPr lang="en-US" sz="2800" dirty="0"/>
              <a:t>	Bound by memory allocated to R / Python processes</a:t>
            </a:r>
          </a:p>
          <a:p>
            <a:pPr marL="0" indent="0">
              <a:buNone/>
            </a:pPr>
            <a:r>
              <a:rPr lang="en-US" sz="2800"/>
              <a:t>	</a:t>
            </a:r>
            <a:r>
              <a:rPr lang="en-US" sz="2800" dirty="0"/>
              <a:t>Concurrency can be limited</a:t>
            </a:r>
          </a:p>
          <a:p>
            <a:pPr marL="0" indent="0">
              <a:buNone/>
            </a:pPr>
            <a:r>
              <a:rPr lang="en-US" sz="2800" dirty="0"/>
              <a:t>	</a:t>
            </a:r>
          </a:p>
        </p:txBody>
      </p:sp>
    </p:spTree>
    <p:extLst>
      <p:ext uri="{BB962C8B-B14F-4D97-AF65-F5344CB8AC3E}">
        <p14:creationId xmlns:p14="http://schemas.microsoft.com/office/powerpoint/2010/main" val="2079632169"/>
      </p:ext>
    </p:extLst>
  </p:cSld>
  <p:clrMapOvr>
    <a:masterClrMapping/>
  </p:clrMapOvr>
  <p:transition>
    <p:fade/>
  </p:transition>
</p:sld>
</file>

<file path=ppt/slides/slide13.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919956-7519-436A-9B11-4FAF69DA2BA4}"/>
              </a:ext>
            </a:extLst>
          </p:cNvPr>
          <p:cNvGrpSpPr/>
          <p:nvPr/>
        </p:nvGrpSpPr>
        <p:grpSpPr>
          <a:xfrm>
            <a:off x="7479272" y="2931599"/>
            <a:ext cx="2510118" cy="1672384"/>
            <a:chOff x="7479272" y="2931599"/>
            <a:chExt cx="2510118" cy="1672384"/>
          </a:xfrm>
        </p:grpSpPr>
        <p:sp>
          <p:nvSpPr>
            <p:cNvPr id="7" name="Flowchart: Process 6">
              <a:extLst>
                <a:ext uri="{FF2B5EF4-FFF2-40B4-BE49-F238E27FC236}">
                  <a16:creationId xmlns:a16="http://schemas.microsoft.com/office/drawing/2014/main" id="{7A1365F2-6777-4388-97E8-E676E7270102}"/>
                </a:ext>
              </a:extLst>
            </p:cNvPr>
            <p:cNvSpPr/>
            <p:nvPr/>
          </p:nvSpPr>
          <p:spPr bwMode="auto">
            <a:xfrm>
              <a:off x="7479272" y="2931599"/>
              <a:ext cx="2510118" cy="1672384"/>
            </a:xfrm>
            <a:prstGeom prst="flowChartProcess">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pic>
          <p:nvPicPr>
            <p:cNvPr id="6" name="Picture 2" descr="Bildresultat för R Language">
              <a:extLst>
                <a:ext uri="{FF2B5EF4-FFF2-40B4-BE49-F238E27FC236}">
                  <a16:creationId xmlns:a16="http://schemas.microsoft.com/office/drawing/2014/main" id="{E5958350-D7D4-40C9-84D5-CDBF91C50E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2981" y="3043659"/>
              <a:ext cx="431924" cy="33475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ildresultat för python language">
              <a:extLst>
                <a:ext uri="{FF2B5EF4-FFF2-40B4-BE49-F238E27FC236}">
                  <a16:creationId xmlns:a16="http://schemas.microsoft.com/office/drawing/2014/main" id="{6FFC9377-C2C3-4E19-892C-9667F6A254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4623" y="2938651"/>
              <a:ext cx="544767" cy="544767"/>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285E1A63-4262-4870-B2C0-B66ECC61876E}"/>
              </a:ext>
            </a:extLst>
          </p:cNvPr>
          <p:cNvSpPr>
            <a:spLocks noGrp="1"/>
          </p:cNvSpPr>
          <p:nvPr>
            <p:ph type="title"/>
          </p:nvPr>
        </p:nvSpPr>
        <p:spPr>
          <a:xfrm>
            <a:off x="274639" y="235509"/>
            <a:ext cx="11889564" cy="917575"/>
          </a:xfrm>
        </p:spPr>
        <p:txBody>
          <a:bodyPr/>
          <a:lstStyle/>
          <a:p>
            <a:r>
              <a:rPr lang="en-US" dirty="0"/>
              <a:t>Push data from SQL Server to external runtime</a:t>
            </a:r>
          </a:p>
        </p:txBody>
      </p:sp>
      <p:grpSp>
        <p:nvGrpSpPr>
          <p:cNvPr id="11" name="Group 10">
            <a:extLst>
              <a:ext uri="{FF2B5EF4-FFF2-40B4-BE49-F238E27FC236}">
                <a16:creationId xmlns:a16="http://schemas.microsoft.com/office/drawing/2014/main" id="{D8FC56E9-F6A4-4D52-A5A0-2BD48C4C9073}"/>
              </a:ext>
            </a:extLst>
          </p:cNvPr>
          <p:cNvGrpSpPr/>
          <p:nvPr/>
        </p:nvGrpSpPr>
        <p:grpSpPr>
          <a:xfrm>
            <a:off x="1989535" y="2215670"/>
            <a:ext cx="3025616" cy="3067277"/>
            <a:chOff x="2261746" y="3210080"/>
            <a:chExt cx="3025616" cy="3067277"/>
          </a:xfrm>
        </p:grpSpPr>
        <p:sp>
          <p:nvSpPr>
            <p:cNvPr id="4" name="Cylinder 3">
              <a:extLst>
                <a:ext uri="{FF2B5EF4-FFF2-40B4-BE49-F238E27FC236}">
                  <a16:creationId xmlns:a16="http://schemas.microsoft.com/office/drawing/2014/main" id="{79DFBAF9-ADFF-4F4F-BDA9-F654255E6BA1}"/>
                </a:ext>
              </a:extLst>
            </p:cNvPr>
            <p:cNvSpPr/>
            <p:nvPr/>
          </p:nvSpPr>
          <p:spPr bwMode="auto">
            <a:xfrm>
              <a:off x="2261746" y="3210080"/>
              <a:ext cx="3025616" cy="3067277"/>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p:txBody>
        </p:sp>
        <p:sp>
          <p:nvSpPr>
            <p:cNvPr id="5" name="Flowchart: Data 4">
              <a:extLst>
                <a:ext uri="{FF2B5EF4-FFF2-40B4-BE49-F238E27FC236}">
                  <a16:creationId xmlns:a16="http://schemas.microsoft.com/office/drawing/2014/main" id="{874205B3-325F-4702-93FC-02615997F5A6}"/>
                </a:ext>
              </a:extLst>
            </p:cNvPr>
            <p:cNvSpPr/>
            <p:nvPr/>
          </p:nvSpPr>
          <p:spPr bwMode="auto">
            <a:xfrm>
              <a:off x="2348753" y="4411297"/>
              <a:ext cx="2880659" cy="1076357"/>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sp_execute_external_script</a:t>
              </a:r>
              <a:endPar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@input_data_1 = N’</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SELECT * FROM </a:t>
              </a: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TrainingData</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a:t>
              </a: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
        <p:nvSpPr>
          <p:cNvPr id="8" name="Flowchart: Data 7">
            <a:extLst>
              <a:ext uri="{FF2B5EF4-FFF2-40B4-BE49-F238E27FC236}">
                <a16:creationId xmlns:a16="http://schemas.microsoft.com/office/drawing/2014/main" id="{641DD567-F8C0-416D-AA9E-24B1D2BBC33F}"/>
              </a:ext>
            </a:extLst>
          </p:cNvPr>
          <p:cNvSpPr/>
          <p:nvPr/>
        </p:nvSpPr>
        <p:spPr bwMode="auto">
          <a:xfrm>
            <a:off x="7479272" y="3490470"/>
            <a:ext cx="2510118" cy="1077839"/>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InputDataset</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data.frame</a:t>
            </a:r>
            <a:endPar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OR</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Pandas</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dataframe</a:t>
            </a: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cxnSp>
        <p:nvCxnSpPr>
          <p:cNvPr id="14" name="Connector: Elbow 13">
            <a:extLst>
              <a:ext uri="{FF2B5EF4-FFF2-40B4-BE49-F238E27FC236}">
                <a16:creationId xmlns:a16="http://schemas.microsoft.com/office/drawing/2014/main" id="{EFC85D7C-DED1-4D0F-A375-1B8693446F91}"/>
              </a:ext>
            </a:extLst>
          </p:cNvPr>
          <p:cNvCxnSpPr>
            <a:cxnSpLocks/>
          </p:cNvCxnSpPr>
          <p:nvPr/>
        </p:nvCxnSpPr>
        <p:spPr>
          <a:xfrm flipV="1">
            <a:off x="5015151" y="3737358"/>
            <a:ext cx="2406171" cy="1"/>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253304"/>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8" y="295274"/>
            <a:ext cx="12720925" cy="917575"/>
          </a:xfrm>
        </p:spPr>
        <p:txBody>
          <a:bodyPr/>
          <a:lstStyle/>
          <a:p>
            <a:r>
              <a:rPr lang="en-US" sz="4200" dirty="0"/>
              <a:t>Pushing data from query to external runtime</a:t>
            </a:r>
          </a:p>
        </p:txBody>
      </p:sp>
      <p:sp>
        <p:nvSpPr>
          <p:cNvPr id="5" name="Text Placeholder 4"/>
          <p:cNvSpPr>
            <a:spLocks noGrp="1"/>
          </p:cNvSpPr>
          <p:nvPr>
            <p:ph type="body" sz="quarter" idx="10"/>
          </p:nvPr>
        </p:nvSpPr>
        <p:spPr>
          <a:xfrm>
            <a:off x="274638" y="1221157"/>
            <a:ext cx="11887199" cy="5816977"/>
          </a:xfrm>
        </p:spPr>
        <p:txBody>
          <a:bodyPr/>
          <a:lstStyle/>
          <a:p>
            <a:r>
              <a:rPr lang="en-US" sz="2000" dirty="0">
                <a:solidFill>
                  <a:schemeClr val="bg1"/>
                </a:solidFill>
              </a:rPr>
              <a:t>exec </a:t>
            </a:r>
            <a:r>
              <a:rPr lang="en-US" sz="2000" dirty="0" err="1">
                <a:solidFill>
                  <a:schemeClr val="bg1"/>
                </a:solidFill>
              </a:rPr>
              <a:t>sp_execute_external_script</a:t>
            </a:r>
            <a:endParaRPr lang="en-US" sz="2000" dirty="0">
              <a:solidFill>
                <a:schemeClr val="bg1"/>
              </a:solidFill>
            </a:endParaRPr>
          </a:p>
          <a:p>
            <a:r>
              <a:rPr lang="en-US" sz="2000" dirty="0">
                <a:solidFill>
                  <a:schemeClr val="bg1"/>
                </a:solidFill>
              </a:rPr>
              <a:t>	@language = N'R'</a:t>
            </a:r>
          </a:p>
          <a:p>
            <a:r>
              <a:rPr lang="en-US" sz="2000" dirty="0">
                <a:solidFill>
                  <a:schemeClr val="bg1"/>
                </a:solidFill>
              </a:rPr>
              <a:t>	, @script = N'</a:t>
            </a:r>
          </a:p>
          <a:p>
            <a:r>
              <a:rPr lang="en-US" sz="2000" dirty="0">
                <a:solidFill>
                  <a:schemeClr val="bg1"/>
                </a:solidFill>
              </a:rPr>
              <a:t># build classification model to predict tipped or not</a:t>
            </a:r>
          </a:p>
          <a:p>
            <a:r>
              <a:rPr lang="en-US" sz="2000" b="1" dirty="0" err="1">
                <a:solidFill>
                  <a:schemeClr val="bg1"/>
                </a:solidFill>
              </a:rPr>
              <a:t>model_generation_duration</a:t>
            </a:r>
            <a:r>
              <a:rPr lang="en-US" sz="2000" dirty="0">
                <a:solidFill>
                  <a:schemeClr val="bg1"/>
                </a:solidFill>
              </a:rPr>
              <a:t> &lt;- </a:t>
            </a:r>
            <a:r>
              <a:rPr lang="en-US" sz="2000" dirty="0" err="1">
                <a:solidFill>
                  <a:schemeClr val="bg1"/>
                </a:solidFill>
              </a:rPr>
              <a:t>system.time</a:t>
            </a:r>
            <a:r>
              <a:rPr lang="en-US" sz="2000" dirty="0">
                <a:solidFill>
                  <a:schemeClr val="bg1"/>
                </a:solidFill>
              </a:rPr>
              <a:t>(</a:t>
            </a:r>
          </a:p>
          <a:p>
            <a:r>
              <a:rPr lang="en-US" sz="2000" dirty="0">
                <a:solidFill>
                  <a:schemeClr val="bg1"/>
                </a:solidFill>
              </a:rPr>
              <a:t>  </a:t>
            </a:r>
            <a:r>
              <a:rPr lang="en-US" sz="2000" dirty="0" err="1">
                <a:solidFill>
                  <a:schemeClr val="bg1"/>
                </a:solidFill>
              </a:rPr>
              <a:t>logitObj</a:t>
            </a:r>
            <a:r>
              <a:rPr lang="en-US" sz="2000" dirty="0">
                <a:solidFill>
                  <a:schemeClr val="bg1"/>
                </a:solidFill>
              </a:rPr>
              <a:t> &lt;- </a:t>
            </a:r>
            <a:r>
              <a:rPr lang="en-US" sz="2000" dirty="0" err="1">
                <a:solidFill>
                  <a:schemeClr val="bg1"/>
                </a:solidFill>
              </a:rPr>
              <a:t>glm</a:t>
            </a:r>
            <a:r>
              <a:rPr lang="en-US" sz="2000" dirty="0">
                <a:solidFill>
                  <a:schemeClr val="bg1"/>
                </a:solidFill>
              </a:rPr>
              <a:t>(tipped ~ </a:t>
            </a:r>
            <a:r>
              <a:rPr lang="en-US" sz="2000" dirty="0" err="1">
                <a:solidFill>
                  <a:schemeClr val="bg1"/>
                </a:solidFill>
              </a:rPr>
              <a:t>passenger_count</a:t>
            </a:r>
            <a:r>
              <a:rPr lang="en-US" sz="2000" dirty="0">
                <a:solidFill>
                  <a:schemeClr val="bg1"/>
                </a:solidFill>
              </a:rPr>
              <a:t> + </a:t>
            </a:r>
            <a:r>
              <a:rPr lang="en-US" sz="2000" dirty="0" err="1">
                <a:solidFill>
                  <a:schemeClr val="bg1"/>
                </a:solidFill>
              </a:rPr>
              <a:t>trip_distance</a:t>
            </a:r>
            <a:r>
              <a:rPr lang="en-US" sz="2000" dirty="0">
                <a:solidFill>
                  <a:schemeClr val="bg1"/>
                </a:solidFill>
              </a:rPr>
              <a:t> + </a:t>
            </a:r>
            <a:r>
              <a:rPr lang="en-US" sz="2000" dirty="0" err="1">
                <a:solidFill>
                  <a:schemeClr val="bg1"/>
                </a:solidFill>
              </a:rPr>
              <a:t>trip_time_in_secs</a:t>
            </a:r>
            <a:r>
              <a:rPr lang="en-US" sz="2000" dirty="0">
                <a:solidFill>
                  <a:schemeClr val="bg1"/>
                </a:solidFill>
              </a:rPr>
              <a:t> +</a:t>
            </a:r>
          </a:p>
          <a:p>
            <a:r>
              <a:rPr lang="en-US" sz="2000" dirty="0">
                <a:solidFill>
                  <a:schemeClr val="bg1"/>
                </a:solidFill>
              </a:rPr>
              <a:t>                   </a:t>
            </a:r>
            <a:r>
              <a:rPr lang="en-US" sz="2000" dirty="0" err="1">
                <a:solidFill>
                  <a:schemeClr val="bg1"/>
                </a:solidFill>
              </a:rPr>
              <a:t>direct_distance</a:t>
            </a:r>
            <a:r>
              <a:rPr lang="en-US" sz="2000" dirty="0">
                <a:solidFill>
                  <a:schemeClr val="bg1"/>
                </a:solidFill>
              </a:rPr>
              <a:t>, data = </a:t>
            </a:r>
            <a:r>
              <a:rPr lang="en-US" sz="2000" b="1" dirty="0" err="1">
                <a:solidFill>
                  <a:schemeClr val="accent2"/>
                </a:solidFill>
              </a:rPr>
              <a:t>InputDataSet</a:t>
            </a:r>
            <a:r>
              <a:rPr lang="en-US" sz="2000" dirty="0">
                <a:solidFill>
                  <a:schemeClr val="bg1"/>
                </a:solidFill>
              </a:rPr>
              <a:t>,</a:t>
            </a:r>
          </a:p>
          <a:p>
            <a:r>
              <a:rPr lang="en-US" sz="2000" dirty="0">
                <a:solidFill>
                  <a:schemeClr val="bg1"/>
                </a:solidFill>
              </a:rPr>
              <a:t>                   family = binomial(link=logit)))[3];</a:t>
            </a:r>
          </a:p>
          <a:p>
            <a:endParaRPr lang="en-US" sz="2000" dirty="0">
              <a:solidFill>
                <a:schemeClr val="bg1"/>
              </a:solidFill>
            </a:endParaRPr>
          </a:p>
          <a:p>
            <a:r>
              <a:rPr lang="en-US" sz="2000" dirty="0">
                <a:solidFill>
                  <a:schemeClr val="bg1"/>
                </a:solidFill>
              </a:rPr>
              <a:t># First, serialize a model and put it into a database table</a:t>
            </a:r>
          </a:p>
          <a:p>
            <a:r>
              <a:rPr lang="en-US" sz="2000" b="1" dirty="0" err="1">
                <a:solidFill>
                  <a:schemeClr val="bg1"/>
                </a:solidFill>
              </a:rPr>
              <a:t>modelbin</a:t>
            </a:r>
            <a:r>
              <a:rPr lang="en-US" sz="2000" dirty="0">
                <a:solidFill>
                  <a:schemeClr val="bg1"/>
                </a:solidFill>
              </a:rPr>
              <a:t> &lt;- serialize(</a:t>
            </a:r>
            <a:r>
              <a:rPr lang="en-US" sz="2000" dirty="0" err="1">
                <a:solidFill>
                  <a:schemeClr val="bg1"/>
                </a:solidFill>
              </a:rPr>
              <a:t>logitObj</a:t>
            </a:r>
            <a:r>
              <a:rPr lang="en-US" sz="2000" dirty="0">
                <a:solidFill>
                  <a:schemeClr val="bg1"/>
                </a:solidFill>
              </a:rPr>
              <a:t>, NULL);</a:t>
            </a:r>
          </a:p>
          <a:p>
            <a:r>
              <a:rPr lang="en-US" sz="2000" dirty="0">
                <a:solidFill>
                  <a:schemeClr val="bg1"/>
                </a:solidFill>
              </a:rPr>
              <a:t>	'</a:t>
            </a:r>
          </a:p>
          <a:p>
            <a:r>
              <a:rPr lang="en-US" sz="2000" dirty="0">
                <a:solidFill>
                  <a:schemeClr val="bg1"/>
                </a:solidFill>
              </a:rPr>
              <a:t>	, @input_data_1 = N'</a:t>
            </a:r>
            <a:r>
              <a:rPr lang="en-US" sz="2000" b="1" dirty="0">
                <a:solidFill>
                  <a:schemeClr val="accent2"/>
                </a:solidFill>
              </a:rPr>
              <a:t>SELECT * FROM </a:t>
            </a:r>
            <a:r>
              <a:rPr lang="en-US" sz="2000" b="1" dirty="0" err="1">
                <a:solidFill>
                  <a:schemeClr val="accent2"/>
                </a:solidFill>
              </a:rPr>
              <a:t>nyctaxi_training_sample</a:t>
            </a:r>
            <a:r>
              <a:rPr lang="en-US" sz="2000" dirty="0">
                <a:solidFill>
                  <a:schemeClr val="bg1"/>
                </a:solidFill>
              </a:rPr>
              <a:t>'</a:t>
            </a:r>
          </a:p>
          <a:p>
            <a:r>
              <a:rPr lang="en-US" sz="2000" dirty="0">
                <a:solidFill>
                  <a:schemeClr val="bg1"/>
                </a:solidFill>
              </a:rPr>
              <a:t>	, @</a:t>
            </a:r>
            <a:r>
              <a:rPr lang="en-US" sz="2000" dirty="0" err="1">
                <a:solidFill>
                  <a:schemeClr val="bg1"/>
                </a:solidFill>
              </a:rPr>
              <a:t>params</a:t>
            </a:r>
            <a:r>
              <a:rPr lang="en-US" sz="2000" dirty="0">
                <a:solidFill>
                  <a:schemeClr val="bg1"/>
                </a:solidFill>
              </a:rPr>
              <a:t> = N'@</a:t>
            </a:r>
            <a:r>
              <a:rPr lang="en-US" sz="2000" b="1" dirty="0" err="1">
                <a:solidFill>
                  <a:schemeClr val="bg1"/>
                </a:solidFill>
              </a:rPr>
              <a:t>modelbin</a:t>
            </a:r>
            <a:r>
              <a:rPr lang="en-US" sz="2000" dirty="0">
                <a:solidFill>
                  <a:schemeClr val="bg1"/>
                </a:solidFill>
              </a:rPr>
              <a:t> </a:t>
            </a:r>
            <a:r>
              <a:rPr lang="en-US" sz="2000" dirty="0" err="1">
                <a:solidFill>
                  <a:schemeClr val="bg1"/>
                </a:solidFill>
              </a:rPr>
              <a:t>varbinary</a:t>
            </a:r>
            <a:r>
              <a:rPr lang="en-US" sz="2000" dirty="0">
                <a:solidFill>
                  <a:schemeClr val="bg1"/>
                </a:solidFill>
              </a:rPr>
              <a:t>(max) OUTPUT, @</a:t>
            </a:r>
            <a:r>
              <a:rPr lang="en-US" sz="2000" b="1" dirty="0" err="1">
                <a:solidFill>
                  <a:schemeClr val="bg1"/>
                </a:solidFill>
              </a:rPr>
              <a:t>model_generation_duration</a:t>
            </a:r>
            <a:r>
              <a:rPr lang="en-US" sz="2000" dirty="0">
                <a:solidFill>
                  <a:schemeClr val="bg1"/>
                </a:solidFill>
              </a:rPr>
              <a:t> float OUTPUT'</a:t>
            </a:r>
          </a:p>
          <a:p>
            <a:r>
              <a:rPr lang="en-US" sz="2000" dirty="0">
                <a:solidFill>
                  <a:schemeClr val="bg1"/>
                </a:solidFill>
              </a:rPr>
              <a:t>	, @</a:t>
            </a:r>
            <a:r>
              <a:rPr lang="en-US" sz="2000" b="1" dirty="0" err="1">
                <a:solidFill>
                  <a:schemeClr val="bg1"/>
                </a:solidFill>
              </a:rPr>
              <a:t>modelbin</a:t>
            </a:r>
            <a:r>
              <a:rPr lang="en-US" sz="2000" dirty="0">
                <a:solidFill>
                  <a:schemeClr val="bg1"/>
                </a:solidFill>
              </a:rPr>
              <a:t> = @model OUTPUT</a:t>
            </a:r>
          </a:p>
          <a:p>
            <a:r>
              <a:rPr lang="en-US" sz="2000" dirty="0">
                <a:solidFill>
                  <a:schemeClr val="bg1"/>
                </a:solidFill>
              </a:rPr>
              <a:t>	, @</a:t>
            </a:r>
            <a:r>
              <a:rPr lang="en-US" sz="2000" b="1" dirty="0" err="1">
                <a:solidFill>
                  <a:schemeClr val="bg1"/>
                </a:solidFill>
              </a:rPr>
              <a:t>model_generation_duration</a:t>
            </a:r>
            <a:r>
              <a:rPr lang="en-US" sz="2000" dirty="0">
                <a:solidFill>
                  <a:schemeClr val="bg1"/>
                </a:solidFill>
              </a:rPr>
              <a:t> = @</a:t>
            </a:r>
            <a:r>
              <a:rPr lang="en-US" sz="2000" dirty="0" err="1">
                <a:solidFill>
                  <a:schemeClr val="bg1"/>
                </a:solidFill>
              </a:rPr>
              <a:t>model_generation_duration</a:t>
            </a:r>
            <a:r>
              <a:rPr lang="en-US" sz="2000" dirty="0">
                <a:solidFill>
                  <a:schemeClr val="bg1"/>
                </a:solidFill>
              </a:rPr>
              <a:t> OUTPUT;</a:t>
            </a:r>
          </a:p>
        </p:txBody>
      </p:sp>
    </p:spTree>
    <p:extLst>
      <p:ext uri="{BB962C8B-B14F-4D97-AF65-F5344CB8AC3E}">
        <p14:creationId xmlns:p14="http://schemas.microsoft.com/office/powerpoint/2010/main" val="3049028121"/>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15.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6" y="2125677"/>
            <a:ext cx="12323763" cy="2179058"/>
          </a:xfrm>
        </p:spPr>
        <p:txBody>
          <a:bodyPr/>
          <a:lstStyle/>
          <a:p>
            <a:r>
              <a:rPr lang="en-US" dirty="0"/>
              <a:t>Demo – Push data to R/Python</a:t>
            </a:r>
          </a:p>
        </p:txBody>
      </p:sp>
      <p:sp>
        <p:nvSpPr>
          <p:cNvPr id="5" name="Text Placeholder 4">
            <a:extLst>
              <a:ext uri="{FF2B5EF4-FFF2-40B4-BE49-F238E27FC236}">
                <a16:creationId xmlns:a16="http://schemas.microsoft.com/office/drawing/2014/main" id="{86D90F6A-36C9-446F-B5CF-D74386BB828D}"/>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2652244710"/>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16.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1A63-4262-4870-B2C0-B66ECC61876E}"/>
              </a:ext>
            </a:extLst>
          </p:cNvPr>
          <p:cNvSpPr>
            <a:spLocks noGrp="1"/>
          </p:cNvSpPr>
          <p:nvPr>
            <p:ph type="title"/>
          </p:nvPr>
        </p:nvSpPr>
        <p:spPr/>
        <p:txBody>
          <a:bodyPr/>
          <a:lstStyle/>
          <a:p>
            <a:r>
              <a:rPr lang="en-US" dirty="0"/>
              <a:t>Streaming execution of R / Python scripts</a:t>
            </a:r>
          </a:p>
        </p:txBody>
      </p:sp>
      <p:sp>
        <p:nvSpPr>
          <p:cNvPr id="3" name="Text Placeholder 2">
            <a:extLst>
              <a:ext uri="{FF2B5EF4-FFF2-40B4-BE49-F238E27FC236}">
                <a16:creationId xmlns:a16="http://schemas.microsoft.com/office/drawing/2014/main" id="{E3FAFF91-DBFC-4FE4-9D11-565CC0562C23}"/>
              </a:ext>
            </a:extLst>
          </p:cNvPr>
          <p:cNvSpPr>
            <a:spLocks noGrp="1"/>
          </p:cNvSpPr>
          <p:nvPr>
            <p:ph type="body" sz="quarter" idx="10"/>
          </p:nvPr>
        </p:nvSpPr>
        <p:spPr>
          <a:xfrm>
            <a:off x="275416" y="1417163"/>
            <a:ext cx="11888787" cy="4801314"/>
          </a:xfrm>
        </p:spPr>
        <p:txBody>
          <a:bodyPr/>
          <a:lstStyle/>
          <a:p>
            <a:pPr marL="0" indent="0">
              <a:buNone/>
            </a:pPr>
            <a:r>
              <a:rPr lang="en-US" sz="4000" dirty="0">
                <a:solidFill>
                  <a:schemeClr val="tx1"/>
                </a:solidFill>
                <a:latin typeface="Segoe UI Light" pitchFamily="34" charset="0"/>
              </a:rPr>
              <a:t>Requirements:</a:t>
            </a:r>
          </a:p>
          <a:p>
            <a:pPr marL="0" indent="0">
              <a:buNone/>
            </a:pPr>
            <a:r>
              <a:rPr lang="en-US" sz="4000" dirty="0">
                <a:solidFill>
                  <a:schemeClr val="tx1"/>
                </a:solidFill>
                <a:latin typeface="Segoe UI Light" pitchFamily="34" charset="0"/>
              </a:rPr>
              <a:t>	No dependency between rows (ex: scoring)</a:t>
            </a:r>
          </a:p>
          <a:p>
            <a:pPr marL="0" indent="0">
              <a:buNone/>
            </a:pPr>
            <a:endParaRPr lang="en-US" sz="4000" dirty="0">
              <a:solidFill>
                <a:schemeClr val="tx1"/>
              </a:solidFill>
              <a:latin typeface="Segoe UI Light" pitchFamily="34" charset="0"/>
            </a:endParaRPr>
          </a:p>
          <a:p>
            <a:pPr marL="0" indent="0">
              <a:buNone/>
            </a:pPr>
            <a:r>
              <a:rPr lang="en-US" sz="4000" dirty="0">
                <a:solidFill>
                  <a:schemeClr val="tx1"/>
                </a:solidFill>
                <a:latin typeface="Segoe UI Light" pitchFamily="34" charset="0"/>
              </a:rPr>
              <a:t>Key Benefits:</a:t>
            </a:r>
          </a:p>
          <a:p>
            <a:pPr marL="0" indent="0">
              <a:buNone/>
            </a:pPr>
            <a:r>
              <a:rPr lang="en-US" sz="4000" dirty="0">
                <a:solidFill>
                  <a:schemeClr val="tx1"/>
                </a:solidFill>
                <a:latin typeface="Segoe UI Light" pitchFamily="34" charset="0"/>
              </a:rPr>
              <a:t>	Execute script over chunks of data</a:t>
            </a:r>
          </a:p>
          <a:p>
            <a:pPr marL="0" indent="0">
              <a:buNone/>
            </a:pPr>
            <a:r>
              <a:rPr lang="en-US" sz="4000" dirty="0">
                <a:solidFill>
                  <a:schemeClr val="tx1"/>
                </a:solidFill>
                <a:latin typeface="Segoe UI Light" pitchFamily="34" charset="0"/>
              </a:rPr>
              <a:t>	Process data that doesn’t fit in memory</a:t>
            </a:r>
          </a:p>
          <a:p>
            <a:pPr marL="0" indent="0">
              <a:buNone/>
            </a:pPr>
            <a:r>
              <a:rPr lang="en-US" sz="4000" dirty="0">
                <a:solidFill>
                  <a:schemeClr val="tx1"/>
                </a:solidFill>
                <a:latin typeface="Segoe UI Light" pitchFamily="34" charset="0"/>
              </a:rPr>
              <a:t>	Can be used from client (</a:t>
            </a:r>
            <a:r>
              <a:rPr lang="en-US" sz="4000" dirty="0" err="1">
                <a:solidFill>
                  <a:schemeClr val="tx1"/>
                </a:solidFill>
                <a:latin typeface="Segoe UI Light" pitchFamily="34" charset="0"/>
              </a:rPr>
              <a:t>rx</a:t>
            </a:r>
            <a:r>
              <a:rPr lang="en-US" sz="4000" dirty="0">
                <a:solidFill>
                  <a:schemeClr val="tx1"/>
                </a:solidFill>
                <a:latin typeface="Segoe UI Light" pitchFamily="34" charset="0"/>
              </a:rPr>
              <a:t>* function) or server</a:t>
            </a:r>
          </a:p>
        </p:txBody>
      </p:sp>
    </p:spTree>
    <p:extLst>
      <p:ext uri="{BB962C8B-B14F-4D97-AF65-F5344CB8AC3E}">
        <p14:creationId xmlns:p14="http://schemas.microsoft.com/office/powerpoint/2010/main" val="1408131571"/>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17.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8ED229EB-E44C-4830-9BDE-E6C14381EE95}"/>
              </a:ext>
            </a:extLst>
          </p:cNvPr>
          <p:cNvCxnSpPr>
            <a:cxnSpLocks/>
            <a:stCxn id="7" idx="3"/>
          </p:cNvCxnSpPr>
          <p:nvPr/>
        </p:nvCxnSpPr>
        <p:spPr>
          <a:xfrm>
            <a:off x="5074773" y="3574461"/>
            <a:ext cx="1917687" cy="16685"/>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9A8FEBD4-E134-45FE-93EA-B1115445B621}"/>
              </a:ext>
            </a:extLst>
          </p:cNvPr>
          <p:cNvSpPr/>
          <p:nvPr/>
        </p:nvSpPr>
        <p:spPr bwMode="auto">
          <a:xfrm>
            <a:off x="5914715" y="3761703"/>
            <a:ext cx="1069807" cy="61274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5000</a:t>
            </a:r>
          </a:p>
        </p:txBody>
      </p:sp>
      <p:sp>
        <p:nvSpPr>
          <p:cNvPr id="7" name="Rectangle 6">
            <a:extLst>
              <a:ext uri="{FF2B5EF4-FFF2-40B4-BE49-F238E27FC236}">
                <a16:creationId xmlns:a16="http://schemas.microsoft.com/office/drawing/2014/main" id="{DB9C1AA5-E461-4E1C-8068-B2335B5F50F9}"/>
              </a:ext>
            </a:extLst>
          </p:cNvPr>
          <p:cNvSpPr/>
          <p:nvPr/>
        </p:nvSpPr>
        <p:spPr bwMode="auto">
          <a:xfrm>
            <a:off x="4063871" y="3268090"/>
            <a:ext cx="1010902" cy="61274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5000</a:t>
            </a:r>
          </a:p>
        </p:txBody>
      </p:sp>
      <p:sp>
        <p:nvSpPr>
          <p:cNvPr id="8" name="Rectangle 7">
            <a:extLst>
              <a:ext uri="{FF2B5EF4-FFF2-40B4-BE49-F238E27FC236}">
                <a16:creationId xmlns:a16="http://schemas.microsoft.com/office/drawing/2014/main" id="{4F9AF56A-1386-4E9A-8D75-17507365704D}"/>
              </a:ext>
            </a:extLst>
          </p:cNvPr>
          <p:cNvSpPr/>
          <p:nvPr/>
        </p:nvSpPr>
        <p:spPr bwMode="auto">
          <a:xfrm>
            <a:off x="8362587" y="4296467"/>
            <a:ext cx="1054907" cy="61274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5000</a:t>
            </a:r>
          </a:p>
        </p:txBody>
      </p:sp>
      <p:sp>
        <p:nvSpPr>
          <p:cNvPr id="10" name="Cylinder 9">
            <a:extLst>
              <a:ext uri="{FF2B5EF4-FFF2-40B4-BE49-F238E27FC236}">
                <a16:creationId xmlns:a16="http://schemas.microsoft.com/office/drawing/2014/main" id="{6A44FCAB-6572-4DB1-93EB-FEAD60F90B56}"/>
              </a:ext>
            </a:extLst>
          </p:cNvPr>
          <p:cNvSpPr/>
          <p:nvPr/>
        </p:nvSpPr>
        <p:spPr bwMode="auto">
          <a:xfrm>
            <a:off x="708399" y="2050181"/>
            <a:ext cx="3007151" cy="3491637"/>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lumMod val="95000"/>
                  </a:srgbClr>
                </a:solidFill>
                <a:effectLst/>
                <a:uLnTx/>
                <a:uFillTx/>
                <a:latin typeface="Segoe UI Semilight"/>
                <a:ea typeface="Segoe UI" pitchFamily="34" charset="0"/>
                <a:cs typeface="Segoe UI" pitchFamily="34" charset="0"/>
              </a:rPr>
              <a:t>Dataset = 15000 Rows</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Sp_execute_external_script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light"/>
                <a:ea typeface="+mn-ea"/>
                <a:cs typeface="+mn-cs"/>
              </a:rPr>
              <a:t>@</a:t>
            </a:r>
            <a:r>
              <a:rPr kumimoji="0" lang="en-US" sz="1800" b="0" i="0" u="none" strike="noStrike" kern="1200" cap="none" spc="0" normalizeH="0" baseline="0" noProof="0" dirty="0" err="1">
                <a:ln>
                  <a:noFill/>
                </a:ln>
                <a:solidFill>
                  <a:srgbClr val="FFFFFF"/>
                </a:solidFill>
                <a:effectLst/>
                <a:uLnTx/>
                <a:uFillTx/>
                <a:latin typeface="Segoe UI Semilight"/>
                <a:ea typeface="+mn-ea"/>
                <a:cs typeface="+mn-cs"/>
              </a:rPr>
              <a:t>r_rowsPerRead</a:t>
            </a:r>
            <a:r>
              <a:rPr kumimoji="0" lang="en-US" sz="1800" b="1"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 = 5000</a:t>
            </a:r>
          </a:p>
        </p:txBody>
      </p:sp>
      <p:cxnSp>
        <p:nvCxnSpPr>
          <p:cNvPr id="11" name="Straight Arrow Connector 10">
            <a:extLst>
              <a:ext uri="{FF2B5EF4-FFF2-40B4-BE49-F238E27FC236}">
                <a16:creationId xmlns:a16="http://schemas.microsoft.com/office/drawing/2014/main" id="{1B7A7C74-5A8C-42EC-88C6-4305B98D2914}"/>
              </a:ext>
            </a:extLst>
          </p:cNvPr>
          <p:cNvCxnSpPr>
            <a:cxnSpLocks/>
            <a:stCxn id="6" idx="3"/>
          </p:cNvCxnSpPr>
          <p:nvPr/>
        </p:nvCxnSpPr>
        <p:spPr>
          <a:xfrm>
            <a:off x="6984522" y="4068074"/>
            <a:ext cx="2323107"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143936B-3CFF-42BE-8366-A7916CA1B9AA}"/>
              </a:ext>
            </a:extLst>
          </p:cNvPr>
          <p:cNvCxnSpPr>
            <a:cxnSpLocks/>
          </p:cNvCxnSpPr>
          <p:nvPr/>
        </p:nvCxnSpPr>
        <p:spPr>
          <a:xfrm>
            <a:off x="9417494" y="4598361"/>
            <a:ext cx="1122169" cy="447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4B1019D-4CDF-42E4-A908-0485AFB47B7A}"/>
              </a:ext>
            </a:extLst>
          </p:cNvPr>
          <p:cNvSpPr txBox="1"/>
          <p:nvPr/>
        </p:nvSpPr>
        <p:spPr>
          <a:xfrm>
            <a:off x="5842784" y="3159359"/>
            <a:ext cx="1703025"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Predict()              </a:t>
            </a:r>
          </a:p>
        </p:txBody>
      </p:sp>
      <p:sp>
        <p:nvSpPr>
          <p:cNvPr id="15" name="TextBox 14">
            <a:extLst>
              <a:ext uri="{FF2B5EF4-FFF2-40B4-BE49-F238E27FC236}">
                <a16:creationId xmlns:a16="http://schemas.microsoft.com/office/drawing/2014/main" id="{34727D2E-AD23-417A-91A4-6575A9AF03C8}"/>
              </a:ext>
            </a:extLst>
          </p:cNvPr>
          <p:cNvSpPr txBox="1"/>
          <p:nvPr/>
        </p:nvSpPr>
        <p:spPr>
          <a:xfrm>
            <a:off x="8362587" y="3608097"/>
            <a:ext cx="1703025"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Predict()</a:t>
            </a:r>
          </a:p>
        </p:txBody>
      </p:sp>
      <p:sp>
        <p:nvSpPr>
          <p:cNvPr id="16" name="TextBox 15">
            <a:extLst>
              <a:ext uri="{FF2B5EF4-FFF2-40B4-BE49-F238E27FC236}">
                <a16:creationId xmlns:a16="http://schemas.microsoft.com/office/drawing/2014/main" id="{711D1E29-7AE3-4B2B-A872-A7C40EFD7419}"/>
              </a:ext>
            </a:extLst>
          </p:cNvPr>
          <p:cNvSpPr txBox="1"/>
          <p:nvPr/>
        </p:nvSpPr>
        <p:spPr>
          <a:xfrm>
            <a:off x="9378377" y="4048107"/>
            <a:ext cx="1703025"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Predict()</a:t>
            </a:r>
          </a:p>
        </p:txBody>
      </p:sp>
      <p:sp>
        <p:nvSpPr>
          <p:cNvPr id="17" name="Title 1">
            <a:extLst>
              <a:ext uri="{FF2B5EF4-FFF2-40B4-BE49-F238E27FC236}">
                <a16:creationId xmlns:a16="http://schemas.microsoft.com/office/drawing/2014/main" id="{D227D11C-5B8A-4E4F-AAE7-8B8288B26DAC}"/>
              </a:ext>
            </a:extLst>
          </p:cNvPr>
          <p:cNvSpPr txBox="1">
            <a:spLocks/>
          </p:cNvSpPr>
          <p:nvPr/>
        </p:nvSpPr>
        <p:spPr>
          <a:xfrm>
            <a:off x="427039" y="447674"/>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kumimoji="0" lang="en-US" sz="4800" b="0" i="0" u="none" strike="noStrike" kern="1200" cap="none" spc="-102" normalizeH="0" baseline="0" noProof="0" dirty="0">
                <a:ln w="3175">
                  <a:noFill/>
                </a:ln>
                <a:gradFill>
                  <a:gsLst>
                    <a:gs pos="1250">
                      <a:srgbClr val="FFFFFF"/>
                    </a:gs>
                    <a:gs pos="100000">
                      <a:srgbClr val="FFFFFF"/>
                    </a:gs>
                  </a:gsLst>
                  <a:lin ang="5400000" scaled="0"/>
                </a:gradFill>
                <a:effectLst/>
                <a:uLnTx/>
                <a:uFillTx/>
                <a:latin typeface="Segoe UI Light"/>
                <a:ea typeface="+mn-ea"/>
                <a:cs typeface="Segoe UI" pitchFamily="34" charset="0"/>
              </a:rPr>
              <a:t>Streaming</a:t>
            </a:r>
          </a:p>
        </p:txBody>
      </p:sp>
      <p:sp>
        <p:nvSpPr>
          <p:cNvPr id="21" name="TextBox 20">
            <a:extLst>
              <a:ext uri="{FF2B5EF4-FFF2-40B4-BE49-F238E27FC236}">
                <a16:creationId xmlns:a16="http://schemas.microsoft.com/office/drawing/2014/main" id="{DC0A19CF-24BA-468C-A5A5-E4AE072BBB77}"/>
              </a:ext>
            </a:extLst>
          </p:cNvPr>
          <p:cNvSpPr txBox="1"/>
          <p:nvPr/>
        </p:nvSpPr>
        <p:spPr>
          <a:xfrm>
            <a:off x="1390149" y="4602838"/>
            <a:ext cx="1765333"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C000"/>
                </a:solidFill>
                <a:effectLst/>
                <a:uLnTx/>
                <a:uFillTx/>
                <a:latin typeface="Segoe UI Semilight"/>
                <a:ea typeface="+mn-ea"/>
                <a:cs typeface="+mn-cs"/>
              </a:rPr>
              <a:t>SQL Server</a:t>
            </a:r>
          </a:p>
        </p:txBody>
      </p:sp>
      <p:cxnSp>
        <p:nvCxnSpPr>
          <p:cNvPr id="32" name="Straight Connector 31">
            <a:extLst>
              <a:ext uri="{FF2B5EF4-FFF2-40B4-BE49-F238E27FC236}">
                <a16:creationId xmlns:a16="http://schemas.microsoft.com/office/drawing/2014/main" id="{2D0FFF0C-23C4-4219-9150-2D367F78D7D6}"/>
              </a:ext>
            </a:extLst>
          </p:cNvPr>
          <p:cNvCxnSpPr>
            <a:cxnSpLocks/>
          </p:cNvCxnSpPr>
          <p:nvPr/>
        </p:nvCxnSpPr>
        <p:spPr>
          <a:xfrm>
            <a:off x="5912171" y="3159359"/>
            <a:ext cx="2544" cy="406725"/>
          </a:xfrm>
          <a:prstGeom prst="line">
            <a:avLst/>
          </a:prstGeom>
          <a:ln>
            <a:solidFill>
              <a:schemeClr val="accent4">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716DB91-865F-4891-9A43-F20BDD69A793}"/>
              </a:ext>
            </a:extLst>
          </p:cNvPr>
          <p:cNvSpPr txBox="1"/>
          <p:nvPr/>
        </p:nvSpPr>
        <p:spPr>
          <a:xfrm>
            <a:off x="5486399" y="2593313"/>
            <a:ext cx="1395663" cy="627864"/>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Execute R Script</a:t>
            </a:r>
          </a:p>
        </p:txBody>
      </p:sp>
      <p:cxnSp>
        <p:nvCxnSpPr>
          <p:cNvPr id="37" name="Straight Connector 36">
            <a:extLst>
              <a:ext uri="{FF2B5EF4-FFF2-40B4-BE49-F238E27FC236}">
                <a16:creationId xmlns:a16="http://schemas.microsoft.com/office/drawing/2014/main" id="{EA6D09CA-2438-4156-A03C-A12EDA3C6D86}"/>
              </a:ext>
            </a:extLst>
          </p:cNvPr>
          <p:cNvCxnSpPr>
            <a:cxnSpLocks/>
          </p:cNvCxnSpPr>
          <p:nvPr/>
        </p:nvCxnSpPr>
        <p:spPr>
          <a:xfrm flipH="1">
            <a:off x="8362587" y="3504266"/>
            <a:ext cx="12050" cy="563808"/>
          </a:xfrm>
          <a:prstGeom prst="line">
            <a:avLst/>
          </a:prstGeom>
          <a:ln>
            <a:solidFill>
              <a:schemeClr val="accent4">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2630302-9313-4932-9F9B-81BDCA91BAC5}"/>
              </a:ext>
            </a:extLst>
          </p:cNvPr>
          <p:cNvSpPr txBox="1"/>
          <p:nvPr/>
        </p:nvSpPr>
        <p:spPr>
          <a:xfrm>
            <a:off x="7948865" y="2938220"/>
            <a:ext cx="1395663" cy="627864"/>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Execute R Script</a:t>
            </a:r>
          </a:p>
        </p:txBody>
      </p:sp>
      <p:cxnSp>
        <p:nvCxnSpPr>
          <p:cNvPr id="22" name="Straight Arrow Connector 21">
            <a:extLst>
              <a:ext uri="{FF2B5EF4-FFF2-40B4-BE49-F238E27FC236}">
                <a16:creationId xmlns:a16="http://schemas.microsoft.com/office/drawing/2014/main" id="{0859AF00-05E5-41C8-ACC4-704C0C0501BD}"/>
              </a:ext>
            </a:extLst>
          </p:cNvPr>
          <p:cNvCxnSpPr>
            <a:cxnSpLocks/>
            <a:endCxn id="7" idx="1"/>
          </p:cNvCxnSpPr>
          <p:nvPr/>
        </p:nvCxnSpPr>
        <p:spPr>
          <a:xfrm>
            <a:off x="3696708" y="3574461"/>
            <a:ext cx="367163"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3" name="&quot;Not Allowed&quot; Symbol 22">
            <a:extLst>
              <a:ext uri="{FF2B5EF4-FFF2-40B4-BE49-F238E27FC236}">
                <a16:creationId xmlns:a16="http://schemas.microsoft.com/office/drawing/2014/main" id="{FDDBA7DF-1B4C-4086-9C40-19DCBD9998CA}"/>
              </a:ext>
            </a:extLst>
          </p:cNvPr>
          <p:cNvSpPr/>
          <p:nvPr/>
        </p:nvSpPr>
        <p:spPr bwMode="auto">
          <a:xfrm>
            <a:off x="10609109" y="4158351"/>
            <a:ext cx="874433" cy="880020"/>
          </a:xfrm>
          <a:prstGeom prst="noSmoking">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cxnSp>
        <p:nvCxnSpPr>
          <p:cNvPr id="25" name="Straight Arrow Connector 24">
            <a:extLst>
              <a:ext uri="{FF2B5EF4-FFF2-40B4-BE49-F238E27FC236}">
                <a16:creationId xmlns:a16="http://schemas.microsoft.com/office/drawing/2014/main" id="{A0195968-A4DE-42CA-A0D5-BA78912CF921}"/>
              </a:ext>
            </a:extLst>
          </p:cNvPr>
          <p:cNvCxnSpPr>
            <a:cxnSpLocks/>
          </p:cNvCxnSpPr>
          <p:nvPr/>
        </p:nvCxnSpPr>
        <p:spPr>
          <a:xfrm>
            <a:off x="3715550" y="5727032"/>
            <a:ext cx="6893559" cy="0"/>
          </a:xfrm>
          <a:prstGeom prst="straightConnector1">
            <a:avLst/>
          </a:prstGeom>
          <a:ln w="53975">
            <a:solidFill>
              <a:schemeClr val="tx1"/>
            </a:solidFill>
            <a:prstDash val="dashDot"/>
            <a:headEnd type="non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1D152E1-3203-4996-A793-B13A76AB3AF2}"/>
              </a:ext>
            </a:extLst>
          </p:cNvPr>
          <p:cNvSpPr txBox="1"/>
          <p:nvPr/>
        </p:nvSpPr>
        <p:spPr>
          <a:xfrm>
            <a:off x="10539663" y="5208428"/>
            <a:ext cx="1707494" cy="1037207"/>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Execution</a:t>
            </a:r>
          </a:p>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Timeline</a:t>
            </a:r>
          </a:p>
        </p:txBody>
      </p:sp>
    </p:spTree>
    <p:extLst>
      <p:ext uri="{BB962C8B-B14F-4D97-AF65-F5344CB8AC3E}">
        <p14:creationId xmlns:p14="http://schemas.microsoft.com/office/powerpoint/2010/main" val="186213595"/>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4" grpId="0"/>
      <p:bldP spid="15" grpId="0"/>
      <p:bldP spid="16" grpId="0"/>
      <p:bldP spid="35" grpId="0"/>
      <p:bldP spid="38" grpId="0"/>
      <p:bldP spid="23" grpId="0" animBg="1"/>
    </p:bldLst>
  </p:timing>
</p:sld>
</file>

<file path=ppt/slides/slide18.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Streaming from Server</a:t>
            </a:r>
          </a:p>
        </p:txBody>
      </p:sp>
      <p:sp>
        <p:nvSpPr>
          <p:cNvPr id="5" name="Text Placeholder 4"/>
          <p:cNvSpPr>
            <a:spLocks noGrp="1"/>
          </p:cNvSpPr>
          <p:nvPr>
            <p:ph type="body" sz="quarter" idx="10"/>
          </p:nvPr>
        </p:nvSpPr>
        <p:spPr>
          <a:xfrm>
            <a:off x="274638" y="1221157"/>
            <a:ext cx="11887199" cy="5613845"/>
          </a:xfrm>
        </p:spPr>
        <p:txBody>
          <a:bodyPr/>
          <a:lstStyle/>
          <a:p>
            <a:r>
              <a:rPr lang="en-US" sz="1800" dirty="0">
                <a:solidFill>
                  <a:schemeClr val="bg1"/>
                </a:solidFill>
              </a:rPr>
              <a:t>exec </a:t>
            </a:r>
            <a:r>
              <a:rPr lang="en-US" sz="1800" dirty="0" err="1">
                <a:solidFill>
                  <a:schemeClr val="bg1"/>
                </a:solidFill>
              </a:rPr>
              <a:t>sp_execute_external_script</a:t>
            </a:r>
            <a:endParaRPr lang="en-US" sz="1800" dirty="0">
              <a:solidFill>
                <a:schemeClr val="bg1"/>
              </a:solidFill>
            </a:endParaRPr>
          </a:p>
          <a:p>
            <a:r>
              <a:rPr lang="en-US" sz="1800" dirty="0">
                <a:solidFill>
                  <a:schemeClr val="bg1"/>
                </a:solidFill>
              </a:rPr>
              <a:t>	@language = N'R’</a:t>
            </a:r>
          </a:p>
          <a:p>
            <a:r>
              <a:rPr lang="en-US" sz="1800" dirty="0">
                <a:solidFill>
                  <a:schemeClr val="bg1"/>
                </a:solidFill>
              </a:rPr>
              <a:t>	, @script = N'</a:t>
            </a:r>
          </a:p>
          <a:p>
            <a:r>
              <a:rPr lang="en-US" sz="1800" dirty="0">
                <a:solidFill>
                  <a:schemeClr val="bg1"/>
                </a:solidFill>
              </a:rPr>
              <a:t># </a:t>
            </a:r>
            <a:r>
              <a:rPr lang="en-US" sz="1800" dirty="0" err="1">
                <a:solidFill>
                  <a:schemeClr val="bg1"/>
                </a:solidFill>
              </a:rPr>
              <a:t>unserialize</a:t>
            </a:r>
            <a:r>
              <a:rPr lang="en-US" sz="1800" dirty="0">
                <a:solidFill>
                  <a:schemeClr val="bg1"/>
                </a:solidFill>
              </a:rPr>
              <a:t> model</a:t>
            </a:r>
          </a:p>
          <a:p>
            <a:r>
              <a:rPr lang="en-US" sz="1800" dirty="0" err="1">
                <a:solidFill>
                  <a:schemeClr val="bg1"/>
                </a:solidFill>
              </a:rPr>
              <a:t>logitObj</a:t>
            </a:r>
            <a:r>
              <a:rPr lang="en-US" sz="1800" dirty="0">
                <a:solidFill>
                  <a:schemeClr val="bg1"/>
                </a:solidFill>
              </a:rPr>
              <a:t> &lt;- </a:t>
            </a:r>
            <a:r>
              <a:rPr lang="en-US" sz="1800" dirty="0" err="1">
                <a:solidFill>
                  <a:schemeClr val="bg1"/>
                </a:solidFill>
              </a:rPr>
              <a:t>unserialize</a:t>
            </a:r>
            <a:r>
              <a:rPr lang="en-US" sz="1800" dirty="0">
                <a:solidFill>
                  <a:schemeClr val="bg1"/>
                </a:solidFill>
              </a:rPr>
              <a:t>(</a:t>
            </a:r>
            <a:r>
              <a:rPr lang="en-US" sz="1800" dirty="0" err="1">
                <a:solidFill>
                  <a:schemeClr val="bg1"/>
                </a:solidFill>
              </a:rPr>
              <a:t>modelbin</a:t>
            </a:r>
            <a:r>
              <a:rPr lang="en-US" sz="1800" dirty="0">
                <a:solidFill>
                  <a:schemeClr val="bg1"/>
                </a:solidFill>
              </a:rPr>
              <a:t>);</a:t>
            </a:r>
          </a:p>
          <a:p>
            <a:endParaRPr lang="en-US" sz="1800" dirty="0">
              <a:solidFill>
                <a:schemeClr val="bg1"/>
              </a:solidFill>
            </a:endParaRPr>
          </a:p>
          <a:p>
            <a:r>
              <a:rPr lang="en-US" sz="1800" dirty="0">
                <a:solidFill>
                  <a:schemeClr val="bg1"/>
                </a:solidFill>
              </a:rPr>
              <a:t># build classification model to predict tipped or not</a:t>
            </a:r>
          </a:p>
          <a:p>
            <a:r>
              <a:rPr lang="en-US" sz="1800" dirty="0" err="1">
                <a:solidFill>
                  <a:schemeClr val="bg1"/>
                </a:solidFill>
              </a:rPr>
              <a:t>system.time</a:t>
            </a:r>
            <a:r>
              <a:rPr lang="en-US" sz="1800" dirty="0">
                <a:solidFill>
                  <a:schemeClr val="bg1"/>
                </a:solidFill>
              </a:rPr>
              <a:t>(</a:t>
            </a:r>
            <a:r>
              <a:rPr lang="en-US" sz="1800" dirty="0" err="1">
                <a:solidFill>
                  <a:schemeClr val="bg1"/>
                </a:solidFill>
              </a:rPr>
              <a:t>OutputDataSet</a:t>
            </a:r>
            <a:r>
              <a:rPr lang="en-US" sz="1800" dirty="0">
                <a:solidFill>
                  <a:schemeClr val="bg1"/>
                </a:solidFill>
              </a:rPr>
              <a:t> &lt;- </a:t>
            </a:r>
            <a:r>
              <a:rPr lang="en-US" sz="1800" dirty="0" err="1">
                <a:solidFill>
                  <a:schemeClr val="bg1"/>
                </a:solidFill>
              </a:rPr>
              <a:t>data.frame</a:t>
            </a:r>
            <a:r>
              <a:rPr lang="en-US" sz="1800" dirty="0">
                <a:solidFill>
                  <a:schemeClr val="bg1"/>
                </a:solidFill>
              </a:rPr>
              <a:t>(predict(</a:t>
            </a:r>
            <a:r>
              <a:rPr lang="en-US" sz="1800" dirty="0" err="1">
                <a:solidFill>
                  <a:schemeClr val="bg1"/>
                </a:solidFill>
              </a:rPr>
              <a:t>logitObj</a:t>
            </a:r>
            <a:r>
              <a:rPr lang="en-US" sz="1800" dirty="0">
                <a:solidFill>
                  <a:schemeClr val="bg1"/>
                </a:solidFill>
              </a:rPr>
              <a:t>, </a:t>
            </a:r>
            <a:r>
              <a:rPr lang="en-US" sz="1800" dirty="0" err="1">
                <a:solidFill>
                  <a:schemeClr val="bg1"/>
                </a:solidFill>
              </a:rPr>
              <a:t>newdata</a:t>
            </a:r>
            <a:r>
              <a:rPr lang="en-US" sz="1800" dirty="0">
                <a:solidFill>
                  <a:schemeClr val="bg1"/>
                </a:solidFill>
              </a:rPr>
              <a:t> = </a:t>
            </a:r>
            <a:r>
              <a:rPr lang="en-US" sz="1800" b="1" dirty="0" err="1">
                <a:solidFill>
                  <a:schemeClr val="accent2"/>
                </a:solidFill>
              </a:rPr>
              <a:t>InputDataSet</a:t>
            </a:r>
            <a:r>
              <a:rPr lang="en-US" sz="1800" dirty="0">
                <a:solidFill>
                  <a:schemeClr val="bg1"/>
                </a:solidFill>
              </a:rPr>
              <a:t>,</a:t>
            </a:r>
          </a:p>
          <a:p>
            <a:r>
              <a:rPr lang="en-US" sz="1800" dirty="0">
                <a:solidFill>
                  <a:schemeClr val="bg1"/>
                </a:solidFill>
              </a:rPr>
              <a:t>						type = "response")))[3];</a:t>
            </a:r>
          </a:p>
          <a:p>
            <a:r>
              <a:rPr lang="en-US" sz="1800" dirty="0">
                <a:solidFill>
                  <a:schemeClr val="bg1"/>
                </a:solidFill>
              </a:rPr>
              <a:t>‘</a:t>
            </a:r>
          </a:p>
          <a:p>
            <a:r>
              <a:rPr lang="en-US" sz="1800" dirty="0">
                <a:solidFill>
                  <a:schemeClr val="bg1"/>
                </a:solidFill>
              </a:rPr>
              <a:t>	, @input_data_1 = N’</a:t>
            </a:r>
          </a:p>
          <a:p>
            <a:r>
              <a:rPr lang="en-US" sz="1800" b="1" dirty="0">
                <a:solidFill>
                  <a:schemeClr val="accent2"/>
                </a:solidFill>
              </a:rPr>
              <a:t>SELECT tipped, </a:t>
            </a:r>
            <a:r>
              <a:rPr lang="en-US" sz="1800" b="1" dirty="0" err="1">
                <a:solidFill>
                  <a:schemeClr val="accent2"/>
                </a:solidFill>
              </a:rPr>
              <a:t>passenger_count</a:t>
            </a:r>
            <a:r>
              <a:rPr lang="en-US" sz="1800" b="1" dirty="0">
                <a:solidFill>
                  <a:schemeClr val="accent2"/>
                </a:solidFill>
              </a:rPr>
              <a:t>, </a:t>
            </a:r>
            <a:r>
              <a:rPr lang="en-US" sz="1800" b="1" dirty="0" err="1">
                <a:solidFill>
                  <a:schemeClr val="accent2"/>
                </a:solidFill>
              </a:rPr>
              <a:t>trip_time_in_secs</a:t>
            </a:r>
            <a:r>
              <a:rPr lang="en-US" sz="1800" b="1" dirty="0">
                <a:solidFill>
                  <a:schemeClr val="accent2"/>
                </a:solidFill>
              </a:rPr>
              <a:t>, </a:t>
            </a:r>
            <a:r>
              <a:rPr lang="en-US" sz="1800" b="1" dirty="0" err="1">
                <a:solidFill>
                  <a:schemeClr val="accent2"/>
                </a:solidFill>
              </a:rPr>
              <a:t>trip_distance</a:t>
            </a:r>
            <a:r>
              <a:rPr lang="en-US" sz="1800" b="1" dirty="0">
                <a:solidFill>
                  <a:schemeClr val="accent2"/>
                </a:solidFill>
              </a:rPr>
              <a:t>, </a:t>
            </a:r>
            <a:r>
              <a:rPr lang="en-US" sz="1800" b="1" dirty="0" err="1">
                <a:solidFill>
                  <a:schemeClr val="accent2"/>
                </a:solidFill>
              </a:rPr>
              <a:t>d.direct_distance</a:t>
            </a:r>
            <a:endParaRPr lang="en-US" sz="1800" b="1" dirty="0">
              <a:solidFill>
                <a:schemeClr val="accent2"/>
              </a:solidFill>
            </a:endParaRPr>
          </a:p>
          <a:p>
            <a:r>
              <a:rPr lang="en-US" sz="1800" b="1" dirty="0">
                <a:solidFill>
                  <a:schemeClr val="accent2"/>
                </a:solidFill>
              </a:rPr>
              <a:t>FROM </a:t>
            </a:r>
            <a:r>
              <a:rPr lang="en-US" sz="1800" b="1" dirty="0" err="1">
                <a:solidFill>
                  <a:schemeClr val="accent2"/>
                </a:solidFill>
              </a:rPr>
              <a:t>dbo.nyctaxi_sample</a:t>
            </a:r>
            <a:r>
              <a:rPr lang="en-US" sz="1800" b="1" dirty="0">
                <a:solidFill>
                  <a:schemeClr val="accent2"/>
                </a:solidFill>
              </a:rPr>
              <a:t> TABLESAMPLE (50 PERCENT) REPEATABLE (98074)</a:t>
            </a:r>
          </a:p>
          <a:p>
            <a:r>
              <a:rPr lang="en-US" sz="1800" b="1" dirty="0">
                <a:solidFill>
                  <a:schemeClr val="accent2"/>
                </a:solidFill>
              </a:rPr>
              <a:t>CROSS APPLY [</a:t>
            </a:r>
            <a:r>
              <a:rPr lang="en-US" sz="1800" b="1" dirty="0" err="1">
                <a:solidFill>
                  <a:schemeClr val="accent2"/>
                </a:solidFill>
              </a:rPr>
              <a:t>CalculateDistance</a:t>
            </a:r>
            <a:r>
              <a:rPr lang="en-US" sz="1800" b="1" dirty="0">
                <a:solidFill>
                  <a:schemeClr val="accent2"/>
                </a:solidFill>
              </a:rPr>
              <a:t>](</a:t>
            </a:r>
            <a:r>
              <a:rPr lang="en-US" sz="1800" b="1" dirty="0" err="1">
                <a:solidFill>
                  <a:schemeClr val="accent2"/>
                </a:solidFill>
              </a:rPr>
              <a:t>pickup_latitude</a:t>
            </a:r>
            <a:r>
              <a:rPr lang="en-US" sz="1800" b="1" dirty="0">
                <a:solidFill>
                  <a:schemeClr val="accent2"/>
                </a:solidFill>
              </a:rPr>
              <a:t>, </a:t>
            </a:r>
            <a:r>
              <a:rPr lang="en-US" sz="1800" b="1" dirty="0" err="1">
                <a:solidFill>
                  <a:schemeClr val="accent2"/>
                </a:solidFill>
              </a:rPr>
              <a:t>pickup_longitude</a:t>
            </a:r>
            <a:r>
              <a:rPr lang="en-US" sz="1800" b="1" dirty="0">
                <a:solidFill>
                  <a:schemeClr val="accent2"/>
                </a:solidFill>
              </a:rPr>
              <a:t>,</a:t>
            </a:r>
          </a:p>
          <a:p>
            <a:r>
              <a:rPr lang="en-US" sz="1800" b="1" dirty="0">
                <a:solidFill>
                  <a:schemeClr val="accent2"/>
                </a:solidFill>
              </a:rPr>
              <a:t>				</a:t>
            </a:r>
            <a:r>
              <a:rPr lang="en-US" sz="1800" b="1" dirty="0" err="1">
                <a:solidFill>
                  <a:schemeClr val="accent2"/>
                </a:solidFill>
              </a:rPr>
              <a:t>dropoff_latitude</a:t>
            </a:r>
            <a:r>
              <a:rPr lang="en-US" sz="1800" b="1" dirty="0">
                <a:solidFill>
                  <a:schemeClr val="accent2"/>
                </a:solidFill>
              </a:rPr>
              <a:t>, </a:t>
            </a:r>
            <a:r>
              <a:rPr lang="en-US" sz="1800" b="1" dirty="0" err="1">
                <a:solidFill>
                  <a:schemeClr val="accent2"/>
                </a:solidFill>
              </a:rPr>
              <a:t>dropoff_longitude</a:t>
            </a:r>
            <a:r>
              <a:rPr lang="en-US" sz="1800" b="1" dirty="0">
                <a:solidFill>
                  <a:schemeClr val="accent2"/>
                </a:solidFill>
              </a:rPr>
              <a:t>) as d</a:t>
            </a:r>
            <a:r>
              <a:rPr lang="en-US" sz="1800" dirty="0"/>
              <a:t>’</a:t>
            </a:r>
          </a:p>
          <a:p>
            <a:r>
              <a:rPr lang="en-US" sz="1800" dirty="0">
                <a:solidFill>
                  <a:schemeClr val="bg1"/>
                </a:solidFill>
              </a:rPr>
              <a:t>	, @</a:t>
            </a:r>
            <a:r>
              <a:rPr lang="en-US" sz="1800" dirty="0" err="1">
                <a:solidFill>
                  <a:schemeClr val="bg1"/>
                </a:solidFill>
              </a:rPr>
              <a:t>params</a:t>
            </a:r>
            <a:r>
              <a:rPr lang="en-US" sz="1800" dirty="0">
                <a:solidFill>
                  <a:schemeClr val="bg1"/>
                </a:solidFill>
              </a:rPr>
              <a:t> = N'@</a:t>
            </a:r>
            <a:r>
              <a:rPr lang="en-US" sz="1800" dirty="0" err="1">
                <a:solidFill>
                  <a:schemeClr val="bg1"/>
                </a:solidFill>
              </a:rPr>
              <a:t>modelbin</a:t>
            </a:r>
            <a:r>
              <a:rPr lang="en-US" sz="1800" dirty="0">
                <a:solidFill>
                  <a:schemeClr val="bg1"/>
                </a:solidFill>
              </a:rPr>
              <a:t> </a:t>
            </a:r>
            <a:r>
              <a:rPr lang="en-US" sz="1800" dirty="0" err="1">
                <a:solidFill>
                  <a:schemeClr val="bg1"/>
                </a:solidFill>
              </a:rPr>
              <a:t>varbinary</a:t>
            </a:r>
            <a:r>
              <a:rPr lang="en-US" sz="1800" dirty="0">
                <a:solidFill>
                  <a:schemeClr val="bg1"/>
                </a:solidFill>
              </a:rPr>
              <a:t>(max), @</a:t>
            </a:r>
            <a:r>
              <a:rPr lang="en-US" sz="1800" b="1" dirty="0" err="1">
                <a:solidFill>
                  <a:schemeClr val="accent2"/>
                </a:solidFill>
              </a:rPr>
              <a:t>r_rowsPerRead</a:t>
            </a:r>
            <a:r>
              <a:rPr lang="en-US" sz="1800" dirty="0">
                <a:solidFill>
                  <a:schemeClr val="bg1"/>
                </a:solidFill>
              </a:rPr>
              <a:t> </a:t>
            </a:r>
            <a:r>
              <a:rPr lang="en-US" sz="1800" dirty="0" err="1">
                <a:solidFill>
                  <a:schemeClr val="bg1"/>
                </a:solidFill>
              </a:rPr>
              <a:t>int</a:t>
            </a:r>
            <a:r>
              <a:rPr lang="en-US" sz="1800" dirty="0">
                <a:solidFill>
                  <a:schemeClr val="bg1"/>
                </a:solidFill>
              </a:rPr>
              <a:t>’</a:t>
            </a:r>
          </a:p>
          <a:p>
            <a:r>
              <a:rPr lang="en-US" sz="1800" dirty="0">
                <a:solidFill>
                  <a:schemeClr val="bg1"/>
                </a:solidFill>
              </a:rPr>
              <a:t>	, @</a:t>
            </a:r>
            <a:r>
              <a:rPr lang="en-US" sz="1800" dirty="0" err="1">
                <a:solidFill>
                  <a:schemeClr val="bg1"/>
                </a:solidFill>
              </a:rPr>
              <a:t>modelbin</a:t>
            </a:r>
            <a:r>
              <a:rPr lang="en-US" sz="1800" dirty="0">
                <a:solidFill>
                  <a:schemeClr val="bg1"/>
                </a:solidFill>
              </a:rPr>
              <a:t> = @model</a:t>
            </a:r>
          </a:p>
          <a:p>
            <a:r>
              <a:rPr lang="en-US" sz="1800" dirty="0">
                <a:solidFill>
                  <a:schemeClr val="bg1"/>
                </a:solidFill>
              </a:rPr>
              <a:t>	, @</a:t>
            </a:r>
            <a:r>
              <a:rPr lang="en-US" sz="1800" b="1" dirty="0" err="1">
                <a:solidFill>
                  <a:schemeClr val="accent2"/>
                </a:solidFill>
              </a:rPr>
              <a:t>r_rowsPerRead</a:t>
            </a:r>
            <a:r>
              <a:rPr lang="en-US" sz="1800" dirty="0">
                <a:solidFill>
                  <a:schemeClr val="bg1"/>
                </a:solidFill>
              </a:rPr>
              <a:t> = 5000;</a:t>
            </a:r>
          </a:p>
        </p:txBody>
      </p:sp>
    </p:spTree>
    <p:extLst>
      <p:ext uri="{BB962C8B-B14F-4D97-AF65-F5344CB8AC3E}">
        <p14:creationId xmlns:p14="http://schemas.microsoft.com/office/powerpoint/2010/main" val="4170705250"/>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19.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7" y="2125677"/>
            <a:ext cx="10885539" cy="1181862"/>
          </a:xfrm>
        </p:spPr>
        <p:txBody>
          <a:bodyPr/>
          <a:lstStyle/>
          <a:p>
            <a:r>
              <a:rPr lang="en-US" dirty="0"/>
              <a:t>Demo - Streaming</a:t>
            </a:r>
          </a:p>
        </p:txBody>
      </p:sp>
      <p:sp>
        <p:nvSpPr>
          <p:cNvPr id="5" name="Text Placeholder 4">
            <a:extLst>
              <a:ext uri="{FF2B5EF4-FFF2-40B4-BE49-F238E27FC236}">
                <a16:creationId xmlns:a16="http://schemas.microsoft.com/office/drawing/2014/main" id="{86D90F6A-36C9-446F-B5CF-D74386BB828D}"/>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46003266"/>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20.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1A63-4262-4870-B2C0-B66ECC61876E}"/>
              </a:ext>
            </a:extLst>
          </p:cNvPr>
          <p:cNvSpPr>
            <a:spLocks noGrp="1"/>
          </p:cNvSpPr>
          <p:nvPr>
            <p:ph type="title"/>
          </p:nvPr>
        </p:nvSpPr>
        <p:spPr/>
        <p:txBody>
          <a:bodyPr/>
          <a:lstStyle/>
          <a:p>
            <a:r>
              <a:rPr lang="en-US"/>
              <a:t>Parallel processing</a:t>
            </a:r>
          </a:p>
        </p:txBody>
      </p:sp>
      <p:sp>
        <p:nvSpPr>
          <p:cNvPr id="3" name="Text Placeholder 2">
            <a:extLst>
              <a:ext uri="{FF2B5EF4-FFF2-40B4-BE49-F238E27FC236}">
                <a16:creationId xmlns:a16="http://schemas.microsoft.com/office/drawing/2014/main" id="{E3FAFF91-DBFC-4FE4-9D11-565CC0562C23}"/>
              </a:ext>
            </a:extLst>
          </p:cNvPr>
          <p:cNvSpPr>
            <a:spLocks noGrp="1"/>
          </p:cNvSpPr>
          <p:nvPr>
            <p:ph type="body" sz="quarter" idx="10"/>
          </p:nvPr>
        </p:nvSpPr>
        <p:spPr>
          <a:xfrm>
            <a:off x="274702" y="1211287"/>
            <a:ext cx="11888787" cy="5503045"/>
          </a:xfrm>
        </p:spPr>
        <p:txBody>
          <a:bodyPr/>
          <a:lstStyle/>
          <a:p>
            <a:pPr marL="0" indent="0">
              <a:buNone/>
            </a:pPr>
            <a:r>
              <a:rPr lang="en-US" sz="3200" dirty="0"/>
              <a:t>Requirements:</a:t>
            </a:r>
          </a:p>
          <a:p>
            <a:pPr marL="0" indent="0">
              <a:buNone/>
            </a:pPr>
            <a:r>
              <a:rPr lang="en-US" sz="3200" b="1" dirty="0"/>
              <a:t>	</a:t>
            </a:r>
            <a:r>
              <a:rPr lang="en-US" sz="3200" dirty="0"/>
              <a:t>Parallel query plan for the input SELECT statement</a:t>
            </a:r>
          </a:p>
          <a:p>
            <a:pPr marL="0" indent="0">
              <a:buNone/>
            </a:pPr>
            <a:r>
              <a:rPr lang="en-US" sz="3200" dirty="0">
                <a:solidFill>
                  <a:schemeClr val="tx1"/>
                </a:solidFill>
                <a:latin typeface="Segoe UI Light" pitchFamily="34" charset="0"/>
              </a:rPr>
              <a:t>	No dependency between rows (ex: scoring) – Trivial Parallelism</a:t>
            </a:r>
          </a:p>
          <a:p>
            <a:pPr marL="0" indent="0">
              <a:buNone/>
            </a:pPr>
            <a:r>
              <a:rPr lang="en-US" sz="3200" dirty="0"/>
              <a:t>	Use </a:t>
            </a:r>
            <a:r>
              <a:rPr lang="en-US" sz="3200" dirty="0" err="1"/>
              <a:t>rx</a:t>
            </a:r>
            <a:r>
              <a:rPr lang="en-US" sz="3200" dirty="0"/>
              <a:t>* function for training in parallel</a:t>
            </a:r>
          </a:p>
          <a:p>
            <a:pPr marL="0" indent="0">
              <a:buNone/>
            </a:pPr>
            <a:r>
              <a:rPr lang="en-US" sz="3200" dirty="0">
                <a:solidFill>
                  <a:schemeClr val="tx1"/>
                </a:solidFill>
                <a:latin typeface="Segoe UI Light" pitchFamily="34" charset="0"/>
              </a:rPr>
              <a:t>	</a:t>
            </a:r>
            <a:endParaRPr lang="en-US" sz="3200" dirty="0"/>
          </a:p>
          <a:p>
            <a:pPr marL="0" indent="0">
              <a:buNone/>
            </a:pPr>
            <a:r>
              <a:rPr lang="en-US" sz="3200" dirty="0"/>
              <a:t>Key Benefits:</a:t>
            </a:r>
          </a:p>
          <a:p>
            <a:pPr marL="0" indent="0">
              <a:buNone/>
            </a:pPr>
            <a:r>
              <a:rPr lang="en-US" sz="3200" dirty="0"/>
              <a:t>	Scales to large data sets</a:t>
            </a:r>
          </a:p>
          <a:p>
            <a:pPr marL="0" indent="0">
              <a:buNone/>
            </a:pPr>
            <a:r>
              <a:rPr lang="en-US" sz="3200" dirty="0"/>
              <a:t>	Leverage multiple CPUs</a:t>
            </a:r>
          </a:p>
          <a:p>
            <a:pPr marL="0" indent="0">
              <a:buNone/>
            </a:pPr>
            <a:r>
              <a:rPr lang="en-US" sz="3200" dirty="0"/>
              <a:t>	Integrates with SQL Server parallel query execution</a:t>
            </a:r>
          </a:p>
          <a:p>
            <a:pPr marL="0" indent="0">
              <a:buNone/>
            </a:pPr>
            <a:r>
              <a:rPr lang="en-US" sz="3200" dirty="0"/>
              <a:t>	Batch mode execution of external script operation</a:t>
            </a:r>
            <a:r>
              <a:rPr lang="en-US" sz="3200" b="1" baseline="30000" dirty="0">
                <a:solidFill>
                  <a:schemeClr val="accent3"/>
                </a:solidFill>
              </a:rPr>
              <a:t> New in 2017!</a:t>
            </a:r>
            <a:endParaRPr lang="en-US" sz="3200" dirty="0"/>
          </a:p>
        </p:txBody>
      </p:sp>
    </p:spTree>
    <p:extLst>
      <p:ext uri="{BB962C8B-B14F-4D97-AF65-F5344CB8AC3E}">
        <p14:creationId xmlns:p14="http://schemas.microsoft.com/office/powerpoint/2010/main" val="807157001"/>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21.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F3910-71F0-4E93-850A-11F1BE766340}"/>
              </a:ext>
            </a:extLst>
          </p:cNvPr>
          <p:cNvSpPr>
            <a:spLocks noGrp="1"/>
          </p:cNvSpPr>
          <p:nvPr>
            <p:ph type="title"/>
          </p:nvPr>
        </p:nvSpPr>
        <p:spPr/>
        <p:txBody>
          <a:bodyPr/>
          <a:lstStyle/>
          <a:p>
            <a:r>
              <a:rPr lang="en-US" sz="4000" dirty="0"/>
              <a:t>Parallel processing – Trivial Parallelism </a:t>
            </a:r>
          </a:p>
        </p:txBody>
      </p:sp>
      <p:sp>
        <p:nvSpPr>
          <p:cNvPr id="34" name="TextBox 33">
            <a:extLst>
              <a:ext uri="{FF2B5EF4-FFF2-40B4-BE49-F238E27FC236}">
                <a16:creationId xmlns:a16="http://schemas.microsoft.com/office/drawing/2014/main" id="{0B0FF48B-1072-44B2-8EE3-0922BBD6BFBE}"/>
              </a:ext>
            </a:extLst>
          </p:cNvPr>
          <p:cNvSpPr txBox="1"/>
          <p:nvPr/>
        </p:nvSpPr>
        <p:spPr>
          <a:xfrm>
            <a:off x="6218237" y="3693547"/>
            <a:ext cx="1348423"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Predict()</a:t>
            </a:r>
          </a:p>
        </p:txBody>
      </p:sp>
      <p:sp>
        <p:nvSpPr>
          <p:cNvPr id="36" name="TextBox 35">
            <a:extLst>
              <a:ext uri="{FF2B5EF4-FFF2-40B4-BE49-F238E27FC236}">
                <a16:creationId xmlns:a16="http://schemas.microsoft.com/office/drawing/2014/main" id="{36BC2CB4-301E-4238-8A60-E5406A79FC4A}"/>
              </a:ext>
            </a:extLst>
          </p:cNvPr>
          <p:cNvSpPr txBox="1"/>
          <p:nvPr/>
        </p:nvSpPr>
        <p:spPr>
          <a:xfrm>
            <a:off x="6166476" y="2732526"/>
            <a:ext cx="1703025"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Predict()</a:t>
            </a:r>
          </a:p>
        </p:txBody>
      </p:sp>
      <p:grpSp>
        <p:nvGrpSpPr>
          <p:cNvPr id="19" name="Group 18">
            <a:extLst>
              <a:ext uri="{FF2B5EF4-FFF2-40B4-BE49-F238E27FC236}">
                <a16:creationId xmlns:a16="http://schemas.microsoft.com/office/drawing/2014/main" id="{2CAE1A24-B535-4BE4-9E89-F75E00F0EBA3}"/>
              </a:ext>
            </a:extLst>
          </p:cNvPr>
          <p:cNvGrpSpPr/>
          <p:nvPr/>
        </p:nvGrpSpPr>
        <p:grpSpPr>
          <a:xfrm>
            <a:off x="2356357" y="1874521"/>
            <a:ext cx="3444553" cy="3474718"/>
            <a:chOff x="2356357" y="2175063"/>
            <a:chExt cx="3444553" cy="3174175"/>
          </a:xfrm>
        </p:grpSpPr>
        <p:sp>
          <p:nvSpPr>
            <p:cNvPr id="10" name="Cylinder 9">
              <a:extLst>
                <a:ext uri="{FF2B5EF4-FFF2-40B4-BE49-F238E27FC236}">
                  <a16:creationId xmlns:a16="http://schemas.microsoft.com/office/drawing/2014/main" id="{B8F05FDE-90B1-4324-8DA7-2AB4ED031778}"/>
                </a:ext>
              </a:extLst>
            </p:cNvPr>
            <p:cNvSpPr/>
            <p:nvPr/>
          </p:nvSpPr>
          <p:spPr bwMode="auto">
            <a:xfrm>
              <a:off x="2356357" y="2175063"/>
              <a:ext cx="3444553" cy="3174175"/>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1" name="Flowchart: Data 10">
              <a:extLst>
                <a:ext uri="{FF2B5EF4-FFF2-40B4-BE49-F238E27FC236}">
                  <a16:creationId xmlns:a16="http://schemas.microsoft.com/office/drawing/2014/main" id="{454DC488-0AC0-41D8-9D36-ECB08004B972}"/>
                </a:ext>
              </a:extLst>
            </p:cNvPr>
            <p:cNvSpPr/>
            <p:nvPr/>
          </p:nvSpPr>
          <p:spPr bwMode="auto">
            <a:xfrm>
              <a:off x="2633491" y="3106461"/>
              <a:ext cx="2880659" cy="1636989"/>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sp_execute_external_script</a:t>
              </a:r>
              <a:endParaRPr kumimoji="0" lang="en-US" sz="1200" b="0"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@script = </a:t>
              </a:r>
              <a:r>
                <a:rPr kumimoji="0" lang="en-US" sz="1200" b="0"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N’Predict</a:t>
              </a:r>
              <a:r>
                <a:rPr kumimoji="0" lang="en-US" sz="1200" b="0"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a:t>
              </a:r>
              <a:r>
                <a:rPr kumimoji="0" lang="en-US" sz="1200" b="0"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 </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@parallel = 1</a:t>
              </a:r>
            </a:p>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(MAXDOP = 2)</a:t>
              </a:r>
            </a:p>
          </p:txBody>
        </p:sp>
      </p:grpSp>
      <p:grpSp>
        <p:nvGrpSpPr>
          <p:cNvPr id="25" name="Group 24">
            <a:extLst>
              <a:ext uri="{FF2B5EF4-FFF2-40B4-BE49-F238E27FC236}">
                <a16:creationId xmlns:a16="http://schemas.microsoft.com/office/drawing/2014/main" id="{18EF9B8F-014F-40CB-951B-30D72C93E600}"/>
              </a:ext>
            </a:extLst>
          </p:cNvPr>
          <p:cNvGrpSpPr/>
          <p:nvPr/>
        </p:nvGrpSpPr>
        <p:grpSpPr>
          <a:xfrm>
            <a:off x="5120640" y="2740654"/>
            <a:ext cx="3936036" cy="1702242"/>
            <a:chOff x="5120640" y="2740654"/>
            <a:chExt cx="3936036" cy="1702242"/>
          </a:xfrm>
        </p:grpSpPr>
        <p:pic>
          <p:nvPicPr>
            <p:cNvPr id="33" name="Picture 2" descr="Bildresultat för R Language">
              <a:extLst>
                <a:ext uri="{FF2B5EF4-FFF2-40B4-BE49-F238E27FC236}">
                  <a16:creationId xmlns:a16="http://schemas.microsoft.com/office/drawing/2014/main" id="{D9AB858F-3CAD-474C-A099-227F6DAFC9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8048" y="2740654"/>
              <a:ext cx="948628" cy="735208"/>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Bildresultat för R Language">
              <a:extLst>
                <a:ext uri="{FF2B5EF4-FFF2-40B4-BE49-F238E27FC236}">
                  <a16:creationId xmlns:a16="http://schemas.microsoft.com/office/drawing/2014/main" id="{29F87698-3E36-4FD2-B806-D9D28E905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8048" y="3707688"/>
              <a:ext cx="948628" cy="735208"/>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3C548E2B-384E-486B-88AE-D685CA4C5480}"/>
                </a:ext>
              </a:extLst>
            </p:cNvPr>
            <p:cNvCxnSpPr>
              <a:cxnSpLocks/>
              <a:endCxn id="33" idx="1"/>
            </p:cNvCxnSpPr>
            <p:nvPr/>
          </p:nvCxnSpPr>
          <p:spPr>
            <a:xfrm>
              <a:off x="5406390" y="3108258"/>
              <a:ext cx="2701658"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EBA0AE7-3A70-4DB9-BC84-F0F20AD9CA6E}"/>
                </a:ext>
              </a:extLst>
            </p:cNvPr>
            <p:cNvCxnSpPr>
              <a:cxnSpLocks/>
              <a:endCxn id="35" idx="1"/>
            </p:cNvCxnSpPr>
            <p:nvPr/>
          </p:nvCxnSpPr>
          <p:spPr>
            <a:xfrm>
              <a:off x="5120640" y="4072446"/>
              <a:ext cx="2987408" cy="284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8C76C3EC-7647-4E23-8064-539C53D6DC83}"/>
              </a:ext>
            </a:extLst>
          </p:cNvPr>
          <p:cNvGrpSpPr/>
          <p:nvPr/>
        </p:nvGrpSpPr>
        <p:grpSpPr>
          <a:xfrm>
            <a:off x="5017770" y="3104194"/>
            <a:ext cx="3564592" cy="1829939"/>
            <a:chOff x="5017770" y="3104194"/>
            <a:chExt cx="3564592" cy="1829939"/>
          </a:xfrm>
        </p:grpSpPr>
        <p:grpSp>
          <p:nvGrpSpPr>
            <p:cNvPr id="27" name="Group 26">
              <a:extLst>
                <a:ext uri="{FF2B5EF4-FFF2-40B4-BE49-F238E27FC236}">
                  <a16:creationId xmlns:a16="http://schemas.microsoft.com/office/drawing/2014/main" id="{5782B819-4D21-49C1-9948-C7E5477FC425}"/>
                </a:ext>
              </a:extLst>
            </p:cNvPr>
            <p:cNvGrpSpPr/>
            <p:nvPr/>
          </p:nvGrpSpPr>
          <p:grpSpPr>
            <a:xfrm>
              <a:off x="5017770" y="3475862"/>
              <a:ext cx="3564592" cy="1458271"/>
              <a:chOff x="5017770" y="3475862"/>
              <a:chExt cx="3564592" cy="1458271"/>
            </a:xfrm>
          </p:grpSpPr>
          <p:cxnSp>
            <p:nvCxnSpPr>
              <p:cNvPr id="6" name="Straight Arrow Connector 5">
                <a:extLst>
                  <a:ext uri="{FF2B5EF4-FFF2-40B4-BE49-F238E27FC236}">
                    <a16:creationId xmlns:a16="http://schemas.microsoft.com/office/drawing/2014/main" id="{ED95F02C-156A-414F-B2F8-C6B028F8435F}"/>
                  </a:ext>
                </a:extLst>
              </p:cNvPr>
              <p:cNvCxnSpPr>
                <a:cxnSpLocks/>
                <a:stCxn id="33" idx="2"/>
              </p:cNvCxnSpPr>
              <p:nvPr/>
            </p:nvCxnSpPr>
            <p:spPr>
              <a:xfrm flipH="1">
                <a:off x="5314950" y="3475862"/>
                <a:ext cx="3267412" cy="2140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A4F4C5D-1251-43B1-AC41-1C82CC173FD4}"/>
                  </a:ext>
                </a:extLst>
              </p:cNvPr>
              <p:cNvCxnSpPr>
                <a:cxnSpLocks/>
                <a:stCxn id="35" idx="2"/>
              </p:cNvCxnSpPr>
              <p:nvPr/>
            </p:nvCxnSpPr>
            <p:spPr>
              <a:xfrm flipH="1">
                <a:off x="5017770" y="4442896"/>
                <a:ext cx="3564592" cy="284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48195B1-0EA0-4F77-B2DF-13232832F77F}"/>
                  </a:ext>
                </a:extLst>
              </p:cNvPr>
              <p:cNvSpPr txBox="1"/>
              <p:nvPr/>
            </p:nvSpPr>
            <p:spPr>
              <a:xfrm>
                <a:off x="6218237" y="4417068"/>
                <a:ext cx="1703025"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&lt;Results&gt;</a:t>
                </a:r>
              </a:p>
            </p:txBody>
          </p:sp>
        </p:grpSp>
        <p:sp>
          <p:nvSpPr>
            <p:cNvPr id="18" name="TextBox 17">
              <a:extLst>
                <a:ext uri="{FF2B5EF4-FFF2-40B4-BE49-F238E27FC236}">
                  <a16:creationId xmlns:a16="http://schemas.microsoft.com/office/drawing/2014/main" id="{7A774D45-C54A-471F-BDB9-9FE40433E396}"/>
                </a:ext>
              </a:extLst>
            </p:cNvPr>
            <p:cNvSpPr txBox="1"/>
            <p:nvPr/>
          </p:nvSpPr>
          <p:spPr>
            <a:xfrm>
              <a:off x="6147098" y="3104194"/>
              <a:ext cx="1703025"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&lt;Results&gt;</a:t>
              </a:r>
            </a:p>
          </p:txBody>
        </p:sp>
      </p:grpSp>
    </p:spTree>
    <p:extLst>
      <p:ext uri="{BB962C8B-B14F-4D97-AF65-F5344CB8AC3E}">
        <p14:creationId xmlns:p14="http://schemas.microsoft.com/office/powerpoint/2010/main" val="319247938"/>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Lst>
  </p:timing>
</p:sld>
</file>

<file path=ppt/slides/slide22.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Trivial parallelism</a:t>
            </a:r>
          </a:p>
        </p:txBody>
      </p:sp>
      <p:sp>
        <p:nvSpPr>
          <p:cNvPr id="5" name="Text Placeholder 4"/>
          <p:cNvSpPr>
            <a:spLocks noGrp="1"/>
          </p:cNvSpPr>
          <p:nvPr>
            <p:ph type="body" sz="quarter" idx="10"/>
          </p:nvPr>
        </p:nvSpPr>
        <p:spPr>
          <a:xfrm>
            <a:off x="274638" y="1243596"/>
            <a:ext cx="11887199" cy="5835444"/>
          </a:xfrm>
        </p:spPr>
        <p:txBody>
          <a:bodyPr/>
          <a:lstStyle/>
          <a:p>
            <a:r>
              <a:rPr lang="en-US" sz="1700" dirty="0">
                <a:solidFill>
                  <a:schemeClr val="bg1"/>
                </a:solidFill>
              </a:rPr>
              <a:t>exec </a:t>
            </a:r>
            <a:r>
              <a:rPr lang="en-US" sz="1700" dirty="0" err="1">
                <a:solidFill>
                  <a:schemeClr val="bg1"/>
                </a:solidFill>
              </a:rPr>
              <a:t>sp_execute_external_script</a:t>
            </a:r>
            <a:endParaRPr lang="en-US" sz="1700" dirty="0">
              <a:solidFill>
                <a:schemeClr val="bg1"/>
              </a:solidFill>
            </a:endParaRPr>
          </a:p>
          <a:p>
            <a:r>
              <a:rPr lang="en-US" sz="1700" dirty="0">
                <a:solidFill>
                  <a:schemeClr val="bg1"/>
                </a:solidFill>
              </a:rPr>
              <a:t>	@language = N'R’</a:t>
            </a:r>
          </a:p>
          <a:p>
            <a:r>
              <a:rPr lang="en-US" sz="1700" dirty="0">
                <a:solidFill>
                  <a:schemeClr val="bg1"/>
                </a:solidFill>
              </a:rPr>
              <a:t>	, @script = N'</a:t>
            </a:r>
          </a:p>
          <a:p>
            <a:r>
              <a:rPr lang="en-US" sz="1700" dirty="0">
                <a:solidFill>
                  <a:schemeClr val="bg1"/>
                </a:solidFill>
              </a:rPr>
              <a:t># </a:t>
            </a:r>
            <a:r>
              <a:rPr lang="en-US" sz="1700" dirty="0" err="1">
                <a:solidFill>
                  <a:schemeClr val="bg1"/>
                </a:solidFill>
              </a:rPr>
              <a:t>unserialize</a:t>
            </a:r>
            <a:r>
              <a:rPr lang="en-US" sz="1700" dirty="0">
                <a:solidFill>
                  <a:schemeClr val="bg1"/>
                </a:solidFill>
              </a:rPr>
              <a:t> model</a:t>
            </a:r>
          </a:p>
          <a:p>
            <a:r>
              <a:rPr lang="en-US" sz="1700" dirty="0" err="1">
                <a:solidFill>
                  <a:schemeClr val="bg1"/>
                </a:solidFill>
              </a:rPr>
              <a:t>logitObj</a:t>
            </a:r>
            <a:r>
              <a:rPr lang="en-US" sz="1700" dirty="0">
                <a:solidFill>
                  <a:schemeClr val="bg1"/>
                </a:solidFill>
              </a:rPr>
              <a:t> &lt;- </a:t>
            </a:r>
            <a:r>
              <a:rPr lang="en-US" sz="1700" dirty="0" err="1">
                <a:solidFill>
                  <a:schemeClr val="bg1"/>
                </a:solidFill>
              </a:rPr>
              <a:t>unserialize</a:t>
            </a:r>
            <a:r>
              <a:rPr lang="en-US" sz="1700" dirty="0">
                <a:solidFill>
                  <a:schemeClr val="bg1"/>
                </a:solidFill>
              </a:rPr>
              <a:t>(</a:t>
            </a:r>
            <a:r>
              <a:rPr lang="en-US" sz="1700" dirty="0" err="1">
                <a:solidFill>
                  <a:schemeClr val="bg1"/>
                </a:solidFill>
              </a:rPr>
              <a:t>modelbin</a:t>
            </a:r>
            <a:r>
              <a:rPr lang="en-US" sz="1700" dirty="0">
                <a:solidFill>
                  <a:schemeClr val="bg1"/>
                </a:solidFill>
              </a:rPr>
              <a:t>);</a:t>
            </a:r>
          </a:p>
          <a:p>
            <a:endParaRPr lang="en-US" sz="1700" dirty="0">
              <a:solidFill>
                <a:schemeClr val="bg1"/>
              </a:solidFill>
            </a:endParaRPr>
          </a:p>
          <a:p>
            <a:r>
              <a:rPr lang="en-US" sz="1700" dirty="0">
                <a:solidFill>
                  <a:schemeClr val="bg1"/>
                </a:solidFill>
              </a:rPr>
              <a:t># build classification model to predict tipped or not</a:t>
            </a:r>
          </a:p>
          <a:p>
            <a:r>
              <a:rPr lang="en-US" sz="1700" dirty="0" err="1">
                <a:solidFill>
                  <a:schemeClr val="bg1"/>
                </a:solidFill>
              </a:rPr>
              <a:t>system.time</a:t>
            </a:r>
            <a:r>
              <a:rPr lang="en-US" sz="1700" dirty="0">
                <a:solidFill>
                  <a:schemeClr val="bg1"/>
                </a:solidFill>
              </a:rPr>
              <a:t>(</a:t>
            </a:r>
            <a:r>
              <a:rPr lang="en-US" sz="1700" dirty="0" err="1">
                <a:solidFill>
                  <a:schemeClr val="bg1"/>
                </a:solidFill>
              </a:rPr>
              <a:t>OutputDataSet</a:t>
            </a:r>
            <a:r>
              <a:rPr lang="en-US" sz="1700" dirty="0">
                <a:solidFill>
                  <a:schemeClr val="bg1"/>
                </a:solidFill>
              </a:rPr>
              <a:t> &lt;- </a:t>
            </a:r>
            <a:r>
              <a:rPr lang="en-US" sz="1700" dirty="0" err="1">
                <a:solidFill>
                  <a:schemeClr val="bg1"/>
                </a:solidFill>
              </a:rPr>
              <a:t>data.frame</a:t>
            </a:r>
            <a:r>
              <a:rPr lang="en-US" sz="1700" dirty="0">
                <a:solidFill>
                  <a:schemeClr val="bg1"/>
                </a:solidFill>
              </a:rPr>
              <a:t>(predict(</a:t>
            </a:r>
            <a:r>
              <a:rPr lang="en-US" sz="1700" dirty="0" err="1">
                <a:solidFill>
                  <a:schemeClr val="bg1"/>
                </a:solidFill>
              </a:rPr>
              <a:t>logitObj</a:t>
            </a:r>
            <a:r>
              <a:rPr lang="en-US" sz="1700" dirty="0">
                <a:solidFill>
                  <a:schemeClr val="bg1"/>
                </a:solidFill>
              </a:rPr>
              <a:t>, </a:t>
            </a:r>
            <a:r>
              <a:rPr lang="en-US" sz="1700" dirty="0" err="1">
                <a:solidFill>
                  <a:schemeClr val="bg1"/>
                </a:solidFill>
              </a:rPr>
              <a:t>newdata</a:t>
            </a:r>
            <a:r>
              <a:rPr lang="en-US" sz="1700" dirty="0">
                <a:solidFill>
                  <a:schemeClr val="bg1"/>
                </a:solidFill>
              </a:rPr>
              <a:t> = </a:t>
            </a:r>
            <a:r>
              <a:rPr lang="en-US" sz="1700" b="1" dirty="0" err="1">
                <a:solidFill>
                  <a:schemeClr val="accent2"/>
                </a:solidFill>
              </a:rPr>
              <a:t>InputDataSet</a:t>
            </a:r>
            <a:r>
              <a:rPr lang="en-US" sz="1700" dirty="0">
                <a:solidFill>
                  <a:schemeClr val="bg1"/>
                </a:solidFill>
              </a:rPr>
              <a:t>,</a:t>
            </a:r>
          </a:p>
          <a:p>
            <a:r>
              <a:rPr lang="en-US" sz="1700" dirty="0">
                <a:solidFill>
                  <a:schemeClr val="bg1"/>
                </a:solidFill>
              </a:rPr>
              <a:t>						type = "response")))[3];</a:t>
            </a:r>
          </a:p>
          <a:p>
            <a:r>
              <a:rPr lang="en-US" sz="1700" dirty="0">
                <a:solidFill>
                  <a:schemeClr val="bg1"/>
                </a:solidFill>
              </a:rPr>
              <a:t>‘</a:t>
            </a:r>
          </a:p>
          <a:p>
            <a:r>
              <a:rPr lang="en-US" sz="1700" dirty="0">
                <a:solidFill>
                  <a:schemeClr val="bg1"/>
                </a:solidFill>
              </a:rPr>
              <a:t>	, @input_data_1 = N’</a:t>
            </a:r>
          </a:p>
          <a:p>
            <a:r>
              <a:rPr lang="en-US" sz="1700" b="1" dirty="0">
                <a:solidFill>
                  <a:schemeClr val="accent2"/>
                </a:solidFill>
              </a:rPr>
              <a:t>SELECT tipped, </a:t>
            </a:r>
            <a:r>
              <a:rPr lang="en-US" sz="1700" b="1" dirty="0" err="1">
                <a:solidFill>
                  <a:schemeClr val="accent2"/>
                </a:solidFill>
              </a:rPr>
              <a:t>passenger_count</a:t>
            </a:r>
            <a:r>
              <a:rPr lang="en-US" sz="1700" b="1" dirty="0">
                <a:solidFill>
                  <a:schemeClr val="accent2"/>
                </a:solidFill>
              </a:rPr>
              <a:t>, </a:t>
            </a:r>
            <a:r>
              <a:rPr lang="en-US" sz="1700" b="1" dirty="0" err="1">
                <a:solidFill>
                  <a:schemeClr val="accent2"/>
                </a:solidFill>
              </a:rPr>
              <a:t>trip_time_in_secs</a:t>
            </a:r>
            <a:r>
              <a:rPr lang="en-US" sz="1700" b="1" dirty="0">
                <a:solidFill>
                  <a:schemeClr val="accent2"/>
                </a:solidFill>
              </a:rPr>
              <a:t>, </a:t>
            </a:r>
            <a:r>
              <a:rPr lang="en-US" sz="1700" b="1" dirty="0" err="1">
                <a:solidFill>
                  <a:schemeClr val="accent2"/>
                </a:solidFill>
              </a:rPr>
              <a:t>trip_distance</a:t>
            </a:r>
            <a:r>
              <a:rPr lang="en-US" sz="1700" b="1" dirty="0">
                <a:solidFill>
                  <a:schemeClr val="accent2"/>
                </a:solidFill>
              </a:rPr>
              <a:t>, </a:t>
            </a:r>
            <a:r>
              <a:rPr lang="en-US" sz="1700" b="1" dirty="0" err="1">
                <a:solidFill>
                  <a:schemeClr val="accent2"/>
                </a:solidFill>
              </a:rPr>
              <a:t>d.direct_distance</a:t>
            </a:r>
            <a:endParaRPr lang="en-US" sz="1700" b="1" dirty="0">
              <a:solidFill>
                <a:schemeClr val="accent2"/>
              </a:solidFill>
            </a:endParaRPr>
          </a:p>
          <a:p>
            <a:r>
              <a:rPr lang="en-US" sz="1700" b="1" dirty="0">
                <a:solidFill>
                  <a:schemeClr val="accent2"/>
                </a:solidFill>
              </a:rPr>
              <a:t>FROM </a:t>
            </a:r>
            <a:r>
              <a:rPr lang="en-US" sz="1700" b="1" dirty="0" err="1">
                <a:solidFill>
                  <a:schemeClr val="accent2"/>
                </a:solidFill>
              </a:rPr>
              <a:t>dbo.nyctaxi_sample</a:t>
            </a:r>
            <a:r>
              <a:rPr lang="en-US" sz="1700" b="1" dirty="0">
                <a:solidFill>
                  <a:schemeClr val="accent2"/>
                </a:solidFill>
              </a:rPr>
              <a:t> TABLESAMPLE (50 PERCENT) REPEATABLE (98074)</a:t>
            </a:r>
          </a:p>
          <a:p>
            <a:r>
              <a:rPr lang="en-US" sz="1700" b="1" dirty="0">
                <a:solidFill>
                  <a:schemeClr val="accent2"/>
                </a:solidFill>
              </a:rPr>
              <a:t>CROSS APPLY [</a:t>
            </a:r>
            <a:r>
              <a:rPr lang="en-US" sz="1700" b="1" dirty="0" err="1">
                <a:solidFill>
                  <a:schemeClr val="accent2"/>
                </a:solidFill>
              </a:rPr>
              <a:t>CalculateDistance</a:t>
            </a:r>
            <a:r>
              <a:rPr lang="en-US" sz="1700" b="1" dirty="0">
                <a:solidFill>
                  <a:schemeClr val="accent2"/>
                </a:solidFill>
              </a:rPr>
              <a:t>](</a:t>
            </a:r>
            <a:r>
              <a:rPr lang="en-US" sz="1700" b="1" dirty="0" err="1">
                <a:solidFill>
                  <a:schemeClr val="accent2"/>
                </a:solidFill>
              </a:rPr>
              <a:t>pickup_latitude</a:t>
            </a:r>
            <a:r>
              <a:rPr lang="en-US" sz="1700" b="1" dirty="0">
                <a:solidFill>
                  <a:schemeClr val="accent2"/>
                </a:solidFill>
              </a:rPr>
              <a:t>, </a:t>
            </a:r>
            <a:r>
              <a:rPr lang="en-US" sz="1700" b="1" dirty="0" err="1">
                <a:solidFill>
                  <a:schemeClr val="accent2"/>
                </a:solidFill>
              </a:rPr>
              <a:t>pickup_longitude</a:t>
            </a:r>
            <a:r>
              <a:rPr lang="en-US" sz="1700" b="1" dirty="0">
                <a:solidFill>
                  <a:schemeClr val="accent2"/>
                </a:solidFill>
              </a:rPr>
              <a:t>,</a:t>
            </a:r>
          </a:p>
          <a:p>
            <a:r>
              <a:rPr lang="en-US" sz="1700" b="1" dirty="0">
                <a:solidFill>
                  <a:schemeClr val="accent2"/>
                </a:solidFill>
              </a:rPr>
              <a:t>				</a:t>
            </a:r>
            <a:r>
              <a:rPr lang="en-US" sz="1700" b="1" dirty="0" err="1">
                <a:solidFill>
                  <a:schemeClr val="accent2"/>
                </a:solidFill>
              </a:rPr>
              <a:t>dropoff_latitude</a:t>
            </a:r>
            <a:r>
              <a:rPr lang="en-US" sz="1700" b="1" dirty="0">
                <a:solidFill>
                  <a:schemeClr val="accent2"/>
                </a:solidFill>
              </a:rPr>
              <a:t>, </a:t>
            </a:r>
            <a:r>
              <a:rPr lang="en-US" sz="1700" b="1" dirty="0" err="1">
                <a:solidFill>
                  <a:schemeClr val="accent2"/>
                </a:solidFill>
              </a:rPr>
              <a:t>dropoff_longitude</a:t>
            </a:r>
            <a:r>
              <a:rPr lang="en-US" sz="1700" b="1" dirty="0">
                <a:solidFill>
                  <a:schemeClr val="accent2"/>
                </a:solidFill>
              </a:rPr>
              <a:t>) as d</a:t>
            </a:r>
          </a:p>
          <a:p>
            <a:r>
              <a:rPr lang="en-US" sz="1700" b="1" dirty="0">
                <a:solidFill>
                  <a:schemeClr val="accent2"/>
                </a:solidFill>
              </a:rPr>
              <a:t>OPTION(MAXDOP 2) -- Needed only to control DOP</a:t>
            </a:r>
            <a:r>
              <a:rPr lang="en-US" sz="1700" dirty="0"/>
              <a:t>’</a:t>
            </a:r>
          </a:p>
          <a:p>
            <a:r>
              <a:rPr lang="en-US" sz="1700" b="1" dirty="0">
                <a:solidFill>
                  <a:schemeClr val="accent2"/>
                </a:solidFill>
              </a:rPr>
              <a:t>	, @parallel = 1</a:t>
            </a:r>
          </a:p>
          <a:p>
            <a:r>
              <a:rPr lang="en-US" sz="1700" dirty="0">
                <a:solidFill>
                  <a:schemeClr val="bg1"/>
                </a:solidFill>
              </a:rPr>
              <a:t>	, @</a:t>
            </a:r>
            <a:r>
              <a:rPr lang="en-US" sz="1700" dirty="0" err="1">
                <a:solidFill>
                  <a:schemeClr val="bg1"/>
                </a:solidFill>
              </a:rPr>
              <a:t>params</a:t>
            </a:r>
            <a:r>
              <a:rPr lang="en-US" sz="1700" dirty="0">
                <a:solidFill>
                  <a:schemeClr val="bg1"/>
                </a:solidFill>
              </a:rPr>
              <a:t> = N'@</a:t>
            </a:r>
            <a:r>
              <a:rPr lang="en-US" sz="1700" dirty="0" err="1">
                <a:solidFill>
                  <a:schemeClr val="bg1"/>
                </a:solidFill>
              </a:rPr>
              <a:t>modelbin</a:t>
            </a:r>
            <a:r>
              <a:rPr lang="en-US" sz="1700" dirty="0">
                <a:solidFill>
                  <a:schemeClr val="bg1"/>
                </a:solidFill>
              </a:rPr>
              <a:t> </a:t>
            </a:r>
            <a:r>
              <a:rPr lang="en-US" sz="1700" dirty="0" err="1">
                <a:solidFill>
                  <a:schemeClr val="bg1"/>
                </a:solidFill>
              </a:rPr>
              <a:t>varbinary</a:t>
            </a:r>
            <a:r>
              <a:rPr lang="en-US" sz="1700" dirty="0">
                <a:solidFill>
                  <a:schemeClr val="bg1"/>
                </a:solidFill>
              </a:rPr>
              <a:t>(max), @</a:t>
            </a:r>
            <a:r>
              <a:rPr lang="en-US" sz="1700" dirty="0" err="1">
                <a:solidFill>
                  <a:schemeClr val="bg1"/>
                </a:solidFill>
              </a:rPr>
              <a:t>r_rowsPerRead</a:t>
            </a:r>
            <a:r>
              <a:rPr lang="en-US" sz="1700" dirty="0">
                <a:solidFill>
                  <a:schemeClr val="bg1"/>
                </a:solidFill>
              </a:rPr>
              <a:t> </a:t>
            </a:r>
            <a:r>
              <a:rPr lang="en-US" sz="1700" dirty="0" err="1">
                <a:solidFill>
                  <a:schemeClr val="bg1"/>
                </a:solidFill>
              </a:rPr>
              <a:t>int</a:t>
            </a:r>
            <a:r>
              <a:rPr lang="en-US" sz="1700" dirty="0">
                <a:solidFill>
                  <a:schemeClr val="bg1"/>
                </a:solidFill>
              </a:rPr>
              <a:t>’</a:t>
            </a:r>
          </a:p>
          <a:p>
            <a:r>
              <a:rPr lang="en-US" sz="1700" dirty="0">
                <a:solidFill>
                  <a:schemeClr val="bg1"/>
                </a:solidFill>
              </a:rPr>
              <a:t>	, @</a:t>
            </a:r>
            <a:r>
              <a:rPr lang="en-US" sz="1700" dirty="0" err="1">
                <a:solidFill>
                  <a:schemeClr val="bg1"/>
                </a:solidFill>
              </a:rPr>
              <a:t>modelbin</a:t>
            </a:r>
            <a:r>
              <a:rPr lang="en-US" sz="1700" dirty="0">
                <a:solidFill>
                  <a:schemeClr val="bg1"/>
                </a:solidFill>
              </a:rPr>
              <a:t> = @model</a:t>
            </a:r>
          </a:p>
          <a:p>
            <a:r>
              <a:rPr lang="en-US" sz="1700" dirty="0">
                <a:solidFill>
                  <a:schemeClr val="bg1"/>
                </a:solidFill>
              </a:rPr>
              <a:t>	, @</a:t>
            </a:r>
            <a:r>
              <a:rPr lang="en-US" sz="1700" dirty="0" err="1">
                <a:solidFill>
                  <a:schemeClr val="bg1"/>
                </a:solidFill>
              </a:rPr>
              <a:t>r_rowsPerRead</a:t>
            </a:r>
            <a:r>
              <a:rPr lang="en-US" sz="1700" dirty="0">
                <a:solidFill>
                  <a:schemeClr val="bg1"/>
                </a:solidFill>
              </a:rPr>
              <a:t> = 5000;</a:t>
            </a:r>
          </a:p>
        </p:txBody>
      </p:sp>
    </p:spTree>
    <p:extLst>
      <p:ext uri="{BB962C8B-B14F-4D97-AF65-F5344CB8AC3E}">
        <p14:creationId xmlns:p14="http://schemas.microsoft.com/office/powerpoint/2010/main" val="2416991040"/>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23.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7" y="2125677"/>
            <a:ext cx="10885539" cy="1181862"/>
          </a:xfrm>
        </p:spPr>
        <p:txBody>
          <a:bodyPr/>
          <a:lstStyle/>
          <a:p>
            <a:r>
              <a:rPr lang="en-US" dirty="0"/>
              <a:t>Demo - Trivial Parallelism</a:t>
            </a:r>
          </a:p>
        </p:txBody>
      </p:sp>
      <p:sp>
        <p:nvSpPr>
          <p:cNvPr id="5" name="Text Placeholder 4">
            <a:extLst>
              <a:ext uri="{FF2B5EF4-FFF2-40B4-BE49-F238E27FC236}">
                <a16:creationId xmlns:a16="http://schemas.microsoft.com/office/drawing/2014/main" id="{86D90F6A-36C9-446F-B5CF-D74386BB828D}"/>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180673623"/>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24.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1A63-4262-4870-B2C0-B66ECC61876E}"/>
              </a:ext>
            </a:extLst>
          </p:cNvPr>
          <p:cNvSpPr>
            <a:spLocks noGrp="1"/>
          </p:cNvSpPr>
          <p:nvPr>
            <p:ph type="title"/>
          </p:nvPr>
        </p:nvSpPr>
        <p:spPr/>
        <p:txBody>
          <a:bodyPr/>
          <a:lstStyle/>
          <a:p>
            <a:r>
              <a:rPr lang="en-US" dirty="0"/>
              <a:t>SQL Compute Context from server</a:t>
            </a:r>
          </a:p>
        </p:txBody>
      </p:sp>
      <p:sp>
        <p:nvSpPr>
          <p:cNvPr id="3" name="Text Placeholder 2">
            <a:extLst>
              <a:ext uri="{FF2B5EF4-FFF2-40B4-BE49-F238E27FC236}">
                <a16:creationId xmlns:a16="http://schemas.microsoft.com/office/drawing/2014/main" id="{E3FAFF91-DBFC-4FE4-9D11-565CC0562C23}"/>
              </a:ext>
            </a:extLst>
          </p:cNvPr>
          <p:cNvSpPr>
            <a:spLocks noGrp="1"/>
          </p:cNvSpPr>
          <p:nvPr>
            <p:ph type="body" sz="quarter" idx="10"/>
          </p:nvPr>
        </p:nvSpPr>
        <p:spPr>
          <a:xfrm>
            <a:off x="274702" y="1211287"/>
            <a:ext cx="11888787" cy="5478423"/>
          </a:xfrm>
        </p:spPr>
        <p:txBody>
          <a:bodyPr/>
          <a:lstStyle/>
          <a:p>
            <a:pPr marL="0" indent="0">
              <a:buNone/>
            </a:pPr>
            <a:r>
              <a:rPr lang="en-US" sz="4000" dirty="0"/>
              <a:t>Requirements:</a:t>
            </a:r>
          </a:p>
          <a:p>
            <a:pPr marL="0" indent="0">
              <a:buNone/>
            </a:pPr>
            <a:r>
              <a:rPr lang="en-US" sz="4000" dirty="0"/>
              <a:t>	Training in parallel</a:t>
            </a:r>
          </a:p>
          <a:p>
            <a:pPr marL="0" indent="0">
              <a:buNone/>
            </a:pPr>
            <a:r>
              <a:rPr lang="en-US" sz="4000" dirty="0"/>
              <a:t>	Scoring &amp; writing results in parallel</a:t>
            </a:r>
          </a:p>
          <a:p>
            <a:pPr marL="0" indent="0">
              <a:buNone/>
            </a:pPr>
            <a:r>
              <a:rPr lang="en-US" sz="4000" dirty="0">
                <a:solidFill>
                  <a:schemeClr val="tx1"/>
                </a:solidFill>
                <a:latin typeface="Segoe UI Light" pitchFamily="34" charset="0"/>
              </a:rPr>
              <a:t>	</a:t>
            </a:r>
            <a:endParaRPr lang="en-US" sz="4000" dirty="0"/>
          </a:p>
          <a:p>
            <a:pPr marL="0" indent="0">
              <a:buNone/>
            </a:pPr>
            <a:r>
              <a:rPr lang="en-US" sz="4000" dirty="0"/>
              <a:t>Key Benefits:</a:t>
            </a:r>
          </a:p>
          <a:p>
            <a:pPr marL="0" indent="0">
              <a:buNone/>
            </a:pPr>
            <a:r>
              <a:rPr lang="en-US" sz="4000" dirty="0"/>
              <a:t>	Scales to large data sets</a:t>
            </a:r>
          </a:p>
          <a:p>
            <a:pPr marL="0" indent="0">
              <a:buNone/>
            </a:pPr>
            <a:r>
              <a:rPr lang="en-US" sz="4000" dirty="0"/>
              <a:t>	Leverage multiple CPUs</a:t>
            </a:r>
          </a:p>
          <a:p>
            <a:pPr marL="0" indent="0">
              <a:buNone/>
            </a:pPr>
            <a:r>
              <a:rPr lang="en-US" sz="4000" dirty="0"/>
              <a:t>	Integrates with parallel query execution</a:t>
            </a:r>
          </a:p>
        </p:txBody>
      </p:sp>
    </p:spTree>
    <p:extLst>
      <p:ext uri="{BB962C8B-B14F-4D97-AF65-F5344CB8AC3E}">
        <p14:creationId xmlns:p14="http://schemas.microsoft.com/office/powerpoint/2010/main" val="1646061506"/>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25.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F3910-71F0-4E93-850A-11F1BE766340}"/>
              </a:ext>
            </a:extLst>
          </p:cNvPr>
          <p:cNvSpPr>
            <a:spLocks noGrp="1"/>
          </p:cNvSpPr>
          <p:nvPr>
            <p:ph type="title"/>
          </p:nvPr>
        </p:nvSpPr>
        <p:spPr/>
        <p:txBody>
          <a:bodyPr/>
          <a:lstStyle/>
          <a:p>
            <a:r>
              <a:rPr lang="en-US" sz="4000" dirty="0"/>
              <a:t>Parallel Training or Scoring (</a:t>
            </a:r>
            <a:r>
              <a:rPr lang="en-US" sz="4000" dirty="0" err="1"/>
              <a:t>rx</a:t>
            </a:r>
            <a:r>
              <a:rPr lang="en-US" sz="4000" dirty="0"/>
              <a:t>* functions)</a:t>
            </a:r>
          </a:p>
        </p:txBody>
      </p:sp>
      <p:grpSp>
        <p:nvGrpSpPr>
          <p:cNvPr id="39" name="Group 38">
            <a:extLst>
              <a:ext uri="{FF2B5EF4-FFF2-40B4-BE49-F238E27FC236}">
                <a16:creationId xmlns:a16="http://schemas.microsoft.com/office/drawing/2014/main" id="{66E6C23A-75D7-4700-9081-C24DBE57B9F4}"/>
              </a:ext>
            </a:extLst>
          </p:cNvPr>
          <p:cNvGrpSpPr/>
          <p:nvPr/>
        </p:nvGrpSpPr>
        <p:grpSpPr>
          <a:xfrm>
            <a:off x="4842280" y="2755386"/>
            <a:ext cx="1703025" cy="1778892"/>
            <a:chOff x="4842280" y="2755386"/>
            <a:chExt cx="1703025" cy="1778892"/>
          </a:xfrm>
        </p:grpSpPr>
        <p:sp>
          <p:nvSpPr>
            <p:cNvPr id="34" name="TextBox 33">
              <a:extLst>
                <a:ext uri="{FF2B5EF4-FFF2-40B4-BE49-F238E27FC236}">
                  <a16:creationId xmlns:a16="http://schemas.microsoft.com/office/drawing/2014/main" id="{0B0FF48B-1072-44B2-8EE3-0922BBD6BFBE}"/>
                </a:ext>
              </a:extLst>
            </p:cNvPr>
            <p:cNvSpPr txBox="1"/>
            <p:nvPr/>
          </p:nvSpPr>
          <p:spPr>
            <a:xfrm>
              <a:off x="4869814" y="4017213"/>
              <a:ext cx="1348423"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err="1">
                  <a:ln>
                    <a:noFill/>
                  </a:ln>
                  <a:gradFill>
                    <a:gsLst>
                      <a:gs pos="2917">
                        <a:srgbClr val="FFFFFF"/>
                      </a:gs>
                      <a:gs pos="30000">
                        <a:srgbClr val="FFFFFF"/>
                      </a:gs>
                    </a:gsLst>
                    <a:lin ang="5400000" scaled="0"/>
                  </a:gradFill>
                  <a:effectLst/>
                  <a:uLnTx/>
                  <a:uFillTx/>
                  <a:latin typeface="Segoe UI Semilight"/>
                  <a:ea typeface="+mn-ea"/>
                  <a:cs typeface="+mn-cs"/>
                </a:rPr>
                <a:t>rxCall</a:t>
              </a: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a:t>
              </a:r>
            </a:p>
          </p:txBody>
        </p:sp>
        <p:sp>
          <p:nvSpPr>
            <p:cNvPr id="36" name="TextBox 35">
              <a:extLst>
                <a:ext uri="{FF2B5EF4-FFF2-40B4-BE49-F238E27FC236}">
                  <a16:creationId xmlns:a16="http://schemas.microsoft.com/office/drawing/2014/main" id="{36BC2CB4-301E-4238-8A60-E5406A79FC4A}"/>
                </a:ext>
              </a:extLst>
            </p:cNvPr>
            <p:cNvSpPr txBox="1"/>
            <p:nvPr/>
          </p:nvSpPr>
          <p:spPr>
            <a:xfrm>
              <a:off x="4842280" y="2755386"/>
              <a:ext cx="1703025"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err="1">
                  <a:ln>
                    <a:noFill/>
                  </a:ln>
                  <a:gradFill>
                    <a:gsLst>
                      <a:gs pos="2917">
                        <a:srgbClr val="FFFFFF"/>
                      </a:gs>
                      <a:gs pos="30000">
                        <a:srgbClr val="FFFFFF"/>
                      </a:gs>
                    </a:gsLst>
                    <a:lin ang="5400000" scaled="0"/>
                  </a:gradFill>
                  <a:effectLst/>
                  <a:uLnTx/>
                  <a:uFillTx/>
                  <a:latin typeface="Segoe UI Semilight"/>
                  <a:ea typeface="+mn-ea"/>
                  <a:cs typeface="+mn-cs"/>
                </a:rPr>
                <a:t>rxCall</a:t>
              </a: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a:t>
              </a:r>
            </a:p>
          </p:txBody>
        </p:sp>
      </p:grpSp>
      <p:grpSp>
        <p:nvGrpSpPr>
          <p:cNvPr id="19" name="Group 18">
            <a:extLst>
              <a:ext uri="{FF2B5EF4-FFF2-40B4-BE49-F238E27FC236}">
                <a16:creationId xmlns:a16="http://schemas.microsoft.com/office/drawing/2014/main" id="{2CAE1A24-B535-4BE4-9E89-F75E00F0EBA3}"/>
              </a:ext>
            </a:extLst>
          </p:cNvPr>
          <p:cNvGrpSpPr/>
          <p:nvPr/>
        </p:nvGrpSpPr>
        <p:grpSpPr>
          <a:xfrm>
            <a:off x="1032161" y="1897381"/>
            <a:ext cx="3444553" cy="3474718"/>
            <a:chOff x="2356357" y="2175063"/>
            <a:chExt cx="3444553" cy="3174175"/>
          </a:xfrm>
        </p:grpSpPr>
        <p:sp>
          <p:nvSpPr>
            <p:cNvPr id="10" name="Cylinder 9">
              <a:extLst>
                <a:ext uri="{FF2B5EF4-FFF2-40B4-BE49-F238E27FC236}">
                  <a16:creationId xmlns:a16="http://schemas.microsoft.com/office/drawing/2014/main" id="{B8F05FDE-90B1-4324-8DA7-2AB4ED031778}"/>
                </a:ext>
              </a:extLst>
            </p:cNvPr>
            <p:cNvSpPr/>
            <p:nvPr/>
          </p:nvSpPr>
          <p:spPr bwMode="auto">
            <a:xfrm>
              <a:off x="2356357" y="2175063"/>
              <a:ext cx="3444553" cy="3174175"/>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1" name="Flowchart: Data 10">
              <a:extLst>
                <a:ext uri="{FF2B5EF4-FFF2-40B4-BE49-F238E27FC236}">
                  <a16:creationId xmlns:a16="http://schemas.microsoft.com/office/drawing/2014/main" id="{454DC488-0AC0-41D8-9D36-ECB08004B972}"/>
                </a:ext>
              </a:extLst>
            </p:cNvPr>
            <p:cNvSpPr/>
            <p:nvPr/>
          </p:nvSpPr>
          <p:spPr bwMode="auto">
            <a:xfrm>
              <a:off x="2633491" y="3106461"/>
              <a:ext cx="2880659" cy="1636989"/>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sp_execute_external_script</a:t>
              </a:r>
              <a:endPar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@script = </a:t>
              </a: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N’rxLogit</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a:t>
              </a:r>
              <a:r>
                <a:rPr kumimoji="0" lang="en-US" sz="1200" b="1"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 @input_data_1 = N’</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SELECT….’</a:t>
              </a:r>
            </a:p>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(MAXDOP = 2)</a:t>
              </a:r>
            </a:p>
          </p:txBody>
        </p:sp>
      </p:grpSp>
      <p:grpSp>
        <p:nvGrpSpPr>
          <p:cNvPr id="38" name="Group 37">
            <a:extLst>
              <a:ext uri="{FF2B5EF4-FFF2-40B4-BE49-F238E27FC236}">
                <a16:creationId xmlns:a16="http://schemas.microsoft.com/office/drawing/2014/main" id="{917876F3-DFDF-4F02-9FFE-4D9EF0D7DA18}"/>
              </a:ext>
            </a:extLst>
          </p:cNvPr>
          <p:cNvGrpSpPr/>
          <p:nvPr/>
        </p:nvGrpSpPr>
        <p:grpSpPr>
          <a:xfrm>
            <a:off x="3602134" y="3131118"/>
            <a:ext cx="3181718" cy="1389944"/>
            <a:chOff x="3602134" y="3131118"/>
            <a:chExt cx="3181718" cy="1389944"/>
          </a:xfrm>
        </p:grpSpPr>
        <p:cxnSp>
          <p:nvCxnSpPr>
            <p:cNvPr id="13" name="Straight Arrow Connector 12">
              <a:extLst>
                <a:ext uri="{FF2B5EF4-FFF2-40B4-BE49-F238E27FC236}">
                  <a16:creationId xmlns:a16="http://schemas.microsoft.com/office/drawing/2014/main" id="{3C548E2B-384E-486B-88AE-D685CA4C5480}"/>
                </a:ext>
              </a:extLst>
            </p:cNvPr>
            <p:cNvCxnSpPr>
              <a:cxnSpLocks/>
              <a:endCxn id="33" idx="1"/>
            </p:cNvCxnSpPr>
            <p:nvPr/>
          </p:nvCxnSpPr>
          <p:spPr>
            <a:xfrm>
              <a:off x="4082194" y="3131118"/>
              <a:ext cx="2701658"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EBA0AE7-3A70-4DB9-BC84-F0F20AD9CA6E}"/>
                </a:ext>
              </a:extLst>
            </p:cNvPr>
            <p:cNvCxnSpPr>
              <a:cxnSpLocks/>
              <a:endCxn id="35" idx="1"/>
            </p:cNvCxnSpPr>
            <p:nvPr/>
          </p:nvCxnSpPr>
          <p:spPr>
            <a:xfrm>
              <a:off x="3602134" y="4506188"/>
              <a:ext cx="3181718" cy="14874"/>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0BD9F890-EF3D-4533-92BF-BEDE5D6778FE}"/>
              </a:ext>
            </a:extLst>
          </p:cNvPr>
          <p:cNvGrpSpPr/>
          <p:nvPr/>
        </p:nvGrpSpPr>
        <p:grpSpPr>
          <a:xfrm>
            <a:off x="6783852" y="2763514"/>
            <a:ext cx="2697293" cy="2125152"/>
            <a:chOff x="6783852" y="2763514"/>
            <a:chExt cx="2697293" cy="2125152"/>
          </a:xfrm>
        </p:grpSpPr>
        <p:grpSp>
          <p:nvGrpSpPr>
            <p:cNvPr id="12" name="Group 11">
              <a:extLst>
                <a:ext uri="{FF2B5EF4-FFF2-40B4-BE49-F238E27FC236}">
                  <a16:creationId xmlns:a16="http://schemas.microsoft.com/office/drawing/2014/main" id="{3CF489E2-22C7-4526-9F55-68775AB0C841}"/>
                </a:ext>
              </a:extLst>
            </p:cNvPr>
            <p:cNvGrpSpPr/>
            <p:nvPr/>
          </p:nvGrpSpPr>
          <p:grpSpPr>
            <a:xfrm>
              <a:off x="6783852" y="2763514"/>
              <a:ext cx="2673290" cy="735208"/>
              <a:chOff x="8108048" y="2740654"/>
              <a:chExt cx="2673290" cy="735208"/>
            </a:xfrm>
          </p:grpSpPr>
          <p:pic>
            <p:nvPicPr>
              <p:cNvPr id="33" name="Picture 2" descr="Bildresultat för R Language">
                <a:extLst>
                  <a:ext uri="{FF2B5EF4-FFF2-40B4-BE49-F238E27FC236}">
                    <a16:creationId xmlns:a16="http://schemas.microsoft.com/office/drawing/2014/main" id="{D9AB858F-3CAD-474C-A099-227F6DAFC9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8048" y="2740654"/>
                <a:ext cx="948628" cy="73520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19EF8C6-FD31-4271-92DB-B3920E7446F7}"/>
                  </a:ext>
                </a:extLst>
              </p:cNvPr>
              <p:cNvSpPr txBox="1"/>
              <p:nvPr/>
            </p:nvSpPr>
            <p:spPr>
              <a:xfrm>
                <a:off x="8918251" y="2754780"/>
                <a:ext cx="1863087" cy="627864"/>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a:t>
                </a:r>
                <a:r>
                  <a:rPr kumimoji="0" lang="en-US" sz="2400" b="0" i="0" u="none" strike="noStrike" kern="1200" cap="none" spc="0" normalizeH="0" baseline="0" noProof="0" dirty="0" err="1">
                    <a:ln>
                      <a:noFill/>
                    </a:ln>
                    <a:gradFill>
                      <a:gsLst>
                        <a:gs pos="2917">
                          <a:srgbClr val="FFFFFF"/>
                        </a:gs>
                        <a:gs pos="30000">
                          <a:srgbClr val="FFFFFF"/>
                        </a:gs>
                      </a:gsLst>
                      <a:lin ang="5400000" scaled="0"/>
                    </a:gradFill>
                    <a:effectLst/>
                    <a:uLnTx/>
                    <a:uFillTx/>
                    <a:latin typeface="Segoe UI Semilight"/>
                    <a:ea typeface="+mn-ea"/>
                    <a:cs typeface="+mn-cs"/>
                  </a:rPr>
                  <a:t>BxlServer</a:t>
                </a:r>
                <a:endPar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endParaRPr>
              </a:p>
            </p:txBody>
          </p:sp>
        </p:grpSp>
        <p:grpSp>
          <p:nvGrpSpPr>
            <p:cNvPr id="14" name="Group 13">
              <a:extLst>
                <a:ext uri="{FF2B5EF4-FFF2-40B4-BE49-F238E27FC236}">
                  <a16:creationId xmlns:a16="http://schemas.microsoft.com/office/drawing/2014/main" id="{E718402E-7BB4-4CA6-B77C-D296C3B74BB0}"/>
                </a:ext>
              </a:extLst>
            </p:cNvPr>
            <p:cNvGrpSpPr/>
            <p:nvPr/>
          </p:nvGrpSpPr>
          <p:grpSpPr>
            <a:xfrm>
              <a:off x="6783852" y="4153458"/>
              <a:ext cx="2697293" cy="735208"/>
              <a:chOff x="8108048" y="4130598"/>
              <a:chExt cx="2697293" cy="735208"/>
            </a:xfrm>
          </p:grpSpPr>
          <p:pic>
            <p:nvPicPr>
              <p:cNvPr id="35" name="Picture 2" descr="Bildresultat för R Language">
                <a:extLst>
                  <a:ext uri="{FF2B5EF4-FFF2-40B4-BE49-F238E27FC236}">
                    <a16:creationId xmlns:a16="http://schemas.microsoft.com/office/drawing/2014/main" id="{29F87698-3E36-4FD2-B806-D9D28E905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8048" y="4130598"/>
                <a:ext cx="948628" cy="735208"/>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2AEE6557-89D6-41C0-B051-2C1F6B243B4C}"/>
                  </a:ext>
                </a:extLst>
              </p:cNvPr>
              <p:cNvSpPr txBox="1"/>
              <p:nvPr/>
            </p:nvSpPr>
            <p:spPr>
              <a:xfrm>
                <a:off x="8942254" y="4169396"/>
                <a:ext cx="1863087" cy="627864"/>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a:t>
                </a:r>
                <a:r>
                  <a:rPr kumimoji="0" lang="en-US" sz="2400" b="0" i="0" u="none" strike="noStrike" kern="1200" cap="none" spc="0" normalizeH="0" baseline="0" noProof="0" dirty="0" err="1">
                    <a:ln>
                      <a:noFill/>
                    </a:ln>
                    <a:gradFill>
                      <a:gsLst>
                        <a:gs pos="2917">
                          <a:srgbClr val="FFFFFF"/>
                        </a:gs>
                        <a:gs pos="30000">
                          <a:srgbClr val="FFFFFF"/>
                        </a:gs>
                      </a:gsLst>
                      <a:lin ang="5400000" scaled="0"/>
                    </a:gradFill>
                    <a:effectLst/>
                    <a:uLnTx/>
                    <a:uFillTx/>
                    <a:latin typeface="Segoe UI Semilight"/>
                    <a:ea typeface="+mn-ea"/>
                    <a:cs typeface="+mn-cs"/>
                  </a:rPr>
                  <a:t>BxlServer</a:t>
                </a:r>
                <a:endPar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endParaRPr>
              </a:p>
            </p:txBody>
          </p:sp>
        </p:grpSp>
      </p:grpSp>
      <p:sp>
        <p:nvSpPr>
          <p:cNvPr id="15" name="Flowchart: Data 14">
            <a:extLst>
              <a:ext uri="{FF2B5EF4-FFF2-40B4-BE49-F238E27FC236}">
                <a16:creationId xmlns:a16="http://schemas.microsoft.com/office/drawing/2014/main" id="{DDB2C052-FE64-40BC-95A9-049344E12353}"/>
              </a:ext>
            </a:extLst>
          </p:cNvPr>
          <p:cNvSpPr/>
          <p:nvPr/>
        </p:nvSpPr>
        <p:spPr bwMode="auto">
          <a:xfrm>
            <a:off x="9874245" y="2850704"/>
            <a:ext cx="965762" cy="488537"/>
          </a:xfrm>
          <a:prstGeom prst="flowChartInputOutpu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rPr>
              <a:t>m1</a:t>
            </a:r>
          </a:p>
        </p:txBody>
      </p:sp>
      <p:sp>
        <p:nvSpPr>
          <p:cNvPr id="27" name="Flowchart: Data 26">
            <a:extLst>
              <a:ext uri="{FF2B5EF4-FFF2-40B4-BE49-F238E27FC236}">
                <a16:creationId xmlns:a16="http://schemas.microsoft.com/office/drawing/2014/main" id="{54E33A7D-69C0-43F7-B7C6-10A18E77439C}"/>
              </a:ext>
            </a:extLst>
          </p:cNvPr>
          <p:cNvSpPr/>
          <p:nvPr/>
        </p:nvSpPr>
        <p:spPr bwMode="auto">
          <a:xfrm>
            <a:off x="9939625" y="3226346"/>
            <a:ext cx="965762" cy="488537"/>
          </a:xfrm>
          <a:prstGeom prst="flowChartInputOutpu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rPr>
              <a:t>+ m2</a:t>
            </a:r>
          </a:p>
        </p:txBody>
      </p:sp>
      <p:cxnSp>
        <p:nvCxnSpPr>
          <p:cNvPr id="28" name="Straight Arrow Connector 27">
            <a:extLst>
              <a:ext uri="{FF2B5EF4-FFF2-40B4-BE49-F238E27FC236}">
                <a16:creationId xmlns:a16="http://schemas.microsoft.com/office/drawing/2014/main" id="{19049610-5D92-4B44-A134-4D78FC39F95C}"/>
              </a:ext>
            </a:extLst>
          </p:cNvPr>
          <p:cNvCxnSpPr>
            <a:cxnSpLocks/>
            <a:stCxn id="22" idx="3"/>
            <a:endCxn id="27" idx="2"/>
          </p:cNvCxnSpPr>
          <p:nvPr/>
        </p:nvCxnSpPr>
        <p:spPr>
          <a:xfrm flipV="1">
            <a:off x="9481145" y="3470615"/>
            <a:ext cx="555056" cy="103557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0F68C56-C027-4844-8621-9A2CF2DFDD57}"/>
              </a:ext>
            </a:extLst>
          </p:cNvPr>
          <p:cNvCxnSpPr>
            <a:cxnSpLocks/>
            <a:stCxn id="9" idx="3"/>
            <a:endCxn id="15" idx="2"/>
          </p:cNvCxnSpPr>
          <p:nvPr/>
        </p:nvCxnSpPr>
        <p:spPr>
          <a:xfrm>
            <a:off x="9457142" y="3091572"/>
            <a:ext cx="513679" cy="340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56B832AC-5AB9-4AB5-9962-B17F104DA4B0}"/>
              </a:ext>
            </a:extLst>
          </p:cNvPr>
          <p:cNvGrpSpPr/>
          <p:nvPr/>
        </p:nvGrpSpPr>
        <p:grpSpPr>
          <a:xfrm>
            <a:off x="3990754" y="3453045"/>
            <a:ext cx="3267412" cy="517065"/>
            <a:chOff x="3990754" y="3453045"/>
            <a:chExt cx="3267412" cy="517065"/>
          </a:xfrm>
        </p:grpSpPr>
        <p:cxnSp>
          <p:nvCxnSpPr>
            <p:cNvPr id="6" name="Straight Arrow Connector 5">
              <a:extLst>
                <a:ext uri="{FF2B5EF4-FFF2-40B4-BE49-F238E27FC236}">
                  <a16:creationId xmlns:a16="http://schemas.microsoft.com/office/drawing/2014/main" id="{ED95F02C-156A-414F-B2F8-C6B028F8435F}"/>
                </a:ext>
              </a:extLst>
            </p:cNvPr>
            <p:cNvCxnSpPr>
              <a:cxnSpLocks/>
              <a:stCxn id="33" idx="2"/>
            </p:cNvCxnSpPr>
            <p:nvPr/>
          </p:nvCxnSpPr>
          <p:spPr>
            <a:xfrm flipH="1">
              <a:off x="3990754" y="3498722"/>
              <a:ext cx="3267412" cy="2140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D583DFF-A817-43DF-8C4E-2BA51221BC50}"/>
                </a:ext>
              </a:extLst>
            </p:cNvPr>
            <p:cNvSpPr txBox="1"/>
            <p:nvPr/>
          </p:nvSpPr>
          <p:spPr>
            <a:xfrm>
              <a:off x="4842280" y="3453045"/>
              <a:ext cx="1906592"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1"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&lt;Model Object&gt;</a:t>
              </a:r>
            </a:p>
          </p:txBody>
        </p:sp>
      </p:grpSp>
    </p:spTree>
    <p:extLst>
      <p:ext uri="{BB962C8B-B14F-4D97-AF65-F5344CB8AC3E}">
        <p14:creationId xmlns:p14="http://schemas.microsoft.com/office/powerpoint/2010/main" val="3791079530"/>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7" grpId="0" animBg="1"/>
    </p:bldLst>
  </p:timing>
</p:sld>
</file>

<file path=ppt/slides/slide26.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Parallel training using </a:t>
            </a:r>
            <a:r>
              <a:rPr lang="en-US" dirty="0" err="1"/>
              <a:t>rx</a:t>
            </a:r>
            <a:r>
              <a:rPr lang="en-US" dirty="0"/>
              <a:t>* function</a:t>
            </a:r>
          </a:p>
        </p:txBody>
      </p:sp>
      <p:sp>
        <p:nvSpPr>
          <p:cNvPr id="5" name="Text Placeholder 4"/>
          <p:cNvSpPr>
            <a:spLocks noGrp="1"/>
          </p:cNvSpPr>
          <p:nvPr>
            <p:ph type="body" sz="quarter" idx="10"/>
          </p:nvPr>
        </p:nvSpPr>
        <p:spPr>
          <a:xfrm>
            <a:off x="274638" y="1221157"/>
            <a:ext cx="12674744" cy="5735032"/>
          </a:xfrm>
        </p:spPr>
        <p:txBody>
          <a:bodyPr/>
          <a:lstStyle/>
          <a:p>
            <a:r>
              <a:rPr lang="en-US" sz="1460" dirty="0">
                <a:solidFill>
                  <a:schemeClr val="bg1"/>
                </a:solidFill>
              </a:rPr>
              <a:t>exec </a:t>
            </a:r>
            <a:r>
              <a:rPr lang="en-US" sz="1460" dirty="0" err="1">
                <a:solidFill>
                  <a:schemeClr val="bg1"/>
                </a:solidFill>
              </a:rPr>
              <a:t>sp_execute_external_script</a:t>
            </a:r>
            <a:endParaRPr lang="en-US" sz="1460" dirty="0">
              <a:solidFill>
                <a:schemeClr val="bg1"/>
              </a:solidFill>
            </a:endParaRPr>
          </a:p>
          <a:p>
            <a:r>
              <a:rPr lang="en-US" sz="1460" dirty="0">
                <a:solidFill>
                  <a:schemeClr val="bg1"/>
                </a:solidFill>
              </a:rPr>
              <a:t>	@language = N'R’</a:t>
            </a:r>
          </a:p>
          <a:p>
            <a:r>
              <a:rPr lang="en-US" sz="1460" dirty="0">
                <a:solidFill>
                  <a:schemeClr val="bg1"/>
                </a:solidFill>
              </a:rPr>
              <a:t>	, @script = N'</a:t>
            </a:r>
          </a:p>
          <a:p>
            <a:r>
              <a:rPr lang="en-US" sz="1460" dirty="0">
                <a:solidFill>
                  <a:schemeClr val="bg1"/>
                </a:solidFill>
              </a:rPr>
              <a:t># Define the connection string</a:t>
            </a:r>
          </a:p>
          <a:p>
            <a:r>
              <a:rPr lang="en-US" sz="1460" dirty="0" err="1">
                <a:solidFill>
                  <a:schemeClr val="bg1"/>
                </a:solidFill>
              </a:rPr>
              <a:t>connStr</a:t>
            </a:r>
            <a:r>
              <a:rPr lang="en-US" sz="1460" dirty="0">
                <a:solidFill>
                  <a:schemeClr val="bg1"/>
                </a:solidFill>
              </a:rPr>
              <a:t> &lt;- paste("Driver=SQL </a:t>
            </a:r>
            <a:r>
              <a:rPr lang="en-US" sz="1460" dirty="0" err="1">
                <a:solidFill>
                  <a:schemeClr val="bg1"/>
                </a:solidFill>
              </a:rPr>
              <a:t>Server;Server</a:t>
            </a:r>
            <a:r>
              <a:rPr lang="en-US" sz="1460" dirty="0">
                <a:solidFill>
                  <a:schemeClr val="bg1"/>
                </a:solidFill>
              </a:rPr>
              <a:t>=", </a:t>
            </a:r>
            <a:r>
              <a:rPr lang="en-US" sz="1460" dirty="0" err="1">
                <a:solidFill>
                  <a:schemeClr val="bg1"/>
                </a:solidFill>
              </a:rPr>
              <a:t>instance_name</a:t>
            </a:r>
            <a:r>
              <a:rPr lang="en-US" sz="1460" dirty="0">
                <a:solidFill>
                  <a:schemeClr val="bg1"/>
                </a:solidFill>
              </a:rPr>
              <a:t>, ";Database=", </a:t>
            </a:r>
            <a:r>
              <a:rPr lang="en-US" sz="1460" dirty="0" err="1">
                <a:solidFill>
                  <a:schemeClr val="bg1"/>
                </a:solidFill>
              </a:rPr>
              <a:t>database_name</a:t>
            </a:r>
            <a:r>
              <a:rPr lang="en-US" sz="1460" dirty="0">
                <a:solidFill>
                  <a:schemeClr val="bg1"/>
                </a:solidFill>
              </a:rPr>
              <a:t>, ";</a:t>
            </a:r>
            <a:r>
              <a:rPr lang="en-US" sz="1460" dirty="0" err="1">
                <a:solidFill>
                  <a:schemeClr val="bg1"/>
                </a:solidFill>
              </a:rPr>
              <a:t>Trusted_Connection</a:t>
            </a:r>
            <a:r>
              <a:rPr lang="en-US" sz="1460" dirty="0">
                <a:solidFill>
                  <a:schemeClr val="bg1"/>
                </a:solidFill>
              </a:rPr>
              <a:t>=true;", </a:t>
            </a:r>
            <a:r>
              <a:rPr lang="en-US" sz="1460" dirty="0" err="1">
                <a:solidFill>
                  <a:schemeClr val="bg1"/>
                </a:solidFill>
              </a:rPr>
              <a:t>sep</a:t>
            </a:r>
            <a:r>
              <a:rPr lang="en-US" sz="1460" dirty="0">
                <a:solidFill>
                  <a:schemeClr val="bg1"/>
                </a:solidFill>
              </a:rPr>
              <a:t>="");</a:t>
            </a:r>
          </a:p>
          <a:p>
            <a:endParaRPr lang="en-US" sz="1460" dirty="0">
              <a:solidFill>
                <a:schemeClr val="bg1"/>
              </a:solidFill>
            </a:endParaRPr>
          </a:p>
          <a:p>
            <a:r>
              <a:rPr lang="en-US" sz="1460" dirty="0">
                <a:solidFill>
                  <a:schemeClr val="bg1"/>
                </a:solidFill>
              </a:rPr>
              <a:t># Set </a:t>
            </a:r>
            <a:r>
              <a:rPr lang="en-US" sz="1460" dirty="0" err="1">
                <a:solidFill>
                  <a:schemeClr val="bg1"/>
                </a:solidFill>
              </a:rPr>
              <a:t>ComputeContext</a:t>
            </a:r>
            <a:endParaRPr lang="en-US" sz="1460" dirty="0">
              <a:solidFill>
                <a:schemeClr val="bg1"/>
              </a:solidFill>
            </a:endParaRPr>
          </a:p>
          <a:p>
            <a:r>
              <a:rPr lang="en-US" sz="1460" dirty="0">
                <a:solidFill>
                  <a:schemeClr val="bg1"/>
                </a:solidFill>
              </a:rPr>
              <a:t>cc &lt;- </a:t>
            </a:r>
            <a:r>
              <a:rPr lang="en-US" sz="1460" dirty="0" err="1">
                <a:solidFill>
                  <a:schemeClr val="bg1"/>
                </a:solidFill>
              </a:rPr>
              <a:t>RxInSqlServer</a:t>
            </a:r>
            <a:r>
              <a:rPr lang="en-US" sz="1460" dirty="0">
                <a:solidFill>
                  <a:schemeClr val="bg1"/>
                </a:solidFill>
              </a:rPr>
              <a:t>(</a:t>
            </a:r>
            <a:r>
              <a:rPr lang="en-US" sz="1460" dirty="0" err="1">
                <a:solidFill>
                  <a:schemeClr val="bg1"/>
                </a:solidFill>
              </a:rPr>
              <a:t>connectionString</a:t>
            </a:r>
            <a:r>
              <a:rPr lang="en-US" sz="1460" dirty="0">
                <a:solidFill>
                  <a:schemeClr val="bg1"/>
                </a:solidFill>
              </a:rPr>
              <a:t> = </a:t>
            </a:r>
            <a:r>
              <a:rPr lang="en-US" sz="1460" dirty="0" err="1">
                <a:solidFill>
                  <a:schemeClr val="bg1"/>
                </a:solidFill>
              </a:rPr>
              <a:t>connStr</a:t>
            </a:r>
            <a:r>
              <a:rPr lang="en-US" sz="1460" dirty="0">
                <a:solidFill>
                  <a:schemeClr val="bg1"/>
                </a:solidFill>
              </a:rPr>
              <a:t>, </a:t>
            </a:r>
            <a:r>
              <a:rPr lang="en-US" sz="1460" dirty="0" err="1">
                <a:solidFill>
                  <a:schemeClr val="bg1"/>
                </a:solidFill>
              </a:rPr>
              <a:t>numTasks</a:t>
            </a:r>
            <a:r>
              <a:rPr lang="en-US" sz="1460" dirty="0">
                <a:solidFill>
                  <a:schemeClr val="bg1"/>
                </a:solidFill>
              </a:rPr>
              <a:t> = 4);</a:t>
            </a:r>
          </a:p>
          <a:p>
            <a:endParaRPr lang="en-US" sz="1460" dirty="0">
              <a:solidFill>
                <a:schemeClr val="bg1"/>
              </a:solidFill>
            </a:endParaRPr>
          </a:p>
          <a:p>
            <a:r>
              <a:rPr lang="en-US" sz="1460" dirty="0">
                <a:solidFill>
                  <a:schemeClr val="bg1"/>
                </a:solidFill>
              </a:rPr>
              <a:t># Pull data from query</a:t>
            </a:r>
          </a:p>
          <a:p>
            <a:r>
              <a:rPr lang="en-US" sz="1460" dirty="0" err="1">
                <a:solidFill>
                  <a:schemeClr val="accent2"/>
                </a:solidFill>
              </a:rPr>
              <a:t>featureDataSource</a:t>
            </a:r>
            <a:r>
              <a:rPr lang="en-US" sz="1460" dirty="0">
                <a:solidFill>
                  <a:schemeClr val="bg1"/>
                </a:solidFill>
              </a:rPr>
              <a:t> = </a:t>
            </a:r>
            <a:r>
              <a:rPr lang="en-US" sz="1460" dirty="0" err="1">
                <a:solidFill>
                  <a:schemeClr val="bg1"/>
                </a:solidFill>
              </a:rPr>
              <a:t>RxSqlServerData</a:t>
            </a:r>
            <a:r>
              <a:rPr lang="en-US" sz="1460" dirty="0">
                <a:solidFill>
                  <a:schemeClr val="bg1"/>
                </a:solidFill>
              </a:rPr>
              <a:t>(</a:t>
            </a:r>
            <a:r>
              <a:rPr lang="en-US" sz="1460" dirty="0" err="1">
                <a:solidFill>
                  <a:schemeClr val="accent2"/>
                </a:solidFill>
              </a:rPr>
              <a:t>sqlQuery</a:t>
            </a:r>
            <a:r>
              <a:rPr lang="en-US" sz="1460" dirty="0">
                <a:solidFill>
                  <a:schemeClr val="accent2"/>
                </a:solidFill>
              </a:rPr>
              <a:t> = </a:t>
            </a:r>
            <a:r>
              <a:rPr lang="en-US" sz="1460" dirty="0" err="1">
                <a:solidFill>
                  <a:schemeClr val="accent2"/>
                </a:solidFill>
              </a:rPr>
              <a:t>input_query</a:t>
            </a:r>
            <a:r>
              <a:rPr lang="en-US" sz="1460" dirty="0">
                <a:solidFill>
                  <a:schemeClr val="bg1"/>
                </a:solidFill>
              </a:rPr>
              <a:t>, </a:t>
            </a:r>
            <a:r>
              <a:rPr lang="en-US" sz="1460" dirty="0" err="1">
                <a:solidFill>
                  <a:schemeClr val="bg1"/>
                </a:solidFill>
              </a:rPr>
              <a:t>connectionString</a:t>
            </a:r>
            <a:r>
              <a:rPr lang="en-US" sz="1460" dirty="0">
                <a:solidFill>
                  <a:schemeClr val="bg1"/>
                </a:solidFill>
              </a:rPr>
              <a:t> = </a:t>
            </a:r>
            <a:r>
              <a:rPr lang="en-US" sz="1460" dirty="0" err="1">
                <a:solidFill>
                  <a:schemeClr val="bg1"/>
                </a:solidFill>
              </a:rPr>
              <a:t>connStr</a:t>
            </a:r>
            <a:r>
              <a:rPr lang="en-US" sz="1460" dirty="0">
                <a:solidFill>
                  <a:schemeClr val="bg1"/>
                </a:solidFill>
              </a:rPr>
              <a:t>, </a:t>
            </a:r>
            <a:r>
              <a:rPr lang="en-US" sz="1460" dirty="0" err="1">
                <a:solidFill>
                  <a:schemeClr val="bg1"/>
                </a:solidFill>
              </a:rPr>
              <a:t>computeContext</a:t>
            </a:r>
            <a:r>
              <a:rPr lang="en-US" sz="1460" dirty="0">
                <a:solidFill>
                  <a:schemeClr val="bg1"/>
                </a:solidFill>
              </a:rPr>
              <a:t> = cc);</a:t>
            </a:r>
          </a:p>
          <a:p>
            <a:endParaRPr lang="en-US" sz="1460" dirty="0">
              <a:solidFill>
                <a:schemeClr val="bg1"/>
              </a:solidFill>
            </a:endParaRPr>
          </a:p>
          <a:p>
            <a:r>
              <a:rPr lang="en-US" sz="1460" dirty="0">
                <a:solidFill>
                  <a:schemeClr val="bg1"/>
                </a:solidFill>
              </a:rPr>
              <a:t># Table to write data to, using compute context</a:t>
            </a:r>
          </a:p>
          <a:p>
            <a:r>
              <a:rPr lang="en-US" sz="1460" dirty="0" err="1">
                <a:solidFill>
                  <a:schemeClr val="bg1"/>
                </a:solidFill>
              </a:rPr>
              <a:t>tipPredictions</a:t>
            </a:r>
            <a:r>
              <a:rPr lang="en-US" sz="1460" dirty="0">
                <a:solidFill>
                  <a:schemeClr val="bg1"/>
                </a:solidFill>
              </a:rPr>
              <a:t> = </a:t>
            </a:r>
            <a:r>
              <a:rPr lang="en-US" sz="1460" dirty="0" err="1">
                <a:solidFill>
                  <a:schemeClr val="bg1"/>
                </a:solidFill>
              </a:rPr>
              <a:t>RxSqlServerData</a:t>
            </a:r>
            <a:r>
              <a:rPr lang="en-US" sz="1460" dirty="0">
                <a:solidFill>
                  <a:schemeClr val="bg1"/>
                </a:solidFill>
              </a:rPr>
              <a:t>(table = "</a:t>
            </a:r>
            <a:r>
              <a:rPr lang="en-US" sz="1460" dirty="0" err="1">
                <a:solidFill>
                  <a:schemeClr val="bg1"/>
                </a:solidFill>
              </a:rPr>
              <a:t>nyc_taxi_tip_predictions</a:t>
            </a:r>
            <a:r>
              <a:rPr lang="en-US" sz="1460" dirty="0">
                <a:solidFill>
                  <a:schemeClr val="bg1"/>
                </a:solidFill>
              </a:rPr>
              <a:t>", </a:t>
            </a:r>
            <a:r>
              <a:rPr lang="en-US" sz="1460" dirty="0" err="1">
                <a:solidFill>
                  <a:schemeClr val="bg1"/>
                </a:solidFill>
              </a:rPr>
              <a:t>connectionString</a:t>
            </a:r>
            <a:r>
              <a:rPr lang="en-US" sz="1460" dirty="0">
                <a:solidFill>
                  <a:schemeClr val="bg1"/>
                </a:solidFill>
              </a:rPr>
              <a:t> = </a:t>
            </a:r>
            <a:r>
              <a:rPr lang="en-US" sz="1460" dirty="0" err="1">
                <a:solidFill>
                  <a:schemeClr val="bg1"/>
                </a:solidFill>
              </a:rPr>
              <a:t>connStr</a:t>
            </a:r>
            <a:r>
              <a:rPr lang="en-US" sz="1460" dirty="0">
                <a:solidFill>
                  <a:schemeClr val="bg1"/>
                </a:solidFill>
              </a:rPr>
              <a:t>);</a:t>
            </a:r>
          </a:p>
          <a:p>
            <a:endParaRPr lang="en-US" sz="1460" dirty="0">
              <a:solidFill>
                <a:schemeClr val="bg1"/>
              </a:solidFill>
            </a:endParaRPr>
          </a:p>
          <a:p>
            <a:r>
              <a:rPr lang="en-US" sz="1460" dirty="0">
                <a:solidFill>
                  <a:schemeClr val="bg1"/>
                </a:solidFill>
              </a:rPr>
              <a:t># </a:t>
            </a:r>
            <a:r>
              <a:rPr lang="en-US" sz="1460" dirty="0" err="1">
                <a:solidFill>
                  <a:schemeClr val="bg1"/>
                </a:solidFill>
              </a:rPr>
              <a:t>Unserialize</a:t>
            </a:r>
            <a:r>
              <a:rPr lang="en-US" sz="1460" dirty="0">
                <a:solidFill>
                  <a:schemeClr val="bg1"/>
                </a:solidFill>
              </a:rPr>
              <a:t> model</a:t>
            </a:r>
          </a:p>
          <a:p>
            <a:r>
              <a:rPr lang="en-US" sz="1460" dirty="0" err="1">
                <a:solidFill>
                  <a:schemeClr val="bg1"/>
                </a:solidFill>
              </a:rPr>
              <a:t>logitObj</a:t>
            </a:r>
            <a:r>
              <a:rPr lang="en-US" sz="1460" dirty="0">
                <a:solidFill>
                  <a:schemeClr val="bg1"/>
                </a:solidFill>
              </a:rPr>
              <a:t> &lt;- </a:t>
            </a:r>
            <a:r>
              <a:rPr lang="en-US" sz="1460" dirty="0" err="1">
                <a:solidFill>
                  <a:schemeClr val="bg1"/>
                </a:solidFill>
              </a:rPr>
              <a:t>unserialize</a:t>
            </a:r>
            <a:r>
              <a:rPr lang="en-US" sz="1460" dirty="0">
                <a:solidFill>
                  <a:schemeClr val="bg1"/>
                </a:solidFill>
              </a:rPr>
              <a:t>(</a:t>
            </a:r>
            <a:r>
              <a:rPr lang="en-US" sz="1460" dirty="0" err="1">
                <a:solidFill>
                  <a:schemeClr val="bg1"/>
                </a:solidFill>
              </a:rPr>
              <a:t>modelbin</a:t>
            </a:r>
            <a:r>
              <a:rPr lang="en-US" sz="1460" dirty="0">
                <a:solidFill>
                  <a:schemeClr val="bg1"/>
                </a:solidFill>
              </a:rPr>
              <a:t>);</a:t>
            </a:r>
          </a:p>
          <a:p>
            <a:endParaRPr lang="en-US" sz="1460" dirty="0">
              <a:solidFill>
                <a:schemeClr val="bg1"/>
              </a:solidFill>
            </a:endParaRPr>
          </a:p>
          <a:p>
            <a:r>
              <a:rPr lang="en-US" sz="1460" dirty="0">
                <a:solidFill>
                  <a:schemeClr val="bg1"/>
                </a:solidFill>
              </a:rPr>
              <a:t># Predict tipped or not based on model</a:t>
            </a:r>
          </a:p>
          <a:p>
            <a:r>
              <a:rPr lang="en-US" sz="1460" dirty="0">
                <a:solidFill>
                  <a:schemeClr val="bg1"/>
                </a:solidFill>
              </a:rPr>
              <a:t>Predictions -&gt; </a:t>
            </a:r>
            <a:r>
              <a:rPr lang="en-US" sz="1460" dirty="0" err="1">
                <a:solidFill>
                  <a:schemeClr val="bg1"/>
                </a:solidFill>
              </a:rPr>
              <a:t>rxPredict</a:t>
            </a:r>
            <a:r>
              <a:rPr lang="en-US" sz="1460" dirty="0">
                <a:solidFill>
                  <a:schemeClr val="bg1"/>
                </a:solidFill>
              </a:rPr>
              <a:t>(</a:t>
            </a:r>
            <a:r>
              <a:rPr lang="en-US" sz="1460" dirty="0" err="1">
                <a:solidFill>
                  <a:schemeClr val="bg1"/>
                </a:solidFill>
              </a:rPr>
              <a:t>logitObj</a:t>
            </a:r>
            <a:r>
              <a:rPr lang="en-US" sz="1460" dirty="0">
                <a:solidFill>
                  <a:schemeClr val="bg1"/>
                </a:solidFill>
              </a:rPr>
              <a:t>, data = </a:t>
            </a:r>
            <a:r>
              <a:rPr lang="en-US" sz="1460" dirty="0" err="1">
                <a:solidFill>
                  <a:schemeClr val="accent2"/>
                </a:solidFill>
              </a:rPr>
              <a:t>featureDataSource</a:t>
            </a:r>
            <a:r>
              <a:rPr lang="en-US" sz="1460" dirty="0">
                <a:solidFill>
                  <a:schemeClr val="bg1"/>
                </a:solidFill>
              </a:rPr>
              <a:t>, </a:t>
            </a:r>
            <a:r>
              <a:rPr lang="en-US" sz="1460" dirty="0" err="1">
                <a:solidFill>
                  <a:schemeClr val="bg1"/>
                </a:solidFill>
              </a:rPr>
              <a:t>outData</a:t>
            </a:r>
            <a:r>
              <a:rPr lang="en-US" sz="1460" dirty="0">
                <a:solidFill>
                  <a:schemeClr val="bg1"/>
                </a:solidFill>
              </a:rPr>
              <a:t> = </a:t>
            </a:r>
            <a:r>
              <a:rPr lang="en-US" sz="1460" dirty="0" err="1">
                <a:solidFill>
                  <a:schemeClr val="bg1"/>
                </a:solidFill>
              </a:rPr>
              <a:t>tipPredictions</a:t>
            </a:r>
            <a:r>
              <a:rPr lang="en-US" sz="1460" dirty="0">
                <a:solidFill>
                  <a:schemeClr val="bg1"/>
                </a:solidFill>
              </a:rPr>
              <a:t>, overwrite = TRUE);’</a:t>
            </a:r>
          </a:p>
          <a:p>
            <a:r>
              <a:rPr lang="en-US" sz="1460" dirty="0">
                <a:solidFill>
                  <a:schemeClr val="bg1"/>
                </a:solidFill>
              </a:rPr>
              <a:t>	, @</a:t>
            </a:r>
            <a:r>
              <a:rPr lang="en-US" sz="1460" dirty="0" err="1">
                <a:solidFill>
                  <a:schemeClr val="bg1"/>
                </a:solidFill>
              </a:rPr>
              <a:t>params</a:t>
            </a:r>
            <a:r>
              <a:rPr lang="en-US" sz="1460" dirty="0">
                <a:solidFill>
                  <a:schemeClr val="bg1"/>
                </a:solidFill>
              </a:rPr>
              <a:t> = N'@</a:t>
            </a:r>
            <a:r>
              <a:rPr lang="en-US" sz="1460" dirty="0" err="1">
                <a:solidFill>
                  <a:schemeClr val="accent2"/>
                </a:solidFill>
              </a:rPr>
              <a:t>input_query</a:t>
            </a:r>
            <a:r>
              <a:rPr lang="en-US" sz="1460" dirty="0">
                <a:solidFill>
                  <a:schemeClr val="bg1"/>
                </a:solidFill>
              </a:rPr>
              <a:t> </a:t>
            </a:r>
            <a:r>
              <a:rPr lang="en-US" sz="1460" dirty="0" err="1">
                <a:solidFill>
                  <a:schemeClr val="bg1"/>
                </a:solidFill>
              </a:rPr>
              <a:t>nvarchar</a:t>
            </a:r>
            <a:r>
              <a:rPr lang="en-US" sz="1460" dirty="0">
                <a:solidFill>
                  <a:schemeClr val="bg1"/>
                </a:solidFill>
              </a:rPr>
              <a:t>(max)’</a:t>
            </a:r>
          </a:p>
          <a:p>
            <a:r>
              <a:rPr lang="en-US" sz="1460" dirty="0">
                <a:solidFill>
                  <a:schemeClr val="bg1"/>
                </a:solidFill>
              </a:rPr>
              <a:t>	, @</a:t>
            </a:r>
            <a:r>
              <a:rPr lang="en-US" sz="1460" dirty="0" err="1">
                <a:solidFill>
                  <a:schemeClr val="accent2"/>
                </a:solidFill>
              </a:rPr>
              <a:t>input_query</a:t>
            </a:r>
            <a:r>
              <a:rPr lang="en-US" sz="1460" dirty="0">
                <a:solidFill>
                  <a:schemeClr val="bg1"/>
                </a:solidFill>
              </a:rPr>
              <a:t> = N'SELECT * FROM </a:t>
            </a:r>
            <a:r>
              <a:rPr lang="en-US" sz="1460" dirty="0" err="1">
                <a:solidFill>
                  <a:schemeClr val="bg1"/>
                </a:solidFill>
              </a:rPr>
              <a:t>nyctaxi_training_sample</a:t>
            </a:r>
            <a:r>
              <a:rPr lang="en-US" sz="1460" dirty="0">
                <a:solidFill>
                  <a:schemeClr val="bg1"/>
                </a:solidFill>
              </a:rPr>
              <a:t>'</a:t>
            </a:r>
          </a:p>
        </p:txBody>
      </p:sp>
    </p:spTree>
    <p:extLst>
      <p:ext uri="{BB962C8B-B14F-4D97-AF65-F5344CB8AC3E}">
        <p14:creationId xmlns:p14="http://schemas.microsoft.com/office/powerpoint/2010/main" val="3115097067"/>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27.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7" y="2125677"/>
            <a:ext cx="10885539" cy="1181862"/>
          </a:xfrm>
        </p:spPr>
        <p:txBody>
          <a:bodyPr/>
          <a:lstStyle/>
          <a:p>
            <a:r>
              <a:rPr lang="en-US" dirty="0"/>
              <a:t>Demo - Parallel Training</a:t>
            </a:r>
          </a:p>
        </p:txBody>
      </p:sp>
      <p:sp>
        <p:nvSpPr>
          <p:cNvPr id="5" name="Text Placeholder 4">
            <a:extLst>
              <a:ext uri="{FF2B5EF4-FFF2-40B4-BE49-F238E27FC236}">
                <a16:creationId xmlns:a16="http://schemas.microsoft.com/office/drawing/2014/main" id="{86D90F6A-36C9-446F-B5CF-D74386BB828D}"/>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4046339462"/>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28.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1A63-4262-4870-B2C0-B66ECC61876E}"/>
              </a:ext>
            </a:extLst>
          </p:cNvPr>
          <p:cNvSpPr>
            <a:spLocks noGrp="1"/>
          </p:cNvSpPr>
          <p:nvPr>
            <p:ph type="title"/>
          </p:nvPr>
        </p:nvSpPr>
        <p:spPr/>
        <p:txBody>
          <a:bodyPr/>
          <a:lstStyle/>
          <a:p>
            <a:r>
              <a:rPr lang="en-US" dirty="0"/>
              <a:t>Native Scoring using PREDICT function</a:t>
            </a:r>
          </a:p>
        </p:txBody>
      </p:sp>
      <p:sp>
        <p:nvSpPr>
          <p:cNvPr id="3" name="Text Placeholder 2">
            <a:extLst>
              <a:ext uri="{FF2B5EF4-FFF2-40B4-BE49-F238E27FC236}">
                <a16:creationId xmlns:a16="http://schemas.microsoft.com/office/drawing/2014/main" id="{E3FAFF91-DBFC-4FE4-9D11-565CC0562C23}"/>
              </a:ext>
            </a:extLst>
          </p:cNvPr>
          <p:cNvSpPr>
            <a:spLocks noGrp="1"/>
          </p:cNvSpPr>
          <p:nvPr>
            <p:ph type="body" sz="quarter" idx="10"/>
          </p:nvPr>
        </p:nvSpPr>
        <p:spPr>
          <a:xfrm>
            <a:off x="274702" y="1211287"/>
            <a:ext cx="11888787" cy="5503045"/>
          </a:xfrm>
        </p:spPr>
        <p:txBody>
          <a:bodyPr/>
          <a:lstStyle/>
          <a:p>
            <a:pPr marL="0" indent="0">
              <a:buNone/>
            </a:pPr>
            <a:r>
              <a:rPr lang="en-US" sz="3200"/>
              <a:t>Requirements:</a:t>
            </a:r>
            <a:endParaRPr lang="en-US" sz="3200" dirty="0"/>
          </a:p>
          <a:p>
            <a:pPr marL="0" indent="0">
              <a:buNone/>
            </a:pPr>
            <a:r>
              <a:rPr lang="en-US" sz="3200" b="1" dirty="0"/>
              <a:t>	</a:t>
            </a:r>
            <a:r>
              <a:rPr lang="en-US" sz="3200" dirty="0" err="1"/>
              <a:t>rx</a:t>
            </a:r>
            <a:r>
              <a:rPr lang="en-US" sz="3200" dirty="0"/>
              <a:t>* models only</a:t>
            </a:r>
          </a:p>
          <a:p>
            <a:pPr marL="0" indent="0">
              <a:buNone/>
            </a:pPr>
            <a:r>
              <a:rPr lang="en-US" sz="3200" dirty="0"/>
              <a:t>	Serialized model from </a:t>
            </a:r>
            <a:r>
              <a:rPr lang="en-US" sz="3200" dirty="0" err="1"/>
              <a:t>rxSerializeModel</a:t>
            </a:r>
            <a:r>
              <a:rPr lang="en-US" sz="3200" dirty="0"/>
              <a:t> (R)</a:t>
            </a:r>
          </a:p>
          <a:p>
            <a:pPr marL="0" indent="0">
              <a:buNone/>
            </a:pPr>
            <a:r>
              <a:rPr lang="en-US" sz="3200" dirty="0"/>
              <a:t>	Serialized model from </a:t>
            </a:r>
            <a:r>
              <a:rPr lang="en-US" sz="3200" dirty="0" err="1"/>
              <a:t>rx_serialize_model</a:t>
            </a:r>
            <a:r>
              <a:rPr lang="en-US" sz="3200" dirty="0"/>
              <a:t> (Python)</a:t>
            </a:r>
          </a:p>
          <a:p>
            <a:pPr marL="0" indent="0">
              <a:buNone/>
            </a:pPr>
            <a:endParaRPr lang="en-US" sz="3200" dirty="0"/>
          </a:p>
          <a:p>
            <a:pPr marL="0" indent="0">
              <a:buNone/>
            </a:pPr>
            <a:r>
              <a:rPr lang="en-US" sz="3200" dirty="0"/>
              <a:t>Key Benefits:</a:t>
            </a:r>
          </a:p>
          <a:p>
            <a:pPr marL="0" indent="0">
              <a:buNone/>
            </a:pPr>
            <a:r>
              <a:rPr lang="en-US" sz="3200" dirty="0"/>
              <a:t>	Runs natively in SQL Server (No	R / Python dependency)</a:t>
            </a:r>
          </a:p>
          <a:p>
            <a:pPr marL="0" indent="0">
              <a:buNone/>
            </a:pPr>
            <a:r>
              <a:rPr lang="en-US" sz="3200" dirty="0"/>
              <a:t>	Low latency for execution</a:t>
            </a:r>
          </a:p>
          <a:p>
            <a:pPr marL="0" indent="0">
              <a:buNone/>
            </a:pPr>
            <a:r>
              <a:rPr lang="en-US" sz="3200" dirty="0"/>
              <a:t>	Ideal for highly concurrent scoring of few rows</a:t>
            </a:r>
          </a:p>
          <a:p>
            <a:pPr marL="0" indent="0">
              <a:buNone/>
            </a:pPr>
            <a:r>
              <a:rPr lang="en-US" sz="3200" dirty="0"/>
              <a:t>	Can be used in INSERT/UPDATE/MERGE statement directly</a:t>
            </a:r>
          </a:p>
        </p:txBody>
      </p:sp>
    </p:spTree>
    <p:extLst>
      <p:ext uri="{BB962C8B-B14F-4D97-AF65-F5344CB8AC3E}">
        <p14:creationId xmlns:p14="http://schemas.microsoft.com/office/powerpoint/2010/main" val="2799610441"/>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29.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PREDICT function</a:t>
            </a:r>
          </a:p>
        </p:txBody>
      </p:sp>
      <p:sp>
        <p:nvSpPr>
          <p:cNvPr id="5" name="Text Placeholder 4"/>
          <p:cNvSpPr>
            <a:spLocks noGrp="1"/>
          </p:cNvSpPr>
          <p:nvPr>
            <p:ph type="body" sz="quarter" idx="10"/>
          </p:nvPr>
        </p:nvSpPr>
        <p:spPr>
          <a:xfrm>
            <a:off x="274638" y="1221157"/>
            <a:ext cx="11887199" cy="4838248"/>
          </a:xfrm>
        </p:spPr>
        <p:txBody>
          <a:bodyPr/>
          <a:lstStyle/>
          <a:p>
            <a:r>
              <a:rPr lang="en-US" sz="2800" dirty="0"/>
              <a:t>DECLARE </a:t>
            </a:r>
            <a:r>
              <a:rPr lang="en-US" sz="2800" dirty="0">
                <a:solidFill>
                  <a:srgbClr val="FF8C00"/>
                </a:solidFill>
              </a:rPr>
              <a:t>@model</a:t>
            </a:r>
            <a:r>
              <a:rPr lang="en-US" sz="2800" dirty="0"/>
              <a:t> </a:t>
            </a:r>
            <a:r>
              <a:rPr lang="en-US" sz="2800" dirty="0" err="1"/>
              <a:t>varbinary</a:t>
            </a:r>
            <a:r>
              <a:rPr lang="en-US" sz="2800" dirty="0"/>
              <a:t>(max) = (</a:t>
            </a:r>
          </a:p>
          <a:p>
            <a:r>
              <a:rPr lang="en-US" sz="2800" dirty="0"/>
              <a:t>		</a:t>
            </a:r>
            <a:r>
              <a:rPr lang="en-US" sz="2800" dirty="0">
                <a:solidFill>
                  <a:srgbClr val="FF8C00"/>
                </a:solidFill>
              </a:rPr>
              <a:t>SELECT </a:t>
            </a:r>
            <a:r>
              <a:rPr lang="en-US" sz="2800" dirty="0" err="1">
                <a:solidFill>
                  <a:srgbClr val="FF8C00"/>
                </a:solidFill>
              </a:rPr>
              <a:t>native_model</a:t>
            </a:r>
            <a:endParaRPr lang="en-US" sz="2800" dirty="0">
              <a:solidFill>
                <a:srgbClr val="FF8C00"/>
              </a:solidFill>
            </a:endParaRPr>
          </a:p>
          <a:p>
            <a:r>
              <a:rPr lang="en-US" sz="2800" dirty="0">
                <a:solidFill>
                  <a:srgbClr val="FF8C00"/>
                </a:solidFill>
              </a:rPr>
              <a:t>		  FROM models</a:t>
            </a:r>
          </a:p>
          <a:p>
            <a:r>
              <a:rPr lang="en-US" sz="2800" dirty="0">
                <a:solidFill>
                  <a:srgbClr val="FF8C00"/>
                </a:solidFill>
              </a:rPr>
              <a:t>	       WHERE </a:t>
            </a:r>
            <a:r>
              <a:rPr lang="en-US" sz="2800" dirty="0" err="1">
                <a:solidFill>
                  <a:srgbClr val="FF8C00"/>
                </a:solidFill>
              </a:rPr>
              <a:t>model_name</a:t>
            </a:r>
            <a:r>
              <a:rPr lang="en-US" sz="2800" dirty="0">
                <a:solidFill>
                  <a:srgbClr val="FF8C00"/>
                </a:solidFill>
              </a:rPr>
              <a:t> = 'Fraud Detection Model’</a:t>
            </a:r>
            <a:r>
              <a:rPr lang="en-US" sz="2800" dirty="0"/>
              <a:t>);</a:t>
            </a:r>
          </a:p>
          <a:p>
            <a:endParaRPr lang="en-US" sz="2800" dirty="0"/>
          </a:p>
          <a:p>
            <a:r>
              <a:rPr lang="en-US" sz="2800" dirty="0"/>
              <a:t>INSERT INTO </a:t>
            </a:r>
            <a:r>
              <a:rPr lang="en-US" sz="2800" dirty="0" err="1"/>
              <a:t>dbo.potential_fraud_transactions</a:t>
            </a:r>
            <a:endParaRPr lang="en-US" sz="2800" dirty="0"/>
          </a:p>
          <a:p>
            <a:r>
              <a:rPr lang="en-US" sz="2800" dirty="0"/>
              <a:t>	(score, </a:t>
            </a:r>
            <a:r>
              <a:rPr lang="en-US" sz="2800" dirty="0" err="1"/>
              <a:t>transactionKey</a:t>
            </a:r>
            <a:r>
              <a:rPr lang="en-US" sz="2800" dirty="0"/>
              <a:t>)</a:t>
            </a:r>
          </a:p>
          <a:p>
            <a:r>
              <a:rPr lang="en-US" sz="2800" dirty="0"/>
              <a:t>SELECT </a:t>
            </a:r>
            <a:r>
              <a:rPr lang="en-US" sz="2800" dirty="0" err="1"/>
              <a:t>p.Label_prob</a:t>
            </a:r>
            <a:r>
              <a:rPr lang="en-US" sz="2800" dirty="0"/>
              <a:t>, </a:t>
            </a:r>
            <a:r>
              <a:rPr lang="en-US" sz="2800" dirty="0" err="1"/>
              <a:t>t.transactionKey</a:t>
            </a:r>
            <a:endParaRPr lang="en-US" sz="2800" dirty="0"/>
          </a:p>
          <a:p>
            <a:r>
              <a:rPr lang="en-US" sz="2800" dirty="0"/>
              <a:t>  FROM </a:t>
            </a:r>
            <a:r>
              <a:rPr lang="en-US" sz="2800" dirty="0">
                <a:solidFill>
                  <a:srgbClr val="FF8C00"/>
                </a:solidFill>
              </a:rPr>
              <a:t>PREDICT</a:t>
            </a:r>
            <a:r>
              <a:rPr lang="en-US" sz="2800" dirty="0"/>
              <a:t>(</a:t>
            </a:r>
            <a:r>
              <a:rPr lang="en-US" sz="2800" dirty="0">
                <a:solidFill>
                  <a:srgbClr val="FF8C00"/>
                </a:solidFill>
              </a:rPr>
              <a:t>MODEL = @model</a:t>
            </a:r>
            <a:r>
              <a:rPr lang="en-US" sz="2800" dirty="0"/>
              <a:t>, </a:t>
            </a:r>
            <a:r>
              <a:rPr lang="en-US" sz="2800" dirty="0">
                <a:solidFill>
                  <a:srgbClr val="FF8C00"/>
                </a:solidFill>
              </a:rPr>
              <a:t>DATA = </a:t>
            </a:r>
            <a:r>
              <a:rPr lang="en-US" sz="2800" dirty="0" err="1">
                <a:solidFill>
                  <a:srgbClr val="FF8C00"/>
                </a:solidFill>
              </a:rPr>
              <a:t>new_transaction</a:t>
            </a:r>
            <a:r>
              <a:rPr lang="en-US" sz="2800" dirty="0"/>
              <a:t>)</a:t>
            </a:r>
          </a:p>
          <a:p>
            <a:r>
              <a:rPr lang="en-US" sz="2800" dirty="0"/>
              <a:t>  WITH(</a:t>
            </a:r>
            <a:r>
              <a:rPr lang="en-US" sz="2800" dirty="0" err="1"/>
              <a:t>Label_prob</a:t>
            </a:r>
            <a:r>
              <a:rPr lang="en-US" sz="2800" dirty="0"/>
              <a:t> float) as p;</a:t>
            </a:r>
          </a:p>
        </p:txBody>
      </p:sp>
    </p:spTree>
    <p:extLst>
      <p:ext uri="{BB962C8B-B14F-4D97-AF65-F5344CB8AC3E}">
        <p14:creationId xmlns:p14="http://schemas.microsoft.com/office/powerpoint/2010/main" val="165952811"/>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30.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7" y="2125677"/>
            <a:ext cx="10885539" cy="1181862"/>
          </a:xfrm>
        </p:spPr>
        <p:txBody>
          <a:bodyPr/>
          <a:lstStyle/>
          <a:p>
            <a:r>
              <a:rPr lang="en-US" dirty="0"/>
              <a:t>Demo - Native Scoring</a:t>
            </a:r>
          </a:p>
        </p:txBody>
      </p:sp>
      <p:sp>
        <p:nvSpPr>
          <p:cNvPr id="5" name="Text Placeholder 4">
            <a:extLst>
              <a:ext uri="{FF2B5EF4-FFF2-40B4-BE49-F238E27FC236}">
                <a16:creationId xmlns:a16="http://schemas.microsoft.com/office/drawing/2014/main" id="{86D90F6A-36C9-446F-B5CF-D74386BB828D}"/>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027380062"/>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31.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1A63-4262-4870-B2C0-B66ECC61876E}"/>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E3FAFF91-DBFC-4FE4-9D11-565CC0562C23}"/>
              </a:ext>
            </a:extLst>
          </p:cNvPr>
          <p:cNvSpPr>
            <a:spLocks noGrp="1"/>
          </p:cNvSpPr>
          <p:nvPr>
            <p:ph type="body" sz="quarter" idx="10"/>
          </p:nvPr>
        </p:nvSpPr>
        <p:spPr>
          <a:xfrm>
            <a:off x="274702" y="1211287"/>
            <a:ext cx="11888787" cy="4395049"/>
          </a:xfrm>
        </p:spPr>
        <p:txBody>
          <a:bodyPr/>
          <a:lstStyle/>
          <a:p>
            <a:pPr marL="0" indent="0">
              <a:buNone/>
            </a:pPr>
            <a:r>
              <a:rPr lang="en-US" sz="4000" dirty="0"/>
              <a:t>Improve performance of your ML scripts by using:</a:t>
            </a:r>
          </a:p>
          <a:p>
            <a:pPr lvl="1"/>
            <a:endParaRPr lang="en-US" sz="3600" dirty="0"/>
          </a:p>
          <a:p>
            <a:pPr lvl="1"/>
            <a:r>
              <a:rPr lang="en-US" sz="3600" dirty="0"/>
              <a:t>SQL Compute context from client (</a:t>
            </a:r>
            <a:r>
              <a:rPr lang="en-US" sz="3600" dirty="0" err="1"/>
              <a:t>rx</a:t>
            </a:r>
            <a:r>
              <a:rPr lang="en-US" sz="3600" dirty="0"/>
              <a:t>* functions)</a:t>
            </a:r>
          </a:p>
          <a:p>
            <a:pPr lvl="1"/>
            <a:r>
              <a:rPr lang="en-US" sz="3600" dirty="0"/>
              <a:t>Streaming to reduce memory usage</a:t>
            </a:r>
          </a:p>
          <a:p>
            <a:pPr lvl="1"/>
            <a:r>
              <a:rPr lang="en-US" sz="3600" dirty="0"/>
              <a:t>Trivial parallelism for scoring (predict or </a:t>
            </a:r>
            <a:r>
              <a:rPr lang="en-US" sz="3600" dirty="0" err="1"/>
              <a:t>rxPredict</a:t>
            </a:r>
            <a:r>
              <a:rPr lang="en-US" sz="3600" dirty="0"/>
              <a:t>)</a:t>
            </a:r>
          </a:p>
          <a:p>
            <a:pPr lvl="1"/>
            <a:r>
              <a:rPr lang="en-US" sz="3600" dirty="0"/>
              <a:t>Parallel training and scoring using </a:t>
            </a:r>
            <a:r>
              <a:rPr lang="en-US" sz="3600" dirty="0" err="1"/>
              <a:t>rx</a:t>
            </a:r>
            <a:r>
              <a:rPr lang="en-US" sz="3600" dirty="0"/>
              <a:t>* functions</a:t>
            </a:r>
            <a:endParaRPr lang="en-US" sz="3200" dirty="0"/>
          </a:p>
          <a:p>
            <a:pPr lvl="1"/>
            <a:r>
              <a:rPr lang="en-US" sz="3600" dirty="0"/>
              <a:t>Native PREDICT function for low latency scoring</a:t>
            </a:r>
          </a:p>
        </p:txBody>
      </p:sp>
    </p:spTree>
    <p:extLst>
      <p:ext uri="{BB962C8B-B14F-4D97-AF65-F5344CB8AC3E}">
        <p14:creationId xmlns:p14="http://schemas.microsoft.com/office/powerpoint/2010/main" val="4027720404"/>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32.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b="1"/>
              <a:t>Call to action</a:t>
            </a:r>
          </a:p>
        </p:txBody>
      </p:sp>
      <p:sp>
        <p:nvSpPr>
          <p:cNvPr id="6" name="Text Placeholder 5"/>
          <p:cNvSpPr>
            <a:spLocks noGrp="1"/>
          </p:cNvSpPr>
          <p:nvPr>
            <p:ph type="body" sz="quarter" idx="10"/>
          </p:nvPr>
        </p:nvSpPr>
        <p:spPr>
          <a:xfrm>
            <a:off x="257088" y="1577043"/>
            <a:ext cx="11888787" cy="3053144"/>
          </a:xfrm>
        </p:spPr>
        <p:txBody>
          <a:bodyPr/>
          <a:lstStyle/>
          <a:p>
            <a:r>
              <a:rPr lang="en-US"/>
              <a:t>Resources</a:t>
            </a:r>
          </a:p>
          <a:p>
            <a:pPr lvl="1"/>
            <a:r>
              <a:rPr lang="en-US"/>
              <a:t>SQL Server Samples on GitHub – </a:t>
            </a:r>
            <a:r>
              <a:rPr lang="en-US">
                <a:hlinkClick r:id="rId3"/>
              </a:rPr>
              <a:t>R Services</a:t>
            </a:r>
            <a:r>
              <a:rPr lang="en-US"/>
              <a:t> &amp; </a:t>
            </a:r>
            <a:r>
              <a:rPr lang="en-US">
                <a:hlinkClick r:id="rId4"/>
              </a:rPr>
              <a:t>ML Services</a:t>
            </a:r>
            <a:endParaRPr lang="en-US"/>
          </a:p>
          <a:p>
            <a:pPr lvl="1"/>
            <a:r>
              <a:rPr lang="en-US"/>
              <a:t>Getting started tutorials: </a:t>
            </a:r>
            <a:r>
              <a:rPr lang="en-US">
                <a:hlinkClick r:id="rId5" action="ppaction://hlinkfile"/>
              </a:rPr>
              <a:t>AKA.MS/MLSQLDEV</a:t>
            </a:r>
            <a:endParaRPr lang="en-US">
              <a:hlinkClick r:id="" action="ppaction://noaction"/>
            </a:endParaRPr>
          </a:p>
          <a:p>
            <a:pPr lvl="1"/>
            <a:r>
              <a:rPr lang="en-US"/>
              <a:t>Configure instance: </a:t>
            </a:r>
            <a:r>
              <a:rPr lang="en-US">
                <a:hlinkClick r:id="rId6"/>
              </a:rPr>
              <a:t>SSMS Reports for </a:t>
            </a:r>
            <a:r>
              <a:rPr lang="en-US" dirty="0">
                <a:hlinkClick r:id="rId6"/>
              </a:rPr>
              <a:t>ML</a:t>
            </a:r>
            <a:r>
              <a:rPr lang="en-US">
                <a:hlinkClick r:id="rId6"/>
              </a:rPr>
              <a:t> Services</a:t>
            </a:r>
            <a:endParaRPr lang="en-US">
              <a:hlinkClick r:id="" action="ppaction://noaction"/>
            </a:endParaRPr>
          </a:p>
          <a:p>
            <a:pPr lvl="1"/>
            <a:r>
              <a:rPr lang="en-US">
                <a:hlinkClick r:id="rId7"/>
              </a:rPr>
              <a:t>ML cheat sheet</a:t>
            </a:r>
            <a:endParaRPr lang="en-US"/>
          </a:p>
          <a:p>
            <a:pPr lvl="1"/>
            <a:r>
              <a:rPr lang="en-US"/>
              <a:t>Microsoft documentation: </a:t>
            </a:r>
            <a:r>
              <a:rPr lang="en-US">
                <a:hlinkClick r:id="rId8"/>
              </a:rPr>
              <a:t>SQL Server Machine Learning Services</a:t>
            </a:r>
            <a:endParaRPr lang="en-US"/>
          </a:p>
        </p:txBody>
      </p:sp>
    </p:spTree>
    <p:extLst>
      <p:ext uri="{BB962C8B-B14F-4D97-AF65-F5344CB8AC3E}">
        <p14:creationId xmlns:p14="http://schemas.microsoft.com/office/powerpoint/2010/main" val="3295093944"/>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33.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A5EAE1-89D1-4F65-967E-C0688D0A65E1}"/>
              </a:ext>
            </a:extLst>
          </p:cNvPr>
          <p:cNvSpPr>
            <a:spLocks noGrp="1"/>
          </p:cNvSpPr>
          <p:nvPr>
            <p:ph type="title"/>
          </p:nvPr>
        </p:nvSpPr>
        <p:spPr>
          <a:xfrm>
            <a:off x="275481" y="2125662"/>
            <a:ext cx="11885514" cy="3874330"/>
          </a:xfrm>
        </p:spPr>
        <p:txBody>
          <a:bodyPr/>
          <a:lstStyle/>
          <a:p>
            <a:r>
              <a:rPr lang="en-US"/>
              <a:t>Thank you!</a:t>
            </a:r>
            <a:br>
              <a:rPr lang="en-US"/>
            </a:br>
            <a:br>
              <a:rPr lang="en-US"/>
            </a:br>
            <a:r>
              <a:rPr lang="en-US" sz="4080">
                <a:hlinkClick r:id="rId3"/>
              </a:rPr>
              <a:t>negust@microsoft.com</a:t>
            </a:r>
            <a:br>
              <a:rPr lang="en-US" sz="4080"/>
            </a:br>
            <a:br>
              <a:rPr lang="en-US" sz="4080"/>
            </a:br>
            <a:r>
              <a:rPr lang="en-US" sz="4080">
                <a:hlinkClick r:id="rId4"/>
              </a:rPr>
              <a:t>umajay@microsoft.com</a:t>
            </a:r>
            <a:endParaRPr lang="en-US" sz="4080"/>
          </a:p>
        </p:txBody>
      </p:sp>
    </p:spTree>
    <p:extLst>
      <p:ext uri="{BB962C8B-B14F-4D97-AF65-F5344CB8AC3E}">
        <p14:creationId xmlns:p14="http://schemas.microsoft.com/office/powerpoint/2010/main" val="3252198594"/>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34.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D9725B-698E-47E3-B931-CB100214DE36}"/>
              </a:ext>
            </a:extLst>
          </p:cNvPr>
          <p:cNvSpPr/>
          <p:nvPr/>
        </p:nvSpPr>
        <p:spPr bwMode="auto">
          <a:xfrm>
            <a:off x="0" y="0"/>
            <a:ext cx="4389437" cy="69945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 name="Text Placeholder 2"/>
          <p:cNvSpPr>
            <a:spLocks noGrp="1"/>
          </p:cNvSpPr>
          <p:nvPr>
            <p:ph type="body" sz="quarter" idx="10"/>
          </p:nvPr>
        </p:nvSpPr>
        <p:spPr>
          <a:xfrm>
            <a:off x="5760073" y="4074692"/>
            <a:ext cx="6934200" cy="1486561"/>
          </a:xfrm>
          <a:prstGeom prst="rect">
            <a:avLst/>
          </a:prstGeom>
        </p:spPr>
        <p:txBody>
          <a:bodyPr lIns="182880" tIns="146304" rIns="182880" bIns="146304"/>
          <a:lstStyle/>
          <a:p>
            <a:pPr marL="0" indent="0">
              <a:buClr>
                <a:schemeClr val="tx1"/>
              </a:buClr>
              <a:buNone/>
              <a:defRPr/>
            </a:pPr>
            <a:r>
              <a:rPr lang="en-US" sz="3000" dirty="0">
                <a:gradFill>
                  <a:gsLst>
                    <a:gs pos="99115">
                      <a:schemeClr val="tx1"/>
                    </a:gs>
                    <a:gs pos="59000">
                      <a:schemeClr val="tx1"/>
                    </a:gs>
                  </a:gsLst>
                  <a:lin ang="5400000" scaled="0"/>
                </a:gradFill>
                <a:latin typeface="+mn-lt"/>
              </a:rPr>
              <a:t>Phone:</a:t>
            </a:r>
            <a:r>
              <a:rPr lang="en-US" sz="3000" dirty="0">
                <a:gradFill>
                  <a:gsLst>
                    <a:gs pos="99115">
                      <a:schemeClr val="tx2"/>
                    </a:gs>
                    <a:gs pos="59000">
                      <a:schemeClr val="tx2"/>
                    </a:gs>
                  </a:gsLst>
                  <a:lin ang="5400000" scaled="0"/>
                </a:gradFill>
                <a:latin typeface="+mn-lt"/>
              </a:rPr>
              <a:t> </a:t>
            </a:r>
            <a:r>
              <a:rPr lang="en-US" sz="3000" dirty="0">
                <a:gradFill>
                  <a:gsLst>
                    <a:gs pos="99115">
                      <a:schemeClr val="tx1"/>
                    </a:gs>
                    <a:gs pos="59000">
                      <a:schemeClr val="tx1"/>
                    </a:gs>
                  </a:gsLst>
                  <a:lin ang="5400000" scaled="0"/>
                </a:gradFill>
                <a:latin typeface="+mn-lt"/>
              </a:rPr>
              <a:t>download and use the </a:t>
            </a:r>
            <a:br>
              <a:rPr lang="en-US" sz="3000" dirty="0">
                <a:gradFill>
                  <a:gsLst>
                    <a:gs pos="99115">
                      <a:schemeClr val="tx1"/>
                    </a:gs>
                    <a:gs pos="59000">
                      <a:schemeClr val="tx1"/>
                    </a:gs>
                  </a:gsLst>
                  <a:lin ang="5400000" scaled="0"/>
                </a:gradFill>
                <a:latin typeface="+mn-lt"/>
              </a:rPr>
            </a:br>
            <a:r>
              <a:rPr lang="en-US" sz="3000" dirty="0">
                <a:gradFill>
                  <a:gsLst>
                    <a:gs pos="99115">
                      <a:schemeClr val="tx1"/>
                    </a:gs>
                    <a:gs pos="59000">
                      <a:schemeClr val="tx1"/>
                    </a:gs>
                  </a:gsLst>
                  <a:lin ang="5400000" scaled="0"/>
                </a:gradFill>
                <a:latin typeface="+mn-lt"/>
              </a:rPr>
              <a:t>Microsoft Ignite mobile app </a:t>
            </a:r>
            <a:r>
              <a:rPr lang="en-US" sz="2600" dirty="0">
                <a:gradFill>
                  <a:gsLst>
                    <a:gs pos="99115">
                      <a:schemeClr val="tx1"/>
                    </a:gs>
                    <a:gs pos="59000">
                      <a:schemeClr val="tx1"/>
                    </a:gs>
                  </a:gsLst>
                  <a:lin ang="5400000" scaled="0"/>
                </a:gradFill>
                <a:latin typeface="+mn-lt"/>
                <a:hlinkClick r:id="rId3"/>
              </a:rPr>
              <a:t>https://aka.ms/ignite.mobileapp</a:t>
            </a:r>
            <a:endParaRPr lang="en-US" sz="2600" dirty="0">
              <a:gradFill>
                <a:gsLst>
                  <a:gs pos="0">
                    <a:schemeClr val="tx2"/>
                  </a:gs>
                  <a:gs pos="100000">
                    <a:schemeClr val="tx2"/>
                  </a:gs>
                </a:gsLst>
                <a:lin ang="5400000" scaled="0"/>
              </a:gradFill>
              <a:latin typeface="+mn-lt"/>
            </a:endParaRPr>
          </a:p>
        </p:txBody>
      </p:sp>
      <p:sp>
        <p:nvSpPr>
          <p:cNvPr id="2" name="Title 1"/>
          <p:cNvSpPr>
            <a:spLocks noGrp="1"/>
          </p:cNvSpPr>
          <p:nvPr>
            <p:ph type="title"/>
          </p:nvPr>
        </p:nvSpPr>
        <p:spPr>
          <a:xfrm>
            <a:off x="274639" y="1362868"/>
            <a:ext cx="4571999" cy="2556631"/>
          </a:xfrm>
        </p:spPr>
        <p:txBody>
          <a:bodyPr/>
          <a:lstStyle/>
          <a:p>
            <a:r>
              <a:rPr lang="en-US" sz="6000" dirty="0">
                <a:gradFill>
                  <a:gsLst>
                    <a:gs pos="730">
                      <a:schemeClr val="bg1"/>
                    </a:gs>
                    <a:gs pos="15328">
                      <a:schemeClr val="bg1"/>
                    </a:gs>
                  </a:gsLst>
                  <a:lin ang="5400000" scaled="0"/>
                </a:gradFill>
              </a:rPr>
              <a:t>Please evaluate </a:t>
            </a:r>
            <a:br>
              <a:rPr lang="en-US" sz="6000" dirty="0">
                <a:gradFill>
                  <a:gsLst>
                    <a:gs pos="730">
                      <a:schemeClr val="bg1"/>
                    </a:gs>
                    <a:gs pos="15328">
                      <a:schemeClr val="bg1"/>
                    </a:gs>
                  </a:gsLst>
                  <a:lin ang="5400000" scaled="0"/>
                </a:gradFill>
              </a:rPr>
            </a:br>
            <a:r>
              <a:rPr lang="en-US" sz="6000" dirty="0">
                <a:gradFill>
                  <a:gsLst>
                    <a:gs pos="730">
                      <a:schemeClr val="bg1"/>
                    </a:gs>
                    <a:gs pos="15328">
                      <a:schemeClr val="bg1"/>
                    </a:gs>
                  </a:gsLst>
                  <a:lin ang="5400000" scaled="0"/>
                </a:gradFill>
              </a:rPr>
              <a:t>this session</a:t>
            </a:r>
            <a:endParaRPr lang="en-US" sz="3800" dirty="0">
              <a:gradFill>
                <a:gsLst>
                  <a:gs pos="99115">
                    <a:schemeClr val="bg1"/>
                  </a:gs>
                  <a:gs pos="59000">
                    <a:schemeClr val="bg1"/>
                  </a:gs>
                </a:gsLst>
                <a:lin ang="5400000" scaled="0"/>
              </a:gradFill>
              <a:latin typeface="+mn-lt"/>
              <a:cs typeface="+mn-cs"/>
            </a:endParaRPr>
          </a:p>
        </p:txBody>
      </p:sp>
      <p:cxnSp>
        <p:nvCxnSpPr>
          <p:cNvPr id="12" name="Straight Connector 11">
            <a:extLst>
              <a:ext uri="{FF2B5EF4-FFF2-40B4-BE49-F238E27FC236}">
                <a16:creationId xmlns:a16="http://schemas.microsoft.com/office/drawing/2014/main" id="{5CA2B6D0-1B0B-498E-90D0-2ECABE78343B}"/>
              </a:ext>
            </a:extLst>
          </p:cNvPr>
          <p:cNvCxnSpPr>
            <a:cxnSpLocks/>
          </p:cNvCxnSpPr>
          <p:nvPr/>
        </p:nvCxnSpPr>
        <p:spPr>
          <a:xfrm>
            <a:off x="5313362" y="2194560"/>
            <a:ext cx="0" cy="2398955"/>
          </a:xfrm>
          <a:prstGeom prst="line">
            <a:avLst/>
          </a:prstGeom>
          <a:ln w="2222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B9175C7-AC9A-4FEF-89A0-6AD4F117D55D}"/>
              </a:ext>
            </a:extLst>
          </p:cNvPr>
          <p:cNvSpPr/>
          <p:nvPr/>
        </p:nvSpPr>
        <p:spPr>
          <a:xfrm>
            <a:off x="4887304" y="1515919"/>
            <a:ext cx="848309" cy="634020"/>
          </a:xfrm>
          <a:prstGeom prst="rect">
            <a:avLst/>
          </a:prstGeom>
        </p:spPr>
        <p:txBody>
          <a:bodyPr wrap="none">
            <a:spAutoFit/>
          </a:bodyPr>
          <a:lstStyle/>
          <a:p>
            <a:pPr marL="0" marR="0" lvl="0" indent="0" algn="ctr" defTabSz="932742" rtl="0" eaLnBrk="1" fontAlgn="auto" latinLnBrk="0" hangingPunct="1">
              <a:lnSpc>
                <a:spcPct val="80000"/>
              </a:lnSpc>
              <a:spcBef>
                <a:spcPts val="0"/>
              </a:spcBef>
              <a:spcAft>
                <a:spcPts val="0"/>
              </a:spcAft>
              <a:buClrTx/>
              <a:buSzTx/>
              <a:buFontTx/>
              <a:buNone/>
              <a:tabLst/>
              <a:defRPr/>
            </a:pPr>
            <a: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t>From</a:t>
            </a:r>
            <a:b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br>
            <a: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t>your</a:t>
            </a:r>
            <a:endParaRPr kumimoji="0" lang="en-US" sz="2200" b="0" i="0" u="none" strike="noStrike" kern="1200" cap="none" spc="0" normalizeH="0" baseline="0" noProof="0" dirty="0">
              <a:ln>
                <a:noFill/>
              </a:ln>
              <a:solidFill>
                <a:srgbClr val="353535"/>
              </a:solidFill>
              <a:effectLst/>
              <a:uLnTx/>
              <a:uFillTx/>
              <a:latin typeface="Yu Gothic UI Semibold" panose="020B0700000000000000" pitchFamily="34" charset="-128"/>
              <a:ea typeface="Yu Gothic UI Semibold" panose="020B0700000000000000" pitchFamily="34" charset="-128"/>
              <a:cs typeface="+mn-cs"/>
            </a:endParaRPr>
          </a:p>
        </p:txBody>
      </p:sp>
      <p:sp>
        <p:nvSpPr>
          <p:cNvPr id="6" name="Rectangle 5">
            <a:extLst>
              <a:ext uri="{FF2B5EF4-FFF2-40B4-BE49-F238E27FC236}">
                <a16:creationId xmlns:a16="http://schemas.microsoft.com/office/drawing/2014/main" id="{E7885C01-B146-43BF-9012-6CA206FE755E}"/>
              </a:ext>
            </a:extLst>
          </p:cNvPr>
          <p:cNvSpPr/>
          <p:nvPr/>
        </p:nvSpPr>
        <p:spPr>
          <a:xfrm>
            <a:off x="5760073" y="2787823"/>
            <a:ext cx="6433639" cy="954107"/>
          </a:xfrm>
          <a:prstGeom prst="rect">
            <a:avLst/>
          </a:prstGeom>
        </p:spPr>
        <p:txBody>
          <a:bodyPr wrap="square" lIns="182880">
            <a:spAutoFit/>
          </a:bodyPr>
          <a:lstStyle/>
          <a:p>
            <a:pPr marL="0" marR="0" lvl="0" indent="0" algn="l" defTabSz="932742" rtl="0" eaLnBrk="1" fontAlgn="auto" latinLnBrk="0" hangingPunct="1">
              <a:lnSpc>
                <a:spcPct val="100000"/>
              </a:lnSpc>
              <a:spcBef>
                <a:spcPts val="0"/>
              </a:spcBef>
              <a:spcAft>
                <a:spcPts val="0"/>
              </a:spcAft>
              <a:buClr>
                <a:srgbClr val="353535"/>
              </a:buClr>
              <a:buSzTx/>
              <a:buFontTx/>
              <a:buNone/>
              <a:tabLst/>
              <a:defRPr/>
            </a:pPr>
            <a:r>
              <a:rPr kumimoji="0" lang="en-US" sz="30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rPr>
              <a:t>PC or tablet: visit </a:t>
            </a:r>
            <a:r>
              <a:rPr kumimoji="0" lang="en-US" sz="3000" b="0" i="0" u="none" strike="noStrike" kern="1200" cap="none" spc="0" normalizeH="0" baseline="0" noProof="0" dirty="0" err="1">
                <a:ln>
                  <a:noFill/>
                </a:ln>
                <a:gradFill>
                  <a:gsLst>
                    <a:gs pos="99115">
                      <a:srgbClr val="353535"/>
                    </a:gs>
                    <a:gs pos="59000">
                      <a:srgbClr val="353535"/>
                    </a:gs>
                  </a:gsLst>
                  <a:lin ang="5400000" scaled="0"/>
                </a:gradFill>
                <a:effectLst/>
                <a:uLnTx/>
                <a:uFillTx/>
                <a:latin typeface="Segoe UI Semilight"/>
                <a:ea typeface="+mn-ea"/>
                <a:cs typeface="+mn-cs"/>
              </a:rPr>
              <a:t>MyIgnite</a:t>
            </a:r>
            <a:r>
              <a:rPr kumimoji="0" lang="en-US" sz="30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rPr>
              <a:t> </a:t>
            </a:r>
            <a:r>
              <a:rPr kumimoji="0" lang="en-US" sz="26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hlinkClick r:id="rId4"/>
              </a:rPr>
              <a:t>https://myignite.microsoft.com/evaluations</a:t>
            </a:r>
            <a:endParaRPr kumimoji="0" lang="en-US" sz="26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endParaRPr>
          </a:p>
        </p:txBody>
      </p:sp>
      <p:grpSp>
        <p:nvGrpSpPr>
          <p:cNvPr id="27" name="Group 26">
            <a:extLst>
              <a:ext uri="{FF2B5EF4-FFF2-40B4-BE49-F238E27FC236}">
                <a16:creationId xmlns:a16="http://schemas.microsoft.com/office/drawing/2014/main" id="{0A04A1B0-654D-4751-9FBA-CAC97491AE69}"/>
              </a:ext>
            </a:extLst>
          </p:cNvPr>
          <p:cNvGrpSpPr/>
          <p:nvPr/>
        </p:nvGrpSpPr>
        <p:grpSpPr>
          <a:xfrm>
            <a:off x="4941392" y="2723277"/>
            <a:ext cx="743940" cy="743940"/>
            <a:chOff x="5068714" y="2346760"/>
            <a:chExt cx="743940" cy="743940"/>
          </a:xfrm>
        </p:grpSpPr>
        <p:sp>
          <p:nvSpPr>
            <p:cNvPr id="14" name="Oval 13">
              <a:extLst>
                <a:ext uri="{FF2B5EF4-FFF2-40B4-BE49-F238E27FC236}">
                  <a16:creationId xmlns:a16="http://schemas.microsoft.com/office/drawing/2014/main" id="{20FECF53-763C-4271-B8F8-A4A716465651}"/>
                </a:ext>
              </a:extLst>
            </p:cNvPr>
            <p:cNvSpPr/>
            <p:nvPr/>
          </p:nvSpPr>
          <p:spPr bwMode="auto">
            <a:xfrm>
              <a:off x="5068714" y="2346760"/>
              <a:ext cx="743940" cy="743940"/>
            </a:xfrm>
            <a:prstGeom prst="ellipse">
              <a:avLst/>
            </a:prstGeom>
            <a:solidFill>
              <a:schemeClr val="bg2"/>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8" name="Group 17">
              <a:extLst>
                <a:ext uri="{FF2B5EF4-FFF2-40B4-BE49-F238E27FC236}">
                  <a16:creationId xmlns:a16="http://schemas.microsoft.com/office/drawing/2014/main" id="{ABCE3E8E-E197-418C-979E-8FE840FCCE46}"/>
                </a:ext>
              </a:extLst>
            </p:cNvPr>
            <p:cNvGrpSpPr/>
            <p:nvPr/>
          </p:nvGrpSpPr>
          <p:grpSpPr>
            <a:xfrm>
              <a:off x="5245660" y="2601662"/>
              <a:ext cx="400129" cy="282590"/>
              <a:chOff x="5395125" y="2601662"/>
              <a:chExt cx="400129" cy="282590"/>
            </a:xfrm>
          </p:grpSpPr>
          <p:sp>
            <p:nvSpPr>
              <p:cNvPr id="8" name="monitor">
                <a:extLst>
                  <a:ext uri="{FF2B5EF4-FFF2-40B4-BE49-F238E27FC236}">
                    <a16:creationId xmlns:a16="http://schemas.microsoft.com/office/drawing/2014/main" id="{46EF422B-0A0E-4BC9-B7F7-14EB673BF803}"/>
                  </a:ext>
                </a:extLst>
              </p:cNvPr>
              <p:cNvSpPr>
                <a:spLocks noChangeAspect="1" noEditPoints="1"/>
              </p:cNvSpPr>
              <p:nvPr/>
            </p:nvSpPr>
            <p:spPr bwMode="auto">
              <a:xfrm>
                <a:off x="5395125" y="2601662"/>
                <a:ext cx="315012" cy="241423"/>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905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gradFill>
                    <a:gsLst>
                      <a:gs pos="0">
                        <a:srgbClr val="505050"/>
                      </a:gs>
                      <a:gs pos="100000">
                        <a:srgbClr val="505050"/>
                      </a:gs>
                    </a:gsLst>
                  </a:gradFill>
                  <a:effectLst/>
                  <a:uLnTx/>
                  <a:uFillTx/>
                  <a:latin typeface="Segoe UI Semilight"/>
                  <a:ea typeface="+mn-ea"/>
                  <a:cs typeface="+mn-cs"/>
                </a:endParaRPr>
              </a:p>
            </p:txBody>
          </p:sp>
          <p:sp>
            <p:nvSpPr>
              <p:cNvPr id="9" name="Tablet_E70A">
                <a:extLst>
                  <a:ext uri="{FF2B5EF4-FFF2-40B4-BE49-F238E27FC236}">
                    <a16:creationId xmlns:a16="http://schemas.microsoft.com/office/drawing/2014/main" id="{E48E46B1-20A4-4C88-803F-9B0A95D29A31}"/>
                  </a:ext>
                </a:extLst>
              </p:cNvPr>
              <p:cNvSpPr>
                <a:spLocks noChangeAspect="1" noEditPoints="1"/>
              </p:cNvSpPr>
              <p:nvPr/>
            </p:nvSpPr>
            <p:spPr bwMode="auto">
              <a:xfrm>
                <a:off x="5556527" y="2709004"/>
                <a:ext cx="238727" cy="175248"/>
              </a:xfrm>
              <a:custGeom>
                <a:avLst/>
                <a:gdLst>
                  <a:gd name="T0" fmla="*/ 3748 w 3748"/>
                  <a:gd name="T1" fmla="*/ 2562 h 2749"/>
                  <a:gd name="T2" fmla="*/ 3561 w 3748"/>
                  <a:gd name="T3" fmla="*/ 2749 h 2749"/>
                  <a:gd name="T4" fmla="*/ 187 w 3748"/>
                  <a:gd name="T5" fmla="*/ 2749 h 2749"/>
                  <a:gd name="T6" fmla="*/ 0 w 3748"/>
                  <a:gd name="T7" fmla="*/ 2562 h 2749"/>
                  <a:gd name="T8" fmla="*/ 0 w 3748"/>
                  <a:gd name="T9" fmla="*/ 187 h 2749"/>
                  <a:gd name="T10" fmla="*/ 187 w 3748"/>
                  <a:gd name="T11" fmla="*/ 0 h 2749"/>
                  <a:gd name="T12" fmla="*/ 3561 w 3748"/>
                  <a:gd name="T13" fmla="*/ 0 h 2749"/>
                  <a:gd name="T14" fmla="*/ 3748 w 3748"/>
                  <a:gd name="T15" fmla="*/ 187 h 2749"/>
                  <a:gd name="T16" fmla="*/ 3748 w 3748"/>
                  <a:gd name="T17" fmla="*/ 2562 h 2749"/>
                  <a:gd name="T18" fmla="*/ 2124 w 3748"/>
                  <a:gd name="T19" fmla="*/ 2249 h 2749"/>
                  <a:gd name="T20" fmla="*/ 1624 w 3748"/>
                  <a:gd name="T21" fmla="*/ 2249 h 2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48" h="2749">
                    <a:moveTo>
                      <a:pt x="3748" y="2562"/>
                    </a:moveTo>
                    <a:cubicBezTo>
                      <a:pt x="3748" y="2665"/>
                      <a:pt x="3665" y="2749"/>
                      <a:pt x="3561" y="2749"/>
                    </a:cubicBezTo>
                    <a:cubicBezTo>
                      <a:pt x="187" y="2749"/>
                      <a:pt x="187" y="2749"/>
                      <a:pt x="187" y="2749"/>
                    </a:cubicBezTo>
                    <a:cubicBezTo>
                      <a:pt x="83" y="2749"/>
                      <a:pt x="0" y="2665"/>
                      <a:pt x="0" y="2562"/>
                    </a:cubicBezTo>
                    <a:cubicBezTo>
                      <a:pt x="0" y="187"/>
                      <a:pt x="0" y="187"/>
                      <a:pt x="0" y="187"/>
                    </a:cubicBezTo>
                    <a:cubicBezTo>
                      <a:pt x="0" y="84"/>
                      <a:pt x="83" y="0"/>
                      <a:pt x="187" y="0"/>
                    </a:cubicBezTo>
                    <a:cubicBezTo>
                      <a:pt x="3561" y="0"/>
                      <a:pt x="3561" y="0"/>
                      <a:pt x="3561" y="0"/>
                    </a:cubicBezTo>
                    <a:cubicBezTo>
                      <a:pt x="3665" y="0"/>
                      <a:pt x="3748" y="84"/>
                      <a:pt x="3748" y="187"/>
                    </a:cubicBezTo>
                    <a:lnTo>
                      <a:pt x="3748" y="2562"/>
                    </a:lnTo>
                    <a:close/>
                    <a:moveTo>
                      <a:pt x="2124" y="2249"/>
                    </a:moveTo>
                    <a:cubicBezTo>
                      <a:pt x="1624" y="2249"/>
                      <a:pt x="1624" y="2249"/>
                      <a:pt x="1624" y="2249"/>
                    </a:cubicBezTo>
                  </a:path>
                </a:pathLst>
              </a:custGeom>
              <a:solidFill>
                <a:schemeClr val="bg2"/>
              </a:solidFill>
              <a:ln w="19050" cap="sq">
                <a:solidFill>
                  <a:schemeClr val="tx2"/>
                </a:solidFill>
                <a:prstDash val="solid"/>
                <a:miter lim="800000"/>
                <a:headEnd/>
                <a:tailEnd/>
              </a:ln>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grpSp>
      </p:grpSp>
      <p:grpSp>
        <p:nvGrpSpPr>
          <p:cNvPr id="26" name="Group 25">
            <a:extLst>
              <a:ext uri="{FF2B5EF4-FFF2-40B4-BE49-F238E27FC236}">
                <a16:creationId xmlns:a16="http://schemas.microsoft.com/office/drawing/2014/main" id="{0D475C12-F58C-47F7-A112-19817A71A592}"/>
              </a:ext>
            </a:extLst>
          </p:cNvPr>
          <p:cNvGrpSpPr/>
          <p:nvPr/>
        </p:nvGrpSpPr>
        <p:grpSpPr>
          <a:xfrm>
            <a:off x="4941392" y="4032455"/>
            <a:ext cx="743940" cy="743940"/>
            <a:chOff x="5068714" y="3881848"/>
            <a:chExt cx="743940" cy="743940"/>
          </a:xfrm>
        </p:grpSpPr>
        <p:sp>
          <p:nvSpPr>
            <p:cNvPr id="13" name="Oval 12">
              <a:extLst>
                <a:ext uri="{FF2B5EF4-FFF2-40B4-BE49-F238E27FC236}">
                  <a16:creationId xmlns:a16="http://schemas.microsoft.com/office/drawing/2014/main" id="{E850657F-341F-46CD-B568-9F12BFBAB36C}"/>
                </a:ext>
              </a:extLst>
            </p:cNvPr>
            <p:cNvSpPr/>
            <p:nvPr/>
          </p:nvSpPr>
          <p:spPr bwMode="auto">
            <a:xfrm>
              <a:off x="5068714" y="3881848"/>
              <a:ext cx="743940" cy="743940"/>
            </a:xfrm>
            <a:prstGeom prst="ellipse">
              <a:avLst/>
            </a:prstGeom>
            <a:solidFill>
              <a:schemeClr val="bg2"/>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9" name="CellPhone_E8EA">
              <a:extLst>
                <a:ext uri="{FF2B5EF4-FFF2-40B4-BE49-F238E27FC236}">
                  <a16:creationId xmlns:a16="http://schemas.microsoft.com/office/drawing/2014/main" id="{F052BA03-A0B1-4396-9842-B0076DAA3ADA}"/>
                </a:ext>
              </a:extLst>
            </p:cNvPr>
            <p:cNvSpPr>
              <a:spLocks noChangeAspect="1" noEditPoints="1"/>
            </p:cNvSpPr>
            <p:nvPr/>
          </p:nvSpPr>
          <p:spPr bwMode="auto">
            <a:xfrm>
              <a:off x="5347257" y="4098132"/>
              <a:ext cx="186854" cy="311373"/>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905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grpSp>
      <p:sp>
        <p:nvSpPr>
          <p:cNvPr id="22" name="Rectangle 21">
            <a:extLst>
              <a:ext uri="{FF2B5EF4-FFF2-40B4-BE49-F238E27FC236}">
                <a16:creationId xmlns:a16="http://schemas.microsoft.com/office/drawing/2014/main" id="{7DA17646-8F75-4C68-9CDA-774778D40EA7}"/>
              </a:ext>
            </a:extLst>
          </p:cNvPr>
          <p:cNvSpPr/>
          <p:nvPr/>
        </p:nvSpPr>
        <p:spPr>
          <a:xfrm>
            <a:off x="386990" y="4418183"/>
            <a:ext cx="2723184" cy="1200329"/>
          </a:xfrm>
          <a:prstGeom prst="rect">
            <a:avLst/>
          </a:prstGeom>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99115">
                      <a:srgbClr val="FFFFFF"/>
                    </a:gs>
                    <a:gs pos="59000">
                      <a:srgbClr val="FFFFFF"/>
                    </a:gs>
                  </a:gsLst>
                  <a:lin ang="5400000" scaled="0"/>
                </a:gradFill>
                <a:effectLst/>
                <a:uLnTx/>
                <a:uFillTx/>
                <a:latin typeface="Segoe UI Semilight"/>
                <a:ea typeface="+mn-ea"/>
                <a:cs typeface="+mn-cs"/>
              </a:rPr>
              <a:t>Your input is important!</a:t>
            </a:r>
            <a:endParaRPr kumimoji="0" lang="en-US" sz="3600" b="0" i="0" u="none" strike="noStrike" kern="1200" cap="none" spc="0" normalizeH="0" baseline="0" noProof="0" dirty="0">
              <a:ln>
                <a:noFill/>
              </a:ln>
              <a:solidFill>
                <a:srgbClr val="353535"/>
              </a:solidFill>
              <a:effectLst/>
              <a:uLnTx/>
              <a:uFillTx/>
              <a:latin typeface="Segoe UI Semilight"/>
              <a:ea typeface="+mn-ea"/>
              <a:cs typeface="+mn-cs"/>
            </a:endParaRPr>
          </a:p>
        </p:txBody>
      </p:sp>
      <p:cxnSp>
        <p:nvCxnSpPr>
          <p:cNvPr id="24" name="Straight Connector 23">
            <a:extLst>
              <a:ext uri="{FF2B5EF4-FFF2-40B4-BE49-F238E27FC236}">
                <a16:creationId xmlns:a16="http://schemas.microsoft.com/office/drawing/2014/main" id="{F03C15D5-5757-4828-9C06-1FFB713B3281}"/>
              </a:ext>
            </a:extLst>
          </p:cNvPr>
          <p:cNvCxnSpPr/>
          <p:nvPr/>
        </p:nvCxnSpPr>
        <p:spPr>
          <a:xfrm>
            <a:off x="478715" y="4168841"/>
            <a:ext cx="3475038" cy="0"/>
          </a:xfrm>
          <a:prstGeom prst="line">
            <a:avLst/>
          </a:prstGeom>
          <a:ln w="12700">
            <a:solidFill>
              <a:schemeClr val="bg1">
                <a:alpha val="68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 name="instructions" hidden="1"/>
          <p:cNvSpPr>
            <a:spLocks noChangeArrowheads="1"/>
          </p:cNvSpPr>
          <p:nvPr/>
        </p:nvSpPr>
        <p:spPr bwMode="auto">
          <a:xfrm rot="850369">
            <a:off x="1736858" y="2495425"/>
            <a:ext cx="9326033" cy="654747"/>
          </a:xfrm>
          <a:prstGeom prst="rect">
            <a:avLst/>
          </a:prstGeom>
          <a:solidFill>
            <a:srgbClr val="FFFFFF"/>
          </a:solidFill>
          <a:ln w="9525">
            <a:solidFill>
              <a:schemeClr val="tx1"/>
            </a:solidFill>
            <a:miter lim="800000"/>
            <a:headEnd/>
            <a:tailEnd/>
          </a:ln>
        </p:spPr>
        <p:txBody>
          <a:bodyPr lIns="77714" tIns="38856" rIns="77714" bIns="38856">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0000"/>
                </a:solidFill>
                <a:effectLst/>
                <a:uLnTx/>
                <a:uFillTx/>
                <a:latin typeface="Segoe UI Semilight"/>
                <a:ea typeface="+mn-ea"/>
                <a:cs typeface="+mn-cs"/>
              </a:rPr>
              <a:t>Please expand notes window at bottom of slide and read. </a:t>
            </a:r>
            <a:br>
              <a:rPr kumimoji="0" lang="en-US" sz="1800" b="1" i="0" u="none" strike="noStrike" kern="0" cap="none" spc="0" normalizeH="0" baseline="0" noProof="0" dirty="0">
                <a:ln>
                  <a:noFill/>
                </a:ln>
                <a:solidFill>
                  <a:srgbClr val="FF0000"/>
                </a:solidFill>
                <a:effectLst/>
                <a:uLnTx/>
                <a:uFillTx/>
                <a:latin typeface="Segoe UI Semilight"/>
                <a:ea typeface="+mn-ea"/>
                <a:cs typeface="+mn-cs"/>
              </a:rPr>
            </a:br>
            <a:r>
              <a:rPr kumimoji="0" lang="en-US" sz="1800" b="1" i="0" u="none" strike="noStrike" kern="0" cap="none" spc="0" normalizeH="0" baseline="0" noProof="0" dirty="0">
                <a:ln>
                  <a:noFill/>
                </a:ln>
                <a:solidFill>
                  <a:srgbClr val="FF0000"/>
                </a:solidFill>
                <a:effectLst/>
                <a:uLnTx/>
                <a:uFillTx/>
                <a:latin typeface="Segoe UI Semilight"/>
                <a:ea typeface="+mn-ea"/>
                <a:cs typeface="+mn-cs"/>
              </a:rPr>
              <a:t>Then Delete this text box.</a:t>
            </a:r>
          </a:p>
        </p:txBody>
      </p:sp>
    </p:spTree>
    <p:extLst>
      <p:ext uri="{BB962C8B-B14F-4D97-AF65-F5344CB8AC3E}">
        <p14:creationId xmlns:p14="http://schemas.microsoft.com/office/powerpoint/2010/main" val="115099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fill="hold"/>
                                        <p:tgtEl>
                                          <p:spTgt spid="5"/>
                                        </p:tgtEl>
                                        <p:attrNameLst>
                                          <p:attrName>ppt_x</p:attrName>
                                        </p:attrNameLst>
                                      </p:cBhvr>
                                      <p:tavLst>
                                        <p:tav tm="0">
                                          <p:val>
                                            <p:strVal val="0-#ppt_w/2"/>
                                          </p:val>
                                        </p:tav>
                                        <p:tav tm="100000">
                                          <p:val>
                                            <p:strVal val="#ppt_x"/>
                                          </p:val>
                                        </p:tav>
                                      </p:tavLst>
                                    </p:anim>
                                    <p:anim calcmode="lin" valueType="num">
                                      <p:cBhvr additive="base">
                                        <p:cTn id="8" dur="4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35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par>
                                <p:cTn id="12" presetID="10" presetClass="entr" presetSubtype="0" fill="hold" grpId="0" nodeType="withEffect">
                                  <p:stCondLst>
                                    <p:cond delay="35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par>
                                <p:cTn id="15" presetID="42" presetClass="path" presetSubtype="0" decel="100000" fill="hold" grpId="1" nodeType="withEffect">
                                  <p:stCondLst>
                                    <p:cond delay="350"/>
                                  </p:stCondLst>
                                  <p:childTnLst>
                                    <p:animMotion origin="layout" path="M 2.62956E-6 1.45256E-7 L 2.62956E-6 0.05039 " pathEditMode="relative" rAng="0" ptsTypes="AA">
                                      <p:cBhvr>
                                        <p:cTn id="16" dur="500" spd="-100000" fill="hold"/>
                                        <p:tgtEl>
                                          <p:spTgt spid="2"/>
                                        </p:tgtEl>
                                        <p:attrNameLst>
                                          <p:attrName>ppt_x</p:attrName>
                                          <p:attrName>ppt_y</p:attrName>
                                        </p:attrNameLst>
                                      </p:cBhvr>
                                      <p:rCtr x="0" y="2519"/>
                                    </p:animMotion>
                                  </p:childTnLst>
                                </p:cTn>
                              </p:par>
                              <p:par>
                                <p:cTn id="17" presetID="10" presetClass="entr" presetSubtype="0" fill="hold" grpId="0" nodeType="withEffect">
                                  <p:stCondLst>
                                    <p:cond delay="35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42" presetClass="path" presetSubtype="0" decel="100000" fill="hold" grpId="1" nodeType="withEffect">
                                  <p:stCondLst>
                                    <p:cond delay="350"/>
                                  </p:stCondLst>
                                  <p:childTnLst>
                                    <p:animMotion origin="layout" path="M 3.55629E-6 4.87971E-6 L 3.55629E-6 -0.05448 " pathEditMode="relative" rAng="0" ptsTypes="AA">
                                      <p:cBhvr>
                                        <p:cTn id="21" dur="500" spd="-100000" fill="hold"/>
                                        <p:tgtEl>
                                          <p:spTgt spid="22"/>
                                        </p:tgtEl>
                                        <p:attrNameLst>
                                          <p:attrName>ppt_x</p:attrName>
                                          <p:attrName>ppt_y</p:attrName>
                                        </p:attrNameLst>
                                      </p:cBhvr>
                                      <p:rCtr x="0" y="-2724"/>
                                    </p:animMotion>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1"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up)">
                                      <p:cBhvr>
                                        <p:cTn id="28" dur="500"/>
                                        <p:tgtEl>
                                          <p:spTgt spid="12"/>
                                        </p:tgtEl>
                                      </p:cBhvr>
                                    </p:animEffect>
                                  </p:childTnLst>
                                </p:cTn>
                              </p:par>
                              <p:par>
                                <p:cTn id="29" presetID="53" presetClass="entr" presetSubtype="16"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p:cTn id="31" dur="350" fill="hold"/>
                                        <p:tgtEl>
                                          <p:spTgt spid="27"/>
                                        </p:tgtEl>
                                        <p:attrNameLst>
                                          <p:attrName>ppt_w</p:attrName>
                                        </p:attrNameLst>
                                      </p:cBhvr>
                                      <p:tavLst>
                                        <p:tav tm="0">
                                          <p:val>
                                            <p:fltVal val="0"/>
                                          </p:val>
                                        </p:tav>
                                        <p:tav tm="100000">
                                          <p:val>
                                            <p:strVal val="#ppt_w"/>
                                          </p:val>
                                        </p:tav>
                                      </p:tavLst>
                                    </p:anim>
                                    <p:anim calcmode="lin" valueType="num">
                                      <p:cBhvr>
                                        <p:cTn id="32" dur="350" fill="hold"/>
                                        <p:tgtEl>
                                          <p:spTgt spid="27"/>
                                        </p:tgtEl>
                                        <p:attrNameLst>
                                          <p:attrName>ppt_h</p:attrName>
                                        </p:attrNameLst>
                                      </p:cBhvr>
                                      <p:tavLst>
                                        <p:tav tm="0">
                                          <p:val>
                                            <p:fltVal val="0"/>
                                          </p:val>
                                        </p:tav>
                                        <p:tav tm="100000">
                                          <p:val>
                                            <p:strVal val="#ppt_h"/>
                                          </p:val>
                                        </p:tav>
                                      </p:tavLst>
                                    </p:anim>
                                    <p:animEffect transition="in" filter="fade">
                                      <p:cBhvr>
                                        <p:cTn id="33" dur="35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42" presetClass="path" presetSubtype="0" decel="100000" fill="hold" grpId="1" nodeType="withEffect">
                                  <p:stCondLst>
                                    <p:cond delay="0"/>
                                  </p:stCondLst>
                                  <p:childTnLst>
                                    <p:animMotion origin="layout" path="M 4.18943E-6 3.5951E-6 L -0.03677 3.5951E-6 " pathEditMode="relative" rAng="0" ptsTypes="AA">
                                      <p:cBhvr>
                                        <p:cTn id="38" dur="500" spd="-100000" fill="hold"/>
                                        <p:tgtEl>
                                          <p:spTgt spid="6"/>
                                        </p:tgtEl>
                                        <p:attrNameLst>
                                          <p:attrName>ppt_x</p:attrName>
                                          <p:attrName>ppt_y</p:attrName>
                                        </p:attrNameLst>
                                      </p:cBhvr>
                                      <p:rCtr x="-1838" y="0"/>
                                    </p:animMotion>
                                  </p:childTnLst>
                                </p:cTn>
                              </p:par>
                              <p:par>
                                <p:cTn id="39" presetID="53" presetClass="entr" presetSubtype="16" fill="hold" nodeType="withEffect">
                                  <p:stCondLst>
                                    <p:cond delay="300"/>
                                  </p:stCondLst>
                                  <p:childTnLst>
                                    <p:set>
                                      <p:cBhvr>
                                        <p:cTn id="40" dur="1" fill="hold">
                                          <p:stCondLst>
                                            <p:cond delay="0"/>
                                          </p:stCondLst>
                                        </p:cTn>
                                        <p:tgtEl>
                                          <p:spTgt spid="26"/>
                                        </p:tgtEl>
                                        <p:attrNameLst>
                                          <p:attrName>style.visibility</p:attrName>
                                        </p:attrNameLst>
                                      </p:cBhvr>
                                      <p:to>
                                        <p:strVal val="visible"/>
                                      </p:to>
                                    </p:set>
                                    <p:anim calcmode="lin" valueType="num">
                                      <p:cBhvr>
                                        <p:cTn id="41" dur="350" fill="hold"/>
                                        <p:tgtEl>
                                          <p:spTgt spid="26"/>
                                        </p:tgtEl>
                                        <p:attrNameLst>
                                          <p:attrName>ppt_w</p:attrName>
                                        </p:attrNameLst>
                                      </p:cBhvr>
                                      <p:tavLst>
                                        <p:tav tm="0">
                                          <p:val>
                                            <p:fltVal val="0"/>
                                          </p:val>
                                        </p:tav>
                                        <p:tav tm="100000">
                                          <p:val>
                                            <p:strVal val="#ppt_w"/>
                                          </p:val>
                                        </p:tav>
                                      </p:tavLst>
                                    </p:anim>
                                    <p:anim calcmode="lin" valueType="num">
                                      <p:cBhvr>
                                        <p:cTn id="42" dur="350" fill="hold"/>
                                        <p:tgtEl>
                                          <p:spTgt spid="26"/>
                                        </p:tgtEl>
                                        <p:attrNameLst>
                                          <p:attrName>ppt_h</p:attrName>
                                        </p:attrNameLst>
                                      </p:cBhvr>
                                      <p:tavLst>
                                        <p:tav tm="0">
                                          <p:val>
                                            <p:fltVal val="0"/>
                                          </p:val>
                                        </p:tav>
                                        <p:tav tm="100000">
                                          <p:val>
                                            <p:strVal val="#ppt_h"/>
                                          </p:val>
                                        </p:tav>
                                      </p:tavLst>
                                    </p:anim>
                                    <p:animEffect transition="in" filter="fade">
                                      <p:cBhvr>
                                        <p:cTn id="43" dur="350"/>
                                        <p:tgtEl>
                                          <p:spTgt spid="26"/>
                                        </p:tgtEl>
                                      </p:cBhvr>
                                    </p:animEffect>
                                  </p:childTnLst>
                                </p:cTn>
                              </p:par>
                              <p:par>
                                <p:cTn id="44" presetID="10" presetClass="entr" presetSubtype="0" fill="hold" grpId="0" nodeType="withEffect">
                                  <p:stCondLst>
                                    <p:cond delay="30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42" presetClass="path" presetSubtype="0" decel="100000" fill="hold" grpId="1" nodeType="withEffect">
                                  <p:stCondLst>
                                    <p:cond delay="300"/>
                                  </p:stCondLst>
                                  <p:childTnLst>
                                    <p:animMotion origin="layout" path="M -4.30687E-6 -3.40899E-6 L -0.03676 -3.40899E-6 " pathEditMode="relative" rAng="0" ptsTypes="AA">
                                      <p:cBhvr>
                                        <p:cTn id="48" dur="500" spd="-100000" fill="hold"/>
                                        <p:tgtEl>
                                          <p:spTgt spid="3"/>
                                        </p:tgtEl>
                                        <p:attrNameLst>
                                          <p:attrName>ppt_x</p:attrName>
                                          <p:attrName>ppt_y</p:attrName>
                                        </p:attrNameLst>
                                      </p:cBhvr>
                                      <p:rCtr x="-18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3" grpId="1"/>
      <p:bldP spid="2" grpId="0"/>
      <p:bldP spid="2" grpId="1"/>
      <p:bldP spid="10" grpId="0"/>
      <p:bldP spid="6" grpId="0"/>
      <p:bldP spid="6" grpId="1"/>
      <p:bldP spid="22" grpId="0"/>
      <p:bldP spid="22" grpId="1"/>
    </p:bldLst>
  </p:timing>
</p:sld>
</file>

<file path=ppt/slides/slide35.xml><?xml version="1.0" encoding="utf-8"?>
<p:sld xmlns:a16="http://schemas.microsoft.com/office/drawing/2014/main" xmlns:a14="http://schemas.microsoft.com/office/drawing/2010/main" xmlns:asvg="http://schemas.microsoft.com/office/drawing/2016/SVG/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459" y="90164"/>
            <a:ext cx="10724938" cy="1351952"/>
          </a:xfrm>
        </p:spPr>
        <p:txBody>
          <a:bodyPr>
            <a:normAutofit/>
          </a:bodyPr>
          <a:lstStyle/>
          <a:p>
            <a:r>
              <a:rPr lang="en-US" sz="4080" dirty="0"/>
              <a:t>Process of deploying predictive analytics </a:t>
            </a:r>
          </a:p>
        </p:txBody>
      </p:sp>
      <p:sp>
        <p:nvSpPr>
          <p:cNvPr id="18" name="Rectangle 17"/>
          <p:cNvSpPr/>
          <p:nvPr/>
        </p:nvSpPr>
        <p:spPr bwMode="auto">
          <a:xfrm>
            <a:off x="1765" y="5486270"/>
            <a:ext cx="12432947" cy="1507758"/>
          </a:xfrm>
          <a:prstGeom prst="rect">
            <a:avLst/>
          </a:prstGeom>
          <a:solidFill>
            <a:schemeClr val="accent3"/>
          </a:solidFill>
          <a:ln w="6350" cap="flat" cmpd="sng" algn="ctr">
            <a:noFill/>
            <a:prstDash val="solid"/>
            <a:headEnd type="none" w="med" len="med"/>
            <a:tailEnd type="none" w="med" len="med"/>
          </a:ln>
          <a:effectLst/>
        </p:spPr>
        <p:txBody>
          <a:bodyPr rot="0" spcFirstLastPara="0" vert="horz" wrap="square" lIns="142635" tIns="93247" rIns="95089" bIns="93247"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50752" rtl="0" eaLnBrk="1" fontAlgn="auto" latinLnBrk="0" hangingPunct="1">
              <a:lnSpc>
                <a:spcPct val="100000"/>
              </a:lnSpc>
              <a:spcBef>
                <a:spcPts val="0"/>
              </a:spcBef>
              <a:spcAft>
                <a:spcPts val="0"/>
              </a:spcAft>
              <a:buClrTx/>
              <a:buSzTx/>
              <a:buFontTx/>
              <a:buNone/>
              <a:tabLst/>
              <a:defRPr/>
            </a:pPr>
            <a:endParaRPr kumimoji="0" lang="en-US" sz="2040" b="0" i="0" u="none" strike="noStrike" kern="0" cap="none" spc="0" normalizeH="0" baseline="0" noProof="0" dirty="0">
              <a:ln>
                <a:noFill/>
              </a:ln>
              <a:solidFill>
                <a:srgbClr val="002050"/>
              </a:solidFill>
              <a:effectLst/>
              <a:uLnTx/>
              <a:uFillTx/>
              <a:latin typeface="Segoe UI Semilight"/>
              <a:ea typeface="+mn-ea"/>
              <a:cs typeface="+mn-cs"/>
            </a:endParaRPr>
          </a:p>
        </p:txBody>
      </p:sp>
      <p:sp>
        <p:nvSpPr>
          <p:cNvPr id="19" name="Rectangle 18"/>
          <p:cNvSpPr/>
          <p:nvPr/>
        </p:nvSpPr>
        <p:spPr>
          <a:xfrm>
            <a:off x="1766" y="6049022"/>
            <a:ext cx="2499398" cy="382254"/>
          </a:xfrm>
          <a:prstGeom prst="rect">
            <a:avLst/>
          </a:prstGeom>
        </p:spPr>
        <p:txBody>
          <a:bodyPr wrap="square" lIns="372988" anchor="ctr" anchorCtr="0">
            <a:spAutoFit/>
          </a:bodyPr>
          <a:lstStyle/>
          <a:p>
            <a:pPr marL="0" marR="0" lvl="0" indent="0" algn="l" defTabSz="932742" rtl="0" eaLnBrk="1" fontAlgn="auto" latinLnBrk="0" hangingPunct="1">
              <a:lnSpc>
                <a:spcPct val="90000"/>
              </a:lnSpc>
              <a:spcBef>
                <a:spcPts val="0"/>
              </a:spcBef>
              <a:spcAft>
                <a:spcPts val="612"/>
              </a:spcAft>
              <a:buClrTx/>
              <a:buSzTx/>
              <a:buFontTx/>
              <a:buNone/>
              <a:tabLst/>
              <a:defRPr/>
            </a:pPr>
            <a:r>
              <a:rPr kumimoji="0" lang="en-US" sz="2040" b="1" i="0" u="none" strike="noStrike" kern="1200" cap="none" spc="0" normalizeH="0" baseline="0" noProof="0" dirty="0">
                <a:ln>
                  <a:noFill/>
                </a:ln>
                <a:solidFill>
                  <a:srgbClr val="353535"/>
                </a:solidFill>
                <a:effectLst/>
                <a:uLnTx/>
                <a:uFillTx/>
                <a:latin typeface="Segoe UI" charset="0"/>
                <a:ea typeface="Segoe UI" charset="0"/>
                <a:cs typeface="Segoe UI" charset="0"/>
              </a:rPr>
              <a:t>Develop</a:t>
            </a:r>
          </a:p>
        </p:txBody>
      </p:sp>
      <p:sp>
        <p:nvSpPr>
          <p:cNvPr id="20" name="Rectangle 19"/>
          <p:cNvSpPr/>
          <p:nvPr/>
        </p:nvSpPr>
        <p:spPr>
          <a:xfrm>
            <a:off x="3249310" y="6049022"/>
            <a:ext cx="2557618" cy="382254"/>
          </a:xfrm>
          <a:prstGeom prst="rect">
            <a:avLst/>
          </a:prstGeom>
        </p:spPr>
        <p:txBody>
          <a:bodyPr wrap="square" lIns="372988" anchor="ctr" anchorCtr="0">
            <a:spAutoFit/>
          </a:bodyPr>
          <a:lstStyle/>
          <a:p>
            <a:pPr marL="0" marR="0" lvl="0" indent="0" algn="l" defTabSz="932742" rtl="0" eaLnBrk="1" fontAlgn="auto" latinLnBrk="0" hangingPunct="1">
              <a:lnSpc>
                <a:spcPct val="90000"/>
              </a:lnSpc>
              <a:spcBef>
                <a:spcPts val="0"/>
              </a:spcBef>
              <a:spcAft>
                <a:spcPts val="612"/>
              </a:spcAft>
              <a:buClrTx/>
              <a:buSzTx/>
              <a:buFontTx/>
              <a:buNone/>
              <a:tabLst/>
              <a:defRPr/>
            </a:pPr>
            <a:r>
              <a:rPr kumimoji="0" lang="en-US" sz="2040" b="1" i="0" u="none" strike="noStrike" kern="1200" cap="none" spc="0" normalizeH="0" baseline="0" noProof="0" dirty="0">
                <a:ln>
                  <a:noFill/>
                </a:ln>
                <a:solidFill>
                  <a:srgbClr val="353535"/>
                </a:solidFill>
                <a:effectLst/>
                <a:uLnTx/>
                <a:uFillTx/>
                <a:latin typeface="Segoe UI" charset="0"/>
                <a:ea typeface="Segoe UI" charset="0"/>
                <a:cs typeface="Segoe UI" charset="0"/>
              </a:rPr>
              <a:t>Train</a:t>
            </a:r>
          </a:p>
        </p:txBody>
      </p:sp>
      <p:sp>
        <p:nvSpPr>
          <p:cNvPr id="22" name="Rectangle 21"/>
          <p:cNvSpPr/>
          <p:nvPr/>
        </p:nvSpPr>
        <p:spPr>
          <a:xfrm>
            <a:off x="6288914" y="6049022"/>
            <a:ext cx="2197028" cy="382254"/>
          </a:xfrm>
          <a:prstGeom prst="rect">
            <a:avLst/>
          </a:prstGeom>
        </p:spPr>
        <p:txBody>
          <a:bodyPr wrap="square" lIns="372988" anchor="ctr" anchorCtr="0">
            <a:spAutoFit/>
          </a:bodyPr>
          <a:lstStyle/>
          <a:p>
            <a:pPr marL="0" marR="0" lvl="0" indent="0" algn="l" defTabSz="932742" rtl="0" eaLnBrk="1" fontAlgn="auto" latinLnBrk="0" hangingPunct="1">
              <a:lnSpc>
                <a:spcPct val="90000"/>
              </a:lnSpc>
              <a:spcBef>
                <a:spcPts val="0"/>
              </a:spcBef>
              <a:spcAft>
                <a:spcPts val="612"/>
              </a:spcAft>
              <a:buClrTx/>
              <a:buSzTx/>
              <a:buFontTx/>
              <a:buNone/>
              <a:tabLst/>
              <a:defRPr/>
            </a:pPr>
            <a:r>
              <a:rPr kumimoji="0" lang="en-US" sz="2040" b="1" i="0" u="none" strike="noStrike" kern="1200" cap="none" spc="0" normalizeH="0" baseline="0" noProof="0" dirty="0">
                <a:ln>
                  <a:noFill/>
                </a:ln>
                <a:solidFill>
                  <a:srgbClr val="353535"/>
                </a:solidFill>
                <a:effectLst/>
                <a:uLnTx/>
                <a:uFillTx/>
                <a:latin typeface="Segoe UI" charset="0"/>
                <a:ea typeface="Segoe UI" charset="0"/>
                <a:cs typeface="Segoe UI" charset="0"/>
              </a:rPr>
              <a:t>Deploy</a:t>
            </a:r>
          </a:p>
        </p:txBody>
      </p:sp>
      <p:sp>
        <p:nvSpPr>
          <p:cNvPr id="23" name="Rectangle 22"/>
          <p:cNvSpPr/>
          <p:nvPr/>
        </p:nvSpPr>
        <p:spPr>
          <a:xfrm>
            <a:off x="9325369" y="6049022"/>
            <a:ext cx="2761601" cy="382254"/>
          </a:xfrm>
          <a:prstGeom prst="rect">
            <a:avLst/>
          </a:prstGeom>
        </p:spPr>
        <p:txBody>
          <a:bodyPr wrap="square" lIns="372988" anchor="ctr" anchorCtr="0">
            <a:spAutoFit/>
          </a:bodyPr>
          <a:lstStyle/>
          <a:p>
            <a:pPr marL="0" marR="0" lvl="0" indent="0" algn="l" defTabSz="932742" rtl="0" eaLnBrk="1" fontAlgn="auto" latinLnBrk="0" hangingPunct="1">
              <a:lnSpc>
                <a:spcPct val="90000"/>
              </a:lnSpc>
              <a:spcBef>
                <a:spcPts val="0"/>
              </a:spcBef>
              <a:spcAft>
                <a:spcPts val="612"/>
              </a:spcAft>
              <a:buClrTx/>
              <a:buSzTx/>
              <a:buFontTx/>
              <a:buNone/>
              <a:tabLst/>
              <a:defRPr/>
            </a:pPr>
            <a:r>
              <a:rPr kumimoji="0" lang="en-US" sz="2040" b="1" i="0" u="none" strike="noStrike" kern="1200" cap="none" spc="0" normalizeH="0" baseline="0" noProof="0" dirty="0">
                <a:ln>
                  <a:noFill/>
                </a:ln>
                <a:solidFill>
                  <a:srgbClr val="353535"/>
                </a:solidFill>
                <a:effectLst/>
                <a:uLnTx/>
                <a:uFillTx/>
                <a:latin typeface="Segoe UI" charset="0"/>
                <a:ea typeface="Segoe UI" charset="0"/>
                <a:cs typeface="Segoe UI" charset="0"/>
              </a:rPr>
              <a:t>Consume</a:t>
            </a:r>
          </a:p>
        </p:txBody>
      </p:sp>
      <p:sp>
        <p:nvSpPr>
          <p:cNvPr id="27" name="Rectangular Callout 32"/>
          <p:cNvSpPr/>
          <p:nvPr/>
        </p:nvSpPr>
        <p:spPr bwMode="auto">
          <a:xfrm>
            <a:off x="606853" y="2582902"/>
            <a:ext cx="2346970" cy="875667"/>
          </a:xfrm>
          <a:prstGeom prst="wedgeRectCallout">
            <a:avLst>
              <a:gd name="adj1" fmla="val -21007"/>
              <a:gd name="adj2" fmla="val 76426"/>
            </a:avLst>
          </a:prstGeom>
          <a:solidFill>
            <a:schemeClr val="bg1"/>
          </a:solidFill>
          <a:ln w="1270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47" tIns="93247" rIns="93247" bIns="93247" numCol="1" spcCol="0" rtlCol="0" fromWordArt="0" anchor="t" anchorCtr="0" forceAA="0" compatLnSpc="1">
            <a:prstTxWarp prst="textNoShape">
              <a:avLst/>
            </a:prstTxWarp>
            <a:noAutofit/>
          </a:bodyPr>
          <a:lstStyle/>
          <a:p>
            <a:pPr marL="0" marR="0" lvl="0" indent="0" algn="l" defTabSz="950846" rtl="0" eaLnBrk="1" fontAlgn="base" latinLnBrk="0" hangingPunct="1">
              <a:lnSpc>
                <a:spcPct val="90000"/>
              </a:lnSpc>
              <a:spcBef>
                <a:spcPct val="0"/>
              </a:spcBef>
              <a:spcAft>
                <a:spcPct val="0"/>
              </a:spcAft>
              <a:buClrTx/>
              <a:buSzTx/>
              <a:buFontTx/>
              <a:buNone/>
              <a:tabLst/>
              <a:defRPr/>
            </a:pPr>
            <a:r>
              <a:rPr kumimoji="0" lang="en-US" sz="1428" b="1" i="0" u="none" strike="noStrike" kern="120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Develop</a:t>
            </a: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 explore and experiment in your favorite R IDE</a:t>
            </a:r>
          </a:p>
        </p:txBody>
      </p:sp>
      <p:sp>
        <p:nvSpPr>
          <p:cNvPr id="28" name="Rectangular Callout 33"/>
          <p:cNvSpPr/>
          <p:nvPr/>
        </p:nvSpPr>
        <p:spPr bwMode="auto">
          <a:xfrm>
            <a:off x="3651235" y="2157754"/>
            <a:ext cx="2346970" cy="875667"/>
          </a:xfrm>
          <a:prstGeom prst="wedgeRectCallout">
            <a:avLst>
              <a:gd name="adj1" fmla="val -20659"/>
              <a:gd name="adj2" fmla="val 80025"/>
            </a:avLst>
          </a:prstGeom>
          <a:solidFill>
            <a:schemeClr val="bg1"/>
          </a:solidFill>
          <a:ln w="1270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47" tIns="93247" rIns="93247" bIns="93247" numCol="1" spcCol="0" rtlCol="0" fromWordArt="0" anchor="t" anchorCtr="0" forceAA="0" compatLnSpc="1">
            <a:prstTxWarp prst="textNoShape">
              <a:avLst/>
            </a:prstTxWarp>
            <a:noAutofit/>
          </a:bodyPr>
          <a:lstStyle/>
          <a:p>
            <a:pPr marL="0" marR="0" lvl="0" indent="0" algn="l" defTabSz="950846" rtl="0" eaLnBrk="1" fontAlgn="base" latinLnBrk="0" hangingPunct="1">
              <a:lnSpc>
                <a:spcPct val="90000"/>
              </a:lnSpc>
              <a:spcBef>
                <a:spcPct val="0"/>
              </a:spcBef>
              <a:spcAft>
                <a:spcPct val="0"/>
              </a:spcAft>
              <a:buClrTx/>
              <a:buSzTx/>
              <a:buFontTx/>
              <a:buNone/>
              <a:tabLst/>
              <a:defRPr/>
            </a:pPr>
            <a:r>
              <a:rPr kumimoji="0" lang="en-US" sz="1428" b="1" i="0" u="none" strike="noStrike" kern="120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Train</a:t>
            </a: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 a model with sp_execute_external_</a:t>
            </a:r>
          </a:p>
          <a:p>
            <a:pPr marL="0" marR="0" lvl="0" indent="0" algn="l" defTabSz="950846" rtl="0" eaLnBrk="1" fontAlgn="base" latinLnBrk="0" hangingPunct="1">
              <a:lnSpc>
                <a:spcPct val="90000"/>
              </a:lnSpc>
              <a:spcBef>
                <a:spcPct val="0"/>
              </a:spcBef>
              <a:spcAft>
                <a:spcPct val="0"/>
              </a:spcAft>
              <a:buClrTx/>
              <a:buSzTx/>
              <a:buFontTx/>
              <a:buNone/>
              <a:tabLst/>
              <a:defRPr/>
            </a:pP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script and </a:t>
            </a:r>
            <a:r>
              <a:rPr kumimoji="0" lang="en-US" sz="1428" b="1" i="0" u="none" strike="noStrike" kern="120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save in DB</a:t>
            </a:r>
          </a:p>
        </p:txBody>
      </p:sp>
      <p:sp>
        <p:nvSpPr>
          <p:cNvPr id="29" name="Rectangular Callout 34"/>
          <p:cNvSpPr/>
          <p:nvPr/>
        </p:nvSpPr>
        <p:spPr bwMode="auto">
          <a:xfrm>
            <a:off x="6695618" y="1732606"/>
            <a:ext cx="2346970" cy="875667"/>
          </a:xfrm>
          <a:prstGeom prst="wedgeRectCallout">
            <a:avLst>
              <a:gd name="adj1" fmla="val -21007"/>
              <a:gd name="adj2" fmla="val 76200"/>
            </a:avLst>
          </a:prstGeom>
          <a:solidFill>
            <a:schemeClr val="bg1"/>
          </a:solidFill>
          <a:ln w="1270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47" tIns="93247" rIns="93247" bIns="93247" numCol="1" spcCol="0" rtlCol="0" fromWordArt="0" anchor="t" anchorCtr="0" forceAA="0" compatLnSpc="1">
            <a:prstTxWarp prst="textNoShape">
              <a:avLst/>
            </a:prstTxWarp>
            <a:noAutofit/>
          </a:bodyPr>
          <a:lstStyle/>
          <a:p>
            <a:pPr marL="0" marR="0" lvl="0" indent="0" algn="l" defTabSz="950846" rtl="0" eaLnBrk="1" fontAlgn="base" latinLnBrk="0" hangingPunct="1">
              <a:lnSpc>
                <a:spcPct val="90000"/>
              </a:lnSpc>
              <a:spcBef>
                <a:spcPct val="0"/>
              </a:spcBef>
              <a:spcAft>
                <a:spcPct val="0"/>
              </a:spcAft>
              <a:buClrTx/>
              <a:buSzTx/>
              <a:buFontTx/>
              <a:buNone/>
              <a:tabLst/>
              <a:defRPr/>
            </a:pPr>
            <a:r>
              <a:rPr kumimoji="0" lang="en-US" sz="1428" b="1" i="0" u="none" strike="noStrike" kern="120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Deploy</a:t>
            </a:r>
            <a:r>
              <a:rPr kumimoji="0" lang="en-US" sz="1428" b="1"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 </a:t>
            </a: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with sp_execute_external_</a:t>
            </a:r>
            <a:b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b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script and R code to </a:t>
            </a:r>
            <a:r>
              <a:rPr kumimoji="0" lang="en-US" sz="1428" b="1"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predict</a:t>
            </a: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 with the model</a:t>
            </a:r>
          </a:p>
        </p:txBody>
      </p:sp>
      <p:sp>
        <p:nvSpPr>
          <p:cNvPr id="30" name="Rectangular Callout 82"/>
          <p:cNvSpPr/>
          <p:nvPr/>
        </p:nvSpPr>
        <p:spPr bwMode="auto">
          <a:xfrm>
            <a:off x="9740000" y="1290966"/>
            <a:ext cx="2346970" cy="892158"/>
          </a:xfrm>
          <a:prstGeom prst="wedgeRectCallout">
            <a:avLst>
              <a:gd name="adj1" fmla="val -21007"/>
              <a:gd name="adj2" fmla="val 76200"/>
            </a:avLst>
          </a:prstGeom>
          <a:solidFill>
            <a:schemeClr val="bg1"/>
          </a:solidFill>
          <a:ln w="1270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47" tIns="93247" rIns="93247" bIns="93247" numCol="1" spcCol="0" rtlCol="0" fromWordArt="0" anchor="t" anchorCtr="0" forceAA="0" compatLnSpc="1">
            <a:prstTxWarp prst="textNoShape">
              <a:avLst/>
            </a:prstTxWarp>
            <a:noAutofit/>
          </a:bodyPr>
          <a:lstStyle/>
          <a:p>
            <a:pPr marL="0" marR="0" lvl="0" indent="0" algn="l" defTabSz="950846" rtl="0" eaLnBrk="1" fontAlgn="base" latinLnBrk="0" hangingPunct="1">
              <a:lnSpc>
                <a:spcPct val="90000"/>
              </a:lnSpc>
              <a:spcBef>
                <a:spcPct val="0"/>
              </a:spcBef>
              <a:spcAft>
                <a:spcPct val="0"/>
              </a:spcAft>
              <a:buClrTx/>
              <a:buSzTx/>
              <a:buFontTx/>
              <a:buNone/>
              <a:tabLst/>
              <a:defRPr/>
            </a:pP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Make your apps </a:t>
            </a:r>
            <a:r>
              <a:rPr kumimoji="0" lang="en-US" sz="1428" b="1" i="0" u="none" strike="noStrike" kern="120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intelligent</a:t>
            </a:r>
            <a:r>
              <a:rPr kumimoji="0" lang="en-US" sz="1428" b="1"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 </a:t>
            </a: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by </a:t>
            </a:r>
            <a:r>
              <a:rPr kumimoji="0" lang="en-US" sz="1428" b="1" i="0" u="none" strike="noStrike" kern="120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consuming</a:t>
            </a:r>
            <a:r>
              <a:rPr kumimoji="0" lang="en-US" sz="1428" b="0" i="0" u="none" strike="noStrike" kern="1200" cap="none" spc="0" normalizeH="0" baseline="0" noProof="0" dirty="0">
                <a:ln>
                  <a:noFill/>
                </a:ln>
                <a:solidFill>
                  <a:srgbClr val="FFFFFF"/>
                </a:solidFill>
                <a:effectLst/>
                <a:uLnTx/>
                <a:uFillTx/>
                <a:latin typeface="Segoe UI Semilight"/>
                <a:ea typeface="Segoe UI" pitchFamily="34" charset="0"/>
                <a:cs typeface="Segoe UI" pitchFamily="34" charset="0"/>
              </a:rPr>
              <a:t> predictions</a:t>
            </a:r>
          </a:p>
        </p:txBody>
      </p:sp>
      <p:grpSp>
        <p:nvGrpSpPr>
          <p:cNvPr id="11" name="Group 10">
            <a:extLst>
              <a:ext uri="{FF2B5EF4-FFF2-40B4-BE49-F238E27FC236}">
                <a16:creationId xmlns:a16="http://schemas.microsoft.com/office/drawing/2014/main" id="{B03CBEE9-7D5D-45B6-A495-54F9F2D36745}"/>
              </a:ext>
            </a:extLst>
          </p:cNvPr>
          <p:cNvGrpSpPr/>
          <p:nvPr/>
        </p:nvGrpSpPr>
        <p:grpSpPr>
          <a:xfrm>
            <a:off x="9570291" y="3034715"/>
            <a:ext cx="2409234" cy="1521933"/>
            <a:chOff x="9382625" y="2975481"/>
            <a:chExt cx="2362209" cy="1492227"/>
          </a:xfrm>
        </p:grpSpPr>
        <p:sp>
          <p:nvSpPr>
            <p:cNvPr id="43" name="Rectangle 42"/>
            <p:cNvSpPr/>
            <p:nvPr/>
          </p:nvSpPr>
          <p:spPr bwMode="auto">
            <a:xfrm>
              <a:off x="9457293" y="3085098"/>
              <a:ext cx="2212874" cy="138261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47" name="Group 46"/>
            <p:cNvGrpSpPr/>
            <p:nvPr/>
          </p:nvGrpSpPr>
          <p:grpSpPr>
            <a:xfrm>
              <a:off x="10274372" y="3338266"/>
              <a:ext cx="578715" cy="809577"/>
              <a:chOff x="-2260600" y="4106863"/>
              <a:chExt cx="298450" cy="417513"/>
            </a:xfrm>
          </p:grpSpPr>
          <p:sp>
            <p:nvSpPr>
              <p:cNvPr id="48" name="Freeform 188"/>
              <p:cNvSpPr>
                <a:spLocks/>
              </p:cNvSpPr>
              <p:nvPr/>
            </p:nvSpPr>
            <p:spPr bwMode="auto">
              <a:xfrm>
                <a:off x="-2260600" y="4106863"/>
                <a:ext cx="298450" cy="376238"/>
              </a:xfrm>
              <a:custGeom>
                <a:avLst/>
                <a:gdLst>
                  <a:gd name="T0" fmla="*/ 398 w 398"/>
                  <a:gd name="T1" fmla="*/ 199 h 504"/>
                  <a:gd name="T2" fmla="*/ 199 w 398"/>
                  <a:gd name="T3" fmla="*/ 0 h 504"/>
                  <a:gd name="T4" fmla="*/ 0 w 398"/>
                  <a:gd name="T5" fmla="*/ 199 h 504"/>
                  <a:gd name="T6" fmla="*/ 60 w 398"/>
                  <a:gd name="T7" fmla="*/ 341 h 504"/>
                  <a:gd name="T8" fmla="*/ 60 w 398"/>
                  <a:gd name="T9" fmla="*/ 341 h 504"/>
                  <a:gd name="T10" fmla="*/ 122 w 398"/>
                  <a:gd name="T11" fmla="*/ 468 h 504"/>
                  <a:gd name="T12" fmla="*/ 195 w 398"/>
                  <a:gd name="T13" fmla="*/ 501 h 504"/>
                  <a:gd name="T14" fmla="*/ 196 w 398"/>
                  <a:gd name="T15" fmla="*/ 504 h 504"/>
                  <a:gd name="T16" fmla="*/ 199 w 398"/>
                  <a:gd name="T17" fmla="*/ 502 h 504"/>
                  <a:gd name="T18" fmla="*/ 202 w 398"/>
                  <a:gd name="T19" fmla="*/ 504 h 504"/>
                  <a:gd name="T20" fmla="*/ 203 w 398"/>
                  <a:gd name="T21" fmla="*/ 501 h 504"/>
                  <a:gd name="T22" fmla="*/ 276 w 398"/>
                  <a:gd name="T23" fmla="*/ 468 h 504"/>
                  <a:gd name="T24" fmla="*/ 336 w 398"/>
                  <a:gd name="T25" fmla="*/ 344 h 504"/>
                  <a:gd name="T26" fmla="*/ 398 w 398"/>
                  <a:gd name="T27" fmla="*/ 199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8" h="504">
                    <a:moveTo>
                      <a:pt x="398" y="199"/>
                    </a:moveTo>
                    <a:cubicBezTo>
                      <a:pt x="398" y="89"/>
                      <a:pt x="309" y="0"/>
                      <a:pt x="199" y="0"/>
                    </a:cubicBezTo>
                    <a:cubicBezTo>
                      <a:pt x="89" y="0"/>
                      <a:pt x="0" y="89"/>
                      <a:pt x="0" y="199"/>
                    </a:cubicBezTo>
                    <a:cubicBezTo>
                      <a:pt x="0" y="255"/>
                      <a:pt x="23" y="305"/>
                      <a:pt x="60" y="341"/>
                    </a:cubicBezTo>
                    <a:cubicBezTo>
                      <a:pt x="60" y="341"/>
                      <a:pt x="60" y="341"/>
                      <a:pt x="60" y="341"/>
                    </a:cubicBezTo>
                    <a:cubicBezTo>
                      <a:pt x="120" y="402"/>
                      <a:pt x="122" y="468"/>
                      <a:pt x="122" y="468"/>
                    </a:cubicBezTo>
                    <a:cubicBezTo>
                      <a:pt x="195" y="501"/>
                      <a:pt x="195" y="501"/>
                      <a:pt x="195" y="501"/>
                    </a:cubicBezTo>
                    <a:cubicBezTo>
                      <a:pt x="196" y="504"/>
                      <a:pt x="196" y="504"/>
                      <a:pt x="196" y="504"/>
                    </a:cubicBezTo>
                    <a:cubicBezTo>
                      <a:pt x="199" y="502"/>
                      <a:pt x="199" y="502"/>
                      <a:pt x="199" y="502"/>
                    </a:cubicBezTo>
                    <a:cubicBezTo>
                      <a:pt x="202" y="504"/>
                      <a:pt x="202" y="504"/>
                      <a:pt x="202" y="504"/>
                    </a:cubicBezTo>
                    <a:cubicBezTo>
                      <a:pt x="203" y="501"/>
                      <a:pt x="203" y="501"/>
                      <a:pt x="203" y="501"/>
                    </a:cubicBezTo>
                    <a:cubicBezTo>
                      <a:pt x="276" y="468"/>
                      <a:pt x="276" y="468"/>
                      <a:pt x="276" y="468"/>
                    </a:cubicBezTo>
                    <a:cubicBezTo>
                      <a:pt x="276" y="468"/>
                      <a:pt x="278" y="403"/>
                      <a:pt x="336" y="344"/>
                    </a:cubicBezTo>
                    <a:cubicBezTo>
                      <a:pt x="374" y="307"/>
                      <a:pt x="398" y="256"/>
                      <a:pt x="398" y="19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50225" rtl="0" eaLnBrk="1" fontAlgn="base" latinLnBrk="0" hangingPunct="1">
                  <a:lnSpc>
                    <a:spcPct val="100000"/>
                  </a:lnSpc>
                  <a:spcBef>
                    <a:spcPct val="0"/>
                  </a:spcBef>
                  <a:spcAft>
                    <a:spcPct val="0"/>
                  </a:spcAft>
                  <a:buClrTx/>
                  <a:buSzTx/>
                  <a:buFontTx/>
                  <a:buNone/>
                  <a:tabLst/>
                  <a:defRPr/>
                </a:pPr>
                <a:endParaRPr kumimoji="0" lang="en-IN" sz="2448" b="0" i="0" u="none" strike="noStrike" kern="0" cap="none" spc="0" normalizeH="0" baseline="0" noProof="0">
                  <a:ln>
                    <a:noFill/>
                  </a:ln>
                  <a:solidFill>
                    <a:srgbClr val="000000"/>
                  </a:solidFill>
                  <a:effectLst/>
                  <a:uLnTx/>
                  <a:uFillTx/>
                  <a:latin typeface="Segoe UI Semilight"/>
                  <a:ea typeface="+mn-ea"/>
                  <a:cs typeface="+mn-cs"/>
                </a:endParaRPr>
              </a:p>
            </p:txBody>
          </p:sp>
          <p:sp>
            <p:nvSpPr>
              <p:cNvPr id="49" name="Freeform 192"/>
              <p:cNvSpPr>
                <a:spLocks noEditPoints="1"/>
              </p:cNvSpPr>
              <p:nvPr/>
            </p:nvSpPr>
            <p:spPr bwMode="auto">
              <a:xfrm>
                <a:off x="-2260600" y="4254501"/>
                <a:ext cx="230188" cy="198438"/>
              </a:xfrm>
              <a:custGeom>
                <a:avLst/>
                <a:gdLst>
                  <a:gd name="T0" fmla="*/ 276 w 308"/>
                  <a:gd name="T1" fmla="*/ 267 h 267"/>
                  <a:gd name="T2" fmla="*/ 276 w 308"/>
                  <a:gd name="T3" fmla="*/ 267 h 267"/>
                  <a:gd name="T4" fmla="*/ 276 w 308"/>
                  <a:gd name="T5" fmla="*/ 267 h 267"/>
                  <a:gd name="T6" fmla="*/ 276 w 308"/>
                  <a:gd name="T7" fmla="*/ 267 h 267"/>
                  <a:gd name="T8" fmla="*/ 308 w 308"/>
                  <a:gd name="T9" fmla="*/ 180 h 267"/>
                  <a:gd name="T10" fmla="*/ 276 w 308"/>
                  <a:gd name="T11" fmla="*/ 261 h 267"/>
                  <a:gd name="T12" fmla="*/ 308 w 308"/>
                  <a:gd name="T13" fmla="*/ 180 h 267"/>
                  <a:gd name="T14" fmla="*/ 308 w 308"/>
                  <a:gd name="T15" fmla="*/ 180 h 267"/>
                  <a:gd name="T16" fmla="*/ 308 w 308"/>
                  <a:gd name="T17" fmla="*/ 180 h 267"/>
                  <a:gd name="T18" fmla="*/ 0 w 308"/>
                  <a:gd name="T19" fmla="*/ 1 h 267"/>
                  <a:gd name="T20" fmla="*/ 0 w 308"/>
                  <a:gd name="T21" fmla="*/ 1 h 267"/>
                  <a:gd name="T22" fmla="*/ 0 w 308"/>
                  <a:gd name="T23" fmla="*/ 1 h 267"/>
                  <a:gd name="T24" fmla="*/ 0 w 308"/>
                  <a:gd name="T25" fmla="*/ 1 h 267"/>
                  <a:gd name="T26" fmla="*/ 0 w 308"/>
                  <a:gd name="T27" fmla="*/ 0 h 267"/>
                  <a:gd name="T28" fmla="*/ 0 w 308"/>
                  <a:gd name="T29" fmla="*/ 0 h 267"/>
                  <a:gd name="T30" fmla="*/ 0 w 308"/>
                  <a:gd name="T31" fmla="*/ 0 h 267"/>
                  <a:gd name="T32" fmla="*/ 0 w 308"/>
                  <a:gd name="T33" fmla="*/ 0 h 267"/>
                  <a:gd name="T34" fmla="*/ 0 w 308"/>
                  <a:gd name="T35" fmla="*/ 0 h 267"/>
                  <a:gd name="T36" fmla="*/ 0 w 308"/>
                  <a:gd name="T37" fmla="*/ 0 h 267"/>
                  <a:gd name="T38" fmla="*/ 0 w 308"/>
                  <a:gd name="T39" fmla="*/ 0 h 267"/>
                  <a:gd name="T40" fmla="*/ 0 w 308"/>
                  <a:gd name="T41" fmla="*/ 0 h 267"/>
                  <a:gd name="T42" fmla="*/ 0 w 308"/>
                  <a:gd name="T43" fmla="*/ 0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8" h="267">
                    <a:moveTo>
                      <a:pt x="276" y="267"/>
                    </a:moveTo>
                    <a:cubicBezTo>
                      <a:pt x="276" y="267"/>
                      <a:pt x="276" y="267"/>
                      <a:pt x="276" y="267"/>
                    </a:cubicBezTo>
                    <a:cubicBezTo>
                      <a:pt x="276" y="267"/>
                      <a:pt x="276" y="267"/>
                      <a:pt x="276" y="267"/>
                    </a:cubicBezTo>
                    <a:cubicBezTo>
                      <a:pt x="276" y="267"/>
                      <a:pt x="276" y="267"/>
                      <a:pt x="276" y="267"/>
                    </a:cubicBezTo>
                    <a:moveTo>
                      <a:pt x="308" y="180"/>
                    </a:moveTo>
                    <a:cubicBezTo>
                      <a:pt x="286" y="214"/>
                      <a:pt x="279" y="246"/>
                      <a:pt x="276" y="261"/>
                    </a:cubicBezTo>
                    <a:cubicBezTo>
                      <a:pt x="279" y="246"/>
                      <a:pt x="286" y="214"/>
                      <a:pt x="308" y="180"/>
                    </a:cubicBezTo>
                    <a:cubicBezTo>
                      <a:pt x="308" y="180"/>
                      <a:pt x="308" y="180"/>
                      <a:pt x="308" y="180"/>
                    </a:cubicBezTo>
                    <a:cubicBezTo>
                      <a:pt x="308" y="180"/>
                      <a:pt x="308" y="180"/>
                      <a:pt x="308" y="180"/>
                    </a:cubicBezTo>
                    <a:moveTo>
                      <a:pt x="0" y="1"/>
                    </a:moveTo>
                    <a:cubicBezTo>
                      <a:pt x="0" y="1"/>
                      <a:pt x="0" y="1"/>
                      <a:pt x="0" y="1"/>
                    </a:cubicBezTo>
                    <a:cubicBezTo>
                      <a:pt x="0" y="1"/>
                      <a:pt x="0" y="1"/>
                      <a:pt x="0" y="1"/>
                    </a:cubicBezTo>
                    <a:cubicBezTo>
                      <a:pt x="0" y="1"/>
                      <a:pt x="0" y="1"/>
                      <a:pt x="0" y="1"/>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EA8C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50225" rtl="0" eaLnBrk="1" fontAlgn="base" latinLnBrk="0" hangingPunct="1">
                  <a:lnSpc>
                    <a:spcPct val="100000"/>
                  </a:lnSpc>
                  <a:spcBef>
                    <a:spcPct val="0"/>
                  </a:spcBef>
                  <a:spcAft>
                    <a:spcPct val="0"/>
                  </a:spcAft>
                  <a:buClrTx/>
                  <a:buSzTx/>
                  <a:buFontTx/>
                  <a:buNone/>
                  <a:tabLst/>
                  <a:defRPr/>
                </a:pPr>
                <a:endParaRPr kumimoji="0" lang="en-IN" sz="2448" b="0" i="0" u="none" strike="noStrike" kern="0" cap="none" spc="0" normalizeH="0" baseline="0" noProof="0">
                  <a:ln>
                    <a:noFill/>
                  </a:ln>
                  <a:solidFill>
                    <a:srgbClr val="000000"/>
                  </a:solidFill>
                  <a:effectLst/>
                  <a:uLnTx/>
                  <a:uFillTx/>
                  <a:latin typeface="Segoe UI Semilight"/>
                  <a:ea typeface="+mn-ea"/>
                  <a:cs typeface="+mn-cs"/>
                </a:endParaRPr>
              </a:p>
            </p:txBody>
          </p:sp>
          <p:sp>
            <p:nvSpPr>
              <p:cNvPr id="50" name="Rectangle 194"/>
              <p:cNvSpPr>
                <a:spLocks noChangeArrowheads="1"/>
              </p:cNvSpPr>
              <p:nvPr/>
            </p:nvSpPr>
            <p:spPr bwMode="auto">
              <a:xfrm>
                <a:off x="-2168525" y="4452938"/>
                <a:ext cx="114300" cy="71438"/>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50225" rtl="0" eaLnBrk="1" fontAlgn="base" latinLnBrk="0" hangingPunct="1">
                  <a:lnSpc>
                    <a:spcPct val="100000"/>
                  </a:lnSpc>
                  <a:spcBef>
                    <a:spcPct val="0"/>
                  </a:spcBef>
                  <a:spcAft>
                    <a:spcPct val="0"/>
                  </a:spcAft>
                  <a:buClrTx/>
                  <a:buSzTx/>
                  <a:buFontTx/>
                  <a:buNone/>
                  <a:tabLst/>
                  <a:defRPr/>
                </a:pPr>
                <a:endParaRPr kumimoji="0" lang="en-IN" sz="2448" b="0" i="0" u="none" strike="noStrike" kern="0" cap="none" spc="0" normalizeH="0" baseline="0" noProof="0">
                  <a:ln>
                    <a:noFill/>
                  </a:ln>
                  <a:solidFill>
                    <a:srgbClr val="000000"/>
                  </a:solidFill>
                  <a:effectLst/>
                  <a:uLnTx/>
                  <a:uFillTx/>
                  <a:latin typeface="Segoe UI Semilight"/>
                  <a:ea typeface="+mn-ea"/>
                  <a:cs typeface="+mn-cs"/>
                </a:endParaRPr>
              </a:p>
            </p:txBody>
          </p:sp>
        </p:grpSp>
        <p:sp>
          <p:nvSpPr>
            <p:cNvPr id="52" name="Freeform 29"/>
            <p:cNvSpPr>
              <a:spLocks noChangeAspect="1" noEditPoints="1"/>
            </p:cNvSpPr>
            <p:nvPr/>
          </p:nvSpPr>
          <p:spPr bwMode="black">
            <a:xfrm>
              <a:off x="9382625" y="2975481"/>
              <a:ext cx="2362209" cy="1492227"/>
            </a:xfrm>
            <a:custGeom>
              <a:avLst/>
              <a:gdLst>
                <a:gd name="T0" fmla="*/ 2248 w 2312"/>
                <a:gd name="T1" fmla="*/ 0 h 1460"/>
                <a:gd name="T2" fmla="*/ 64 w 2312"/>
                <a:gd name="T3" fmla="*/ 0 h 1460"/>
                <a:gd name="T4" fmla="*/ 0 w 2312"/>
                <a:gd name="T5" fmla="*/ 64 h 1460"/>
                <a:gd name="T6" fmla="*/ 0 w 2312"/>
                <a:gd name="T7" fmla="*/ 1396 h 1460"/>
                <a:gd name="T8" fmla="*/ 64 w 2312"/>
                <a:gd name="T9" fmla="*/ 1460 h 1460"/>
                <a:gd name="T10" fmla="*/ 2248 w 2312"/>
                <a:gd name="T11" fmla="*/ 1460 h 1460"/>
                <a:gd name="T12" fmla="*/ 2312 w 2312"/>
                <a:gd name="T13" fmla="*/ 1396 h 1460"/>
                <a:gd name="T14" fmla="*/ 2312 w 2312"/>
                <a:gd name="T15" fmla="*/ 64 h 1460"/>
                <a:gd name="T16" fmla="*/ 2248 w 2312"/>
                <a:gd name="T17" fmla="*/ 0 h 1460"/>
                <a:gd name="T18" fmla="*/ 1152 w 2312"/>
                <a:gd name="T19" fmla="*/ 1409 h 1460"/>
                <a:gd name="T20" fmla="*/ 1120 w 2312"/>
                <a:gd name="T21" fmla="*/ 1404 h 1460"/>
                <a:gd name="T22" fmla="*/ 1120 w 2312"/>
                <a:gd name="T23" fmla="*/ 1377 h 1460"/>
                <a:gd name="T24" fmla="*/ 1152 w 2312"/>
                <a:gd name="T25" fmla="*/ 1377 h 1460"/>
                <a:gd name="T26" fmla="*/ 1152 w 2312"/>
                <a:gd name="T27" fmla="*/ 1409 h 1460"/>
                <a:gd name="T28" fmla="*/ 1152 w 2312"/>
                <a:gd name="T29" fmla="*/ 1374 h 1460"/>
                <a:gd name="T30" fmla="*/ 1120 w 2312"/>
                <a:gd name="T31" fmla="*/ 1374 h 1460"/>
                <a:gd name="T32" fmla="*/ 1120 w 2312"/>
                <a:gd name="T33" fmla="*/ 1347 h 1460"/>
                <a:gd name="T34" fmla="*/ 1152 w 2312"/>
                <a:gd name="T35" fmla="*/ 1342 h 1460"/>
                <a:gd name="T36" fmla="*/ 1152 w 2312"/>
                <a:gd name="T37" fmla="*/ 1374 h 1460"/>
                <a:gd name="T38" fmla="*/ 1199 w 2312"/>
                <a:gd name="T39" fmla="*/ 1415 h 1460"/>
                <a:gd name="T40" fmla="*/ 1156 w 2312"/>
                <a:gd name="T41" fmla="*/ 1409 h 1460"/>
                <a:gd name="T42" fmla="*/ 1156 w 2312"/>
                <a:gd name="T43" fmla="*/ 1377 h 1460"/>
                <a:gd name="T44" fmla="*/ 1199 w 2312"/>
                <a:gd name="T45" fmla="*/ 1377 h 1460"/>
                <a:gd name="T46" fmla="*/ 1199 w 2312"/>
                <a:gd name="T47" fmla="*/ 1415 h 1460"/>
                <a:gd name="T48" fmla="*/ 1199 w 2312"/>
                <a:gd name="T49" fmla="*/ 1374 h 1460"/>
                <a:gd name="T50" fmla="*/ 1156 w 2312"/>
                <a:gd name="T51" fmla="*/ 1374 h 1460"/>
                <a:gd name="T52" fmla="*/ 1156 w 2312"/>
                <a:gd name="T53" fmla="*/ 1342 h 1460"/>
                <a:gd name="T54" fmla="*/ 1199 w 2312"/>
                <a:gd name="T55" fmla="*/ 1336 h 1460"/>
                <a:gd name="T56" fmla="*/ 1199 w 2312"/>
                <a:gd name="T57" fmla="*/ 1374 h 1460"/>
                <a:gd name="T58" fmla="*/ 2176 w 2312"/>
                <a:gd name="T59" fmla="*/ 1301 h 1460"/>
                <a:gd name="T60" fmla="*/ 136 w 2312"/>
                <a:gd name="T61" fmla="*/ 1301 h 1460"/>
                <a:gd name="T62" fmla="*/ 136 w 2312"/>
                <a:gd name="T63" fmla="*/ 158 h 1460"/>
                <a:gd name="T64" fmla="*/ 2176 w 2312"/>
                <a:gd name="T65" fmla="*/ 158 h 1460"/>
                <a:gd name="T66" fmla="*/ 2176 w 2312"/>
                <a:gd name="T67" fmla="*/ 13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12" h="1460">
                  <a:moveTo>
                    <a:pt x="2248" y="0"/>
                  </a:moveTo>
                  <a:cubicBezTo>
                    <a:pt x="64" y="0"/>
                    <a:pt x="64" y="0"/>
                    <a:pt x="64" y="0"/>
                  </a:cubicBezTo>
                  <a:cubicBezTo>
                    <a:pt x="29" y="0"/>
                    <a:pt x="0" y="28"/>
                    <a:pt x="0" y="64"/>
                  </a:cubicBezTo>
                  <a:cubicBezTo>
                    <a:pt x="0" y="1396"/>
                    <a:pt x="0" y="1396"/>
                    <a:pt x="0" y="1396"/>
                  </a:cubicBezTo>
                  <a:cubicBezTo>
                    <a:pt x="0" y="1431"/>
                    <a:pt x="29" y="1460"/>
                    <a:pt x="64" y="1460"/>
                  </a:cubicBezTo>
                  <a:cubicBezTo>
                    <a:pt x="2248" y="1460"/>
                    <a:pt x="2248" y="1460"/>
                    <a:pt x="2248" y="1460"/>
                  </a:cubicBezTo>
                  <a:cubicBezTo>
                    <a:pt x="2283" y="1460"/>
                    <a:pt x="2312" y="1431"/>
                    <a:pt x="2312" y="1396"/>
                  </a:cubicBezTo>
                  <a:cubicBezTo>
                    <a:pt x="2312" y="64"/>
                    <a:pt x="2312" y="64"/>
                    <a:pt x="2312" y="64"/>
                  </a:cubicBezTo>
                  <a:cubicBezTo>
                    <a:pt x="2312" y="28"/>
                    <a:pt x="2283" y="0"/>
                    <a:pt x="2248" y="0"/>
                  </a:cubicBezTo>
                  <a:close/>
                  <a:moveTo>
                    <a:pt x="1152" y="1409"/>
                  </a:moveTo>
                  <a:cubicBezTo>
                    <a:pt x="1120" y="1404"/>
                    <a:pt x="1120" y="1404"/>
                    <a:pt x="1120" y="1404"/>
                  </a:cubicBezTo>
                  <a:cubicBezTo>
                    <a:pt x="1120" y="1377"/>
                    <a:pt x="1120" y="1377"/>
                    <a:pt x="1120" y="1377"/>
                  </a:cubicBezTo>
                  <a:cubicBezTo>
                    <a:pt x="1152" y="1377"/>
                    <a:pt x="1152" y="1377"/>
                    <a:pt x="1152" y="1377"/>
                  </a:cubicBezTo>
                  <a:lnTo>
                    <a:pt x="1152" y="1409"/>
                  </a:lnTo>
                  <a:close/>
                  <a:moveTo>
                    <a:pt x="1152" y="1374"/>
                  </a:moveTo>
                  <a:cubicBezTo>
                    <a:pt x="1120" y="1374"/>
                    <a:pt x="1120" y="1374"/>
                    <a:pt x="1120" y="1374"/>
                  </a:cubicBezTo>
                  <a:cubicBezTo>
                    <a:pt x="1120" y="1347"/>
                    <a:pt x="1120" y="1347"/>
                    <a:pt x="1120" y="1347"/>
                  </a:cubicBezTo>
                  <a:cubicBezTo>
                    <a:pt x="1152" y="1342"/>
                    <a:pt x="1152" y="1342"/>
                    <a:pt x="1152" y="1342"/>
                  </a:cubicBezTo>
                  <a:lnTo>
                    <a:pt x="1152" y="1374"/>
                  </a:lnTo>
                  <a:close/>
                  <a:moveTo>
                    <a:pt x="1199" y="1415"/>
                  </a:moveTo>
                  <a:cubicBezTo>
                    <a:pt x="1156" y="1409"/>
                    <a:pt x="1156" y="1409"/>
                    <a:pt x="1156" y="1409"/>
                  </a:cubicBezTo>
                  <a:cubicBezTo>
                    <a:pt x="1156" y="1377"/>
                    <a:pt x="1156" y="1377"/>
                    <a:pt x="1156" y="1377"/>
                  </a:cubicBezTo>
                  <a:cubicBezTo>
                    <a:pt x="1199" y="1377"/>
                    <a:pt x="1199" y="1377"/>
                    <a:pt x="1199" y="1377"/>
                  </a:cubicBezTo>
                  <a:lnTo>
                    <a:pt x="1199" y="1415"/>
                  </a:lnTo>
                  <a:close/>
                  <a:moveTo>
                    <a:pt x="1199" y="1374"/>
                  </a:moveTo>
                  <a:cubicBezTo>
                    <a:pt x="1156" y="1374"/>
                    <a:pt x="1156" y="1374"/>
                    <a:pt x="1156" y="1374"/>
                  </a:cubicBezTo>
                  <a:cubicBezTo>
                    <a:pt x="1156" y="1342"/>
                    <a:pt x="1156" y="1342"/>
                    <a:pt x="1156" y="1342"/>
                  </a:cubicBezTo>
                  <a:cubicBezTo>
                    <a:pt x="1199" y="1336"/>
                    <a:pt x="1199" y="1336"/>
                    <a:pt x="1199" y="1336"/>
                  </a:cubicBezTo>
                  <a:lnTo>
                    <a:pt x="1199" y="1374"/>
                  </a:lnTo>
                  <a:close/>
                  <a:moveTo>
                    <a:pt x="2176" y="1301"/>
                  </a:moveTo>
                  <a:cubicBezTo>
                    <a:pt x="136" y="1301"/>
                    <a:pt x="136" y="1301"/>
                    <a:pt x="136" y="1301"/>
                  </a:cubicBezTo>
                  <a:cubicBezTo>
                    <a:pt x="136" y="158"/>
                    <a:pt x="136" y="158"/>
                    <a:pt x="136" y="158"/>
                  </a:cubicBezTo>
                  <a:cubicBezTo>
                    <a:pt x="2176" y="158"/>
                    <a:pt x="2176" y="158"/>
                    <a:pt x="2176" y="158"/>
                  </a:cubicBezTo>
                  <a:lnTo>
                    <a:pt x="2176" y="1301"/>
                  </a:lnTo>
                  <a:close/>
                </a:path>
              </a:pathLst>
            </a:custGeom>
            <a:solidFill>
              <a:schemeClr val="accent1">
                <a:lumMod val="40000"/>
                <a:lumOff val="60000"/>
              </a:schemeClr>
            </a:solidFill>
            <a:ln>
              <a:noFill/>
            </a:ln>
          </p:spPr>
          <p:txBody>
            <a:bodyPr vert="horz" wrap="square" lIns="91414" tIns="45706" rIns="91414" bIns="45706" numCol="1" anchor="t" anchorCtr="0" compatLnSpc="1">
              <a:prstTxWarp prst="textNoShape">
                <a:avLst/>
              </a:prstTxWarp>
            </a:bodyPr>
            <a:lstStyle/>
            <a:p>
              <a:pPr marL="0" marR="0" lvl="0" indent="0" algn="l" defTabSz="932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grpSp>
      <p:grpSp>
        <p:nvGrpSpPr>
          <p:cNvPr id="7" name="Group 6">
            <a:extLst>
              <a:ext uri="{FF2B5EF4-FFF2-40B4-BE49-F238E27FC236}">
                <a16:creationId xmlns:a16="http://schemas.microsoft.com/office/drawing/2014/main" id="{B44B29FC-B51D-4549-AEE7-5C3B6812AEBB}"/>
              </a:ext>
            </a:extLst>
          </p:cNvPr>
          <p:cNvGrpSpPr/>
          <p:nvPr/>
        </p:nvGrpSpPr>
        <p:grpSpPr>
          <a:xfrm>
            <a:off x="4465014" y="3490147"/>
            <a:ext cx="1644037" cy="1287701"/>
            <a:chOff x="3784608" y="3631350"/>
            <a:chExt cx="1611947" cy="1262567"/>
          </a:xfrm>
        </p:grpSpPr>
        <p:sp>
          <p:nvSpPr>
            <p:cNvPr id="105" name="Rectangle 104"/>
            <p:cNvSpPr/>
            <p:nvPr/>
          </p:nvSpPr>
          <p:spPr bwMode="auto">
            <a:xfrm>
              <a:off x="3792106" y="3631350"/>
              <a:ext cx="1604448" cy="1253569"/>
            </a:xfrm>
            <a:prstGeom prst="rect">
              <a:avLst/>
            </a:prstGeom>
            <a:solidFill>
              <a:schemeClr val="bg1">
                <a:alpha val="3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62" name="Group 61"/>
            <p:cNvGrpSpPr/>
            <p:nvPr/>
          </p:nvGrpSpPr>
          <p:grpSpPr>
            <a:xfrm>
              <a:off x="3784608" y="3631350"/>
              <a:ext cx="1611947" cy="1262567"/>
              <a:chOff x="3858984" y="3868512"/>
              <a:chExt cx="1462768" cy="1145722"/>
            </a:xfrm>
          </p:grpSpPr>
          <p:cxnSp>
            <p:nvCxnSpPr>
              <p:cNvPr id="57" name="Straight Connector 56"/>
              <p:cNvCxnSpPr/>
              <p:nvPr/>
            </p:nvCxnSpPr>
            <p:spPr>
              <a:xfrm>
                <a:off x="3865789" y="3868512"/>
                <a:ext cx="0" cy="1145722"/>
              </a:xfrm>
              <a:prstGeom prst="line">
                <a:avLst/>
              </a:prstGeom>
              <a:ln w="38100">
                <a:solidFill>
                  <a:schemeClr val="bg2">
                    <a:lumMod val="40000"/>
                    <a:lumOff val="6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858984" y="5006068"/>
                <a:ext cx="1462768" cy="0"/>
              </a:xfrm>
              <a:prstGeom prst="line">
                <a:avLst/>
              </a:prstGeom>
              <a:ln w="38100">
                <a:solidFill>
                  <a:schemeClr val="bg2">
                    <a:lumMod val="40000"/>
                    <a:lumOff val="6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65" name="Oval 64"/>
            <p:cNvSpPr/>
            <p:nvPr/>
          </p:nvSpPr>
          <p:spPr bwMode="auto">
            <a:xfrm>
              <a:off x="4978260" y="3984683"/>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 name="Oval 65"/>
            <p:cNvSpPr/>
            <p:nvPr/>
          </p:nvSpPr>
          <p:spPr bwMode="auto">
            <a:xfrm>
              <a:off x="5242477" y="3805477"/>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 name="Oval 67"/>
            <p:cNvSpPr/>
            <p:nvPr/>
          </p:nvSpPr>
          <p:spPr bwMode="auto">
            <a:xfrm>
              <a:off x="5154406" y="4231560"/>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 name="Oval 76"/>
            <p:cNvSpPr/>
            <p:nvPr/>
          </p:nvSpPr>
          <p:spPr bwMode="auto">
            <a:xfrm>
              <a:off x="5267667" y="4388298"/>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 name="Oval 77"/>
            <p:cNvSpPr/>
            <p:nvPr/>
          </p:nvSpPr>
          <p:spPr bwMode="auto">
            <a:xfrm>
              <a:off x="5179598" y="4742194"/>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 name="Oval 79"/>
            <p:cNvSpPr/>
            <p:nvPr/>
          </p:nvSpPr>
          <p:spPr bwMode="auto">
            <a:xfrm>
              <a:off x="4786373" y="4613970"/>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 name="Oval 80"/>
            <p:cNvSpPr/>
            <p:nvPr/>
          </p:nvSpPr>
          <p:spPr bwMode="auto">
            <a:xfrm>
              <a:off x="4727673" y="4256751"/>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 name="Oval 81"/>
            <p:cNvSpPr/>
            <p:nvPr/>
          </p:nvSpPr>
          <p:spPr bwMode="auto">
            <a:xfrm>
              <a:off x="4491120" y="4483939"/>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 name="Oval 82"/>
            <p:cNvSpPr/>
            <p:nvPr/>
          </p:nvSpPr>
          <p:spPr bwMode="auto">
            <a:xfrm>
              <a:off x="4407240" y="4712513"/>
              <a:ext cx="60962" cy="6096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 name="Oval 84"/>
            <p:cNvSpPr/>
            <p:nvPr/>
          </p:nvSpPr>
          <p:spPr bwMode="auto">
            <a:xfrm>
              <a:off x="4407241" y="4196170"/>
              <a:ext cx="60962" cy="6096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 name="Oval 90"/>
            <p:cNvSpPr/>
            <p:nvPr/>
          </p:nvSpPr>
          <p:spPr bwMode="auto">
            <a:xfrm>
              <a:off x="4044897" y="4756366"/>
              <a:ext cx="60962" cy="6096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2" name="Oval 91"/>
            <p:cNvSpPr/>
            <p:nvPr/>
          </p:nvSpPr>
          <p:spPr bwMode="auto">
            <a:xfrm>
              <a:off x="4048000" y="4441743"/>
              <a:ext cx="60962" cy="6096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3" name="Oval 92"/>
            <p:cNvSpPr/>
            <p:nvPr/>
          </p:nvSpPr>
          <p:spPr bwMode="auto">
            <a:xfrm>
              <a:off x="3858572" y="4224526"/>
              <a:ext cx="60962" cy="6096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 name="Oval 93"/>
            <p:cNvSpPr/>
            <p:nvPr/>
          </p:nvSpPr>
          <p:spPr bwMode="auto">
            <a:xfrm>
              <a:off x="3937810" y="3684974"/>
              <a:ext cx="60962" cy="6096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 name="Oval 96"/>
            <p:cNvSpPr/>
            <p:nvPr/>
          </p:nvSpPr>
          <p:spPr bwMode="auto">
            <a:xfrm>
              <a:off x="4746120" y="3667772"/>
              <a:ext cx="60962" cy="6096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9" name="Oval 98"/>
            <p:cNvSpPr/>
            <p:nvPr/>
          </p:nvSpPr>
          <p:spPr bwMode="auto">
            <a:xfrm>
              <a:off x="4113483" y="3946051"/>
              <a:ext cx="60962" cy="6096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2" name="Oval 101"/>
            <p:cNvSpPr/>
            <p:nvPr/>
          </p:nvSpPr>
          <p:spPr bwMode="auto">
            <a:xfrm>
              <a:off x="4438921" y="3805475"/>
              <a:ext cx="60962" cy="6096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7" name="Freeform: Shape 106"/>
            <p:cNvSpPr/>
            <p:nvPr/>
          </p:nvSpPr>
          <p:spPr>
            <a:xfrm>
              <a:off x="4143351" y="3631350"/>
              <a:ext cx="1205268" cy="1227519"/>
            </a:xfrm>
            <a:custGeom>
              <a:avLst/>
              <a:gdLst>
                <a:gd name="connsiteX0" fmla="*/ 0 w 1039586"/>
                <a:gd name="connsiteY0" fmla="*/ 1144360 h 1144360"/>
                <a:gd name="connsiteX1" fmla="*/ 100693 w 1039586"/>
                <a:gd name="connsiteY1" fmla="*/ 791935 h 1144360"/>
                <a:gd name="connsiteX2" fmla="*/ 405493 w 1039586"/>
                <a:gd name="connsiteY2" fmla="*/ 567417 h 1144360"/>
                <a:gd name="connsiteX3" fmla="*/ 591911 w 1039586"/>
                <a:gd name="connsiteY3" fmla="*/ 228600 h 1144360"/>
                <a:gd name="connsiteX4" fmla="*/ 1039586 w 1039586"/>
                <a:gd name="connsiteY4" fmla="*/ 0 h 1144360"/>
                <a:gd name="connsiteX0" fmla="*/ 0 w 1039586"/>
                <a:gd name="connsiteY0" fmla="*/ 1144360 h 1144360"/>
                <a:gd name="connsiteX1" fmla="*/ 100693 w 1039586"/>
                <a:gd name="connsiteY1" fmla="*/ 791935 h 1144360"/>
                <a:gd name="connsiteX2" fmla="*/ 405493 w 1039586"/>
                <a:gd name="connsiteY2" fmla="*/ 567417 h 1144360"/>
                <a:gd name="connsiteX3" fmla="*/ 591911 w 1039586"/>
                <a:gd name="connsiteY3" fmla="*/ 228600 h 1144360"/>
                <a:gd name="connsiteX4" fmla="*/ 1039586 w 1039586"/>
                <a:gd name="connsiteY4" fmla="*/ 0 h 1144360"/>
                <a:gd name="connsiteX0" fmla="*/ 0 w 1039586"/>
                <a:gd name="connsiteY0" fmla="*/ 1144360 h 1144360"/>
                <a:gd name="connsiteX1" fmla="*/ 100693 w 1039586"/>
                <a:gd name="connsiteY1" fmla="*/ 791935 h 1144360"/>
                <a:gd name="connsiteX2" fmla="*/ 444609 w 1039586"/>
                <a:gd name="connsiteY2" fmla="*/ 575873 h 1144360"/>
                <a:gd name="connsiteX3" fmla="*/ 591911 w 1039586"/>
                <a:gd name="connsiteY3" fmla="*/ 228600 h 1144360"/>
                <a:gd name="connsiteX4" fmla="*/ 1039586 w 1039586"/>
                <a:gd name="connsiteY4" fmla="*/ 0 h 1144360"/>
                <a:gd name="connsiteX0" fmla="*/ 0 w 1039586"/>
                <a:gd name="connsiteY0" fmla="*/ 1144360 h 1144360"/>
                <a:gd name="connsiteX1" fmla="*/ 100693 w 1039586"/>
                <a:gd name="connsiteY1" fmla="*/ 791935 h 1144360"/>
                <a:gd name="connsiteX2" fmla="*/ 444609 w 1039586"/>
                <a:gd name="connsiteY2" fmla="*/ 575873 h 1144360"/>
                <a:gd name="connsiteX3" fmla="*/ 634156 w 1039586"/>
                <a:gd name="connsiteY3" fmla="*/ 220144 h 1144360"/>
                <a:gd name="connsiteX4" fmla="*/ 1039586 w 1039586"/>
                <a:gd name="connsiteY4" fmla="*/ 0 h 1144360"/>
                <a:gd name="connsiteX0" fmla="*/ 0 w 1039586"/>
                <a:gd name="connsiteY0" fmla="*/ 1144360 h 1144360"/>
                <a:gd name="connsiteX1" fmla="*/ 122598 w 1039586"/>
                <a:gd name="connsiteY1" fmla="*/ 803773 h 1144360"/>
                <a:gd name="connsiteX2" fmla="*/ 444609 w 1039586"/>
                <a:gd name="connsiteY2" fmla="*/ 575873 h 1144360"/>
                <a:gd name="connsiteX3" fmla="*/ 634156 w 1039586"/>
                <a:gd name="connsiteY3" fmla="*/ 220144 h 1144360"/>
                <a:gd name="connsiteX4" fmla="*/ 1039586 w 1039586"/>
                <a:gd name="connsiteY4" fmla="*/ 0 h 1144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9586" h="1144360">
                  <a:moveTo>
                    <a:pt x="0" y="1144360"/>
                  </a:moveTo>
                  <a:cubicBezTo>
                    <a:pt x="16555" y="1016226"/>
                    <a:pt x="48497" y="898521"/>
                    <a:pt x="122598" y="803773"/>
                  </a:cubicBezTo>
                  <a:cubicBezTo>
                    <a:pt x="196699" y="709025"/>
                    <a:pt x="359349" y="673144"/>
                    <a:pt x="444609" y="575873"/>
                  </a:cubicBezTo>
                  <a:cubicBezTo>
                    <a:pt x="529869" y="478602"/>
                    <a:pt x="534993" y="316123"/>
                    <a:pt x="634156" y="220144"/>
                  </a:cubicBezTo>
                  <a:cubicBezTo>
                    <a:pt x="733319" y="124165"/>
                    <a:pt x="853621" y="41162"/>
                    <a:pt x="1039586" y="0"/>
                  </a:cubicBezTo>
                </a:path>
              </a:pathLst>
            </a:cu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Semilight"/>
                <a:ea typeface="+mn-ea"/>
                <a:cs typeface="+mn-cs"/>
              </a:endParaRPr>
            </a:p>
          </p:txBody>
        </p:sp>
      </p:grpSp>
      <p:sp>
        <p:nvSpPr>
          <p:cNvPr id="3" name="Arrow: Chevron 2"/>
          <p:cNvSpPr/>
          <p:nvPr/>
        </p:nvSpPr>
        <p:spPr bwMode="auto">
          <a:xfrm>
            <a:off x="3077253" y="5486271"/>
            <a:ext cx="219277" cy="1507757"/>
          </a:xfrm>
          <a:custGeom>
            <a:avLst/>
            <a:gdLst>
              <a:gd name="connsiteX0" fmla="*/ 0 w 520366"/>
              <a:gd name="connsiteY0" fmla="*/ 0 h 1492056"/>
              <a:gd name="connsiteX1" fmla="*/ 260183 w 520366"/>
              <a:gd name="connsiteY1" fmla="*/ 0 h 1492056"/>
              <a:gd name="connsiteX2" fmla="*/ 520366 w 520366"/>
              <a:gd name="connsiteY2" fmla="*/ 746028 h 1492056"/>
              <a:gd name="connsiteX3" fmla="*/ 260183 w 520366"/>
              <a:gd name="connsiteY3" fmla="*/ 1492056 h 1492056"/>
              <a:gd name="connsiteX4" fmla="*/ 0 w 520366"/>
              <a:gd name="connsiteY4" fmla="*/ 1492056 h 1492056"/>
              <a:gd name="connsiteX5" fmla="*/ 260183 w 520366"/>
              <a:gd name="connsiteY5" fmla="*/ 746028 h 1492056"/>
              <a:gd name="connsiteX6" fmla="*/ 0 w 520366"/>
              <a:gd name="connsiteY6" fmla="*/ 0 h 1492056"/>
              <a:gd name="connsiteX0" fmla="*/ 260183 w 520366"/>
              <a:gd name="connsiteY0" fmla="*/ 746028 h 1492056"/>
              <a:gd name="connsiteX1" fmla="*/ 260183 w 520366"/>
              <a:gd name="connsiteY1" fmla="*/ 0 h 1492056"/>
              <a:gd name="connsiteX2" fmla="*/ 520366 w 520366"/>
              <a:gd name="connsiteY2" fmla="*/ 746028 h 1492056"/>
              <a:gd name="connsiteX3" fmla="*/ 260183 w 520366"/>
              <a:gd name="connsiteY3" fmla="*/ 1492056 h 1492056"/>
              <a:gd name="connsiteX4" fmla="*/ 0 w 520366"/>
              <a:gd name="connsiteY4" fmla="*/ 1492056 h 1492056"/>
              <a:gd name="connsiteX5" fmla="*/ 260183 w 520366"/>
              <a:gd name="connsiteY5" fmla="*/ 746028 h 1492056"/>
              <a:gd name="connsiteX0" fmla="*/ 0 w 520366"/>
              <a:gd name="connsiteY0" fmla="*/ 1492056 h 1583496"/>
              <a:gd name="connsiteX1" fmla="*/ 260183 w 520366"/>
              <a:gd name="connsiteY1" fmla="*/ 746028 h 1583496"/>
              <a:gd name="connsiteX2" fmla="*/ 260183 w 520366"/>
              <a:gd name="connsiteY2" fmla="*/ 0 h 1583496"/>
              <a:gd name="connsiteX3" fmla="*/ 520366 w 520366"/>
              <a:gd name="connsiteY3" fmla="*/ 746028 h 1583496"/>
              <a:gd name="connsiteX4" fmla="*/ 260183 w 520366"/>
              <a:gd name="connsiteY4" fmla="*/ 1492056 h 1583496"/>
              <a:gd name="connsiteX5" fmla="*/ 91440 w 520366"/>
              <a:gd name="connsiteY5" fmla="*/ 1583496 h 1583496"/>
              <a:gd name="connsiteX0" fmla="*/ 0 w 520366"/>
              <a:gd name="connsiteY0" fmla="*/ 1492056 h 1492056"/>
              <a:gd name="connsiteX1" fmla="*/ 260183 w 520366"/>
              <a:gd name="connsiteY1" fmla="*/ 746028 h 1492056"/>
              <a:gd name="connsiteX2" fmla="*/ 260183 w 520366"/>
              <a:gd name="connsiteY2" fmla="*/ 0 h 1492056"/>
              <a:gd name="connsiteX3" fmla="*/ 520366 w 520366"/>
              <a:gd name="connsiteY3" fmla="*/ 746028 h 1492056"/>
              <a:gd name="connsiteX4" fmla="*/ 260183 w 520366"/>
              <a:gd name="connsiteY4" fmla="*/ 1492056 h 1492056"/>
              <a:gd name="connsiteX0" fmla="*/ 0 w 260183"/>
              <a:gd name="connsiteY0" fmla="*/ 746028 h 1492056"/>
              <a:gd name="connsiteX1" fmla="*/ 0 w 260183"/>
              <a:gd name="connsiteY1" fmla="*/ 0 h 1492056"/>
              <a:gd name="connsiteX2" fmla="*/ 260183 w 260183"/>
              <a:gd name="connsiteY2" fmla="*/ 746028 h 1492056"/>
              <a:gd name="connsiteX3" fmla="*/ 0 w 260183"/>
              <a:gd name="connsiteY3" fmla="*/ 1492056 h 1492056"/>
              <a:gd name="connsiteX0" fmla="*/ 0 w 260183"/>
              <a:gd name="connsiteY0" fmla="*/ 0 h 1492056"/>
              <a:gd name="connsiteX1" fmla="*/ 260183 w 260183"/>
              <a:gd name="connsiteY1" fmla="*/ 746028 h 1492056"/>
              <a:gd name="connsiteX2" fmla="*/ 0 w 260183"/>
              <a:gd name="connsiteY2" fmla="*/ 1492056 h 1492056"/>
            </a:gdLst>
            <a:ahLst/>
            <a:cxnLst>
              <a:cxn ang="0">
                <a:pos x="connsiteX0" y="connsiteY0"/>
              </a:cxn>
              <a:cxn ang="0">
                <a:pos x="connsiteX1" y="connsiteY1"/>
              </a:cxn>
              <a:cxn ang="0">
                <a:pos x="connsiteX2" y="connsiteY2"/>
              </a:cxn>
            </a:cxnLst>
            <a:rect l="l" t="t" r="r" b="b"/>
            <a:pathLst>
              <a:path w="260183" h="1492056">
                <a:moveTo>
                  <a:pt x="0" y="0"/>
                </a:moveTo>
                <a:lnTo>
                  <a:pt x="260183" y="746028"/>
                </a:lnTo>
                <a:lnTo>
                  <a:pt x="0" y="1492056"/>
                </a:lnTo>
              </a:path>
            </a:pathLst>
          </a:custGeom>
          <a:ln w="12700">
            <a:solidFill>
              <a:schemeClr val="bg1"/>
            </a:solid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13" name="Arrow: Chevron 2"/>
          <p:cNvSpPr/>
          <p:nvPr/>
        </p:nvSpPr>
        <p:spPr bwMode="auto">
          <a:xfrm>
            <a:off x="6115281" y="5486271"/>
            <a:ext cx="219277" cy="1507757"/>
          </a:xfrm>
          <a:custGeom>
            <a:avLst/>
            <a:gdLst>
              <a:gd name="connsiteX0" fmla="*/ 0 w 520366"/>
              <a:gd name="connsiteY0" fmla="*/ 0 h 1492056"/>
              <a:gd name="connsiteX1" fmla="*/ 260183 w 520366"/>
              <a:gd name="connsiteY1" fmla="*/ 0 h 1492056"/>
              <a:gd name="connsiteX2" fmla="*/ 520366 w 520366"/>
              <a:gd name="connsiteY2" fmla="*/ 746028 h 1492056"/>
              <a:gd name="connsiteX3" fmla="*/ 260183 w 520366"/>
              <a:gd name="connsiteY3" fmla="*/ 1492056 h 1492056"/>
              <a:gd name="connsiteX4" fmla="*/ 0 w 520366"/>
              <a:gd name="connsiteY4" fmla="*/ 1492056 h 1492056"/>
              <a:gd name="connsiteX5" fmla="*/ 260183 w 520366"/>
              <a:gd name="connsiteY5" fmla="*/ 746028 h 1492056"/>
              <a:gd name="connsiteX6" fmla="*/ 0 w 520366"/>
              <a:gd name="connsiteY6" fmla="*/ 0 h 1492056"/>
              <a:gd name="connsiteX0" fmla="*/ 260183 w 520366"/>
              <a:gd name="connsiteY0" fmla="*/ 746028 h 1492056"/>
              <a:gd name="connsiteX1" fmla="*/ 260183 w 520366"/>
              <a:gd name="connsiteY1" fmla="*/ 0 h 1492056"/>
              <a:gd name="connsiteX2" fmla="*/ 520366 w 520366"/>
              <a:gd name="connsiteY2" fmla="*/ 746028 h 1492056"/>
              <a:gd name="connsiteX3" fmla="*/ 260183 w 520366"/>
              <a:gd name="connsiteY3" fmla="*/ 1492056 h 1492056"/>
              <a:gd name="connsiteX4" fmla="*/ 0 w 520366"/>
              <a:gd name="connsiteY4" fmla="*/ 1492056 h 1492056"/>
              <a:gd name="connsiteX5" fmla="*/ 260183 w 520366"/>
              <a:gd name="connsiteY5" fmla="*/ 746028 h 1492056"/>
              <a:gd name="connsiteX0" fmla="*/ 0 w 520366"/>
              <a:gd name="connsiteY0" fmla="*/ 1492056 h 1583496"/>
              <a:gd name="connsiteX1" fmla="*/ 260183 w 520366"/>
              <a:gd name="connsiteY1" fmla="*/ 746028 h 1583496"/>
              <a:gd name="connsiteX2" fmla="*/ 260183 w 520366"/>
              <a:gd name="connsiteY2" fmla="*/ 0 h 1583496"/>
              <a:gd name="connsiteX3" fmla="*/ 520366 w 520366"/>
              <a:gd name="connsiteY3" fmla="*/ 746028 h 1583496"/>
              <a:gd name="connsiteX4" fmla="*/ 260183 w 520366"/>
              <a:gd name="connsiteY4" fmla="*/ 1492056 h 1583496"/>
              <a:gd name="connsiteX5" fmla="*/ 91440 w 520366"/>
              <a:gd name="connsiteY5" fmla="*/ 1583496 h 1583496"/>
              <a:gd name="connsiteX0" fmla="*/ 0 w 520366"/>
              <a:gd name="connsiteY0" fmla="*/ 1492056 h 1492056"/>
              <a:gd name="connsiteX1" fmla="*/ 260183 w 520366"/>
              <a:gd name="connsiteY1" fmla="*/ 746028 h 1492056"/>
              <a:gd name="connsiteX2" fmla="*/ 260183 w 520366"/>
              <a:gd name="connsiteY2" fmla="*/ 0 h 1492056"/>
              <a:gd name="connsiteX3" fmla="*/ 520366 w 520366"/>
              <a:gd name="connsiteY3" fmla="*/ 746028 h 1492056"/>
              <a:gd name="connsiteX4" fmla="*/ 260183 w 520366"/>
              <a:gd name="connsiteY4" fmla="*/ 1492056 h 1492056"/>
              <a:gd name="connsiteX0" fmla="*/ 0 w 260183"/>
              <a:gd name="connsiteY0" fmla="*/ 746028 h 1492056"/>
              <a:gd name="connsiteX1" fmla="*/ 0 w 260183"/>
              <a:gd name="connsiteY1" fmla="*/ 0 h 1492056"/>
              <a:gd name="connsiteX2" fmla="*/ 260183 w 260183"/>
              <a:gd name="connsiteY2" fmla="*/ 746028 h 1492056"/>
              <a:gd name="connsiteX3" fmla="*/ 0 w 260183"/>
              <a:gd name="connsiteY3" fmla="*/ 1492056 h 1492056"/>
              <a:gd name="connsiteX0" fmla="*/ 0 w 260183"/>
              <a:gd name="connsiteY0" fmla="*/ 0 h 1492056"/>
              <a:gd name="connsiteX1" fmla="*/ 260183 w 260183"/>
              <a:gd name="connsiteY1" fmla="*/ 746028 h 1492056"/>
              <a:gd name="connsiteX2" fmla="*/ 0 w 260183"/>
              <a:gd name="connsiteY2" fmla="*/ 1492056 h 1492056"/>
            </a:gdLst>
            <a:ahLst/>
            <a:cxnLst>
              <a:cxn ang="0">
                <a:pos x="connsiteX0" y="connsiteY0"/>
              </a:cxn>
              <a:cxn ang="0">
                <a:pos x="connsiteX1" y="connsiteY1"/>
              </a:cxn>
              <a:cxn ang="0">
                <a:pos x="connsiteX2" y="connsiteY2"/>
              </a:cxn>
            </a:cxnLst>
            <a:rect l="l" t="t" r="r" b="b"/>
            <a:pathLst>
              <a:path w="260183" h="1492056">
                <a:moveTo>
                  <a:pt x="0" y="0"/>
                </a:moveTo>
                <a:lnTo>
                  <a:pt x="260183" y="746028"/>
                </a:lnTo>
                <a:lnTo>
                  <a:pt x="0" y="1492056"/>
                </a:lnTo>
              </a:path>
            </a:pathLst>
          </a:custGeom>
          <a:ln w="12700">
            <a:solidFill>
              <a:schemeClr val="bg1"/>
            </a:solid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14" name="Arrow: Chevron 2"/>
          <p:cNvSpPr/>
          <p:nvPr/>
        </p:nvSpPr>
        <p:spPr bwMode="auto">
          <a:xfrm>
            <a:off x="9153310" y="5486271"/>
            <a:ext cx="219277" cy="1507757"/>
          </a:xfrm>
          <a:custGeom>
            <a:avLst/>
            <a:gdLst>
              <a:gd name="connsiteX0" fmla="*/ 0 w 520366"/>
              <a:gd name="connsiteY0" fmla="*/ 0 h 1492056"/>
              <a:gd name="connsiteX1" fmla="*/ 260183 w 520366"/>
              <a:gd name="connsiteY1" fmla="*/ 0 h 1492056"/>
              <a:gd name="connsiteX2" fmla="*/ 520366 w 520366"/>
              <a:gd name="connsiteY2" fmla="*/ 746028 h 1492056"/>
              <a:gd name="connsiteX3" fmla="*/ 260183 w 520366"/>
              <a:gd name="connsiteY3" fmla="*/ 1492056 h 1492056"/>
              <a:gd name="connsiteX4" fmla="*/ 0 w 520366"/>
              <a:gd name="connsiteY4" fmla="*/ 1492056 h 1492056"/>
              <a:gd name="connsiteX5" fmla="*/ 260183 w 520366"/>
              <a:gd name="connsiteY5" fmla="*/ 746028 h 1492056"/>
              <a:gd name="connsiteX6" fmla="*/ 0 w 520366"/>
              <a:gd name="connsiteY6" fmla="*/ 0 h 1492056"/>
              <a:gd name="connsiteX0" fmla="*/ 260183 w 520366"/>
              <a:gd name="connsiteY0" fmla="*/ 746028 h 1492056"/>
              <a:gd name="connsiteX1" fmla="*/ 260183 w 520366"/>
              <a:gd name="connsiteY1" fmla="*/ 0 h 1492056"/>
              <a:gd name="connsiteX2" fmla="*/ 520366 w 520366"/>
              <a:gd name="connsiteY2" fmla="*/ 746028 h 1492056"/>
              <a:gd name="connsiteX3" fmla="*/ 260183 w 520366"/>
              <a:gd name="connsiteY3" fmla="*/ 1492056 h 1492056"/>
              <a:gd name="connsiteX4" fmla="*/ 0 w 520366"/>
              <a:gd name="connsiteY4" fmla="*/ 1492056 h 1492056"/>
              <a:gd name="connsiteX5" fmla="*/ 260183 w 520366"/>
              <a:gd name="connsiteY5" fmla="*/ 746028 h 1492056"/>
              <a:gd name="connsiteX0" fmla="*/ 0 w 520366"/>
              <a:gd name="connsiteY0" fmla="*/ 1492056 h 1583496"/>
              <a:gd name="connsiteX1" fmla="*/ 260183 w 520366"/>
              <a:gd name="connsiteY1" fmla="*/ 746028 h 1583496"/>
              <a:gd name="connsiteX2" fmla="*/ 260183 w 520366"/>
              <a:gd name="connsiteY2" fmla="*/ 0 h 1583496"/>
              <a:gd name="connsiteX3" fmla="*/ 520366 w 520366"/>
              <a:gd name="connsiteY3" fmla="*/ 746028 h 1583496"/>
              <a:gd name="connsiteX4" fmla="*/ 260183 w 520366"/>
              <a:gd name="connsiteY4" fmla="*/ 1492056 h 1583496"/>
              <a:gd name="connsiteX5" fmla="*/ 91440 w 520366"/>
              <a:gd name="connsiteY5" fmla="*/ 1583496 h 1583496"/>
              <a:gd name="connsiteX0" fmla="*/ 0 w 520366"/>
              <a:gd name="connsiteY0" fmla="*/ 1492056 h 1492056"/>
              <a:gd name="connsiteX1" fmla="*/ 260183 w 520366"/>
              <a:gd name="connsiteY1" fmla="*/ 746028 h 1492056"/>
              <a:gd name="connsiteX2" fmla="*/ 260183 w 520366"/>
              <a:gd name="connsiteY2" fmla="*/ 0 h 1492056"/>
              <a:gd name="connsiteX3" fmla="*/ 520366 w 520366"/>
              <a:gd name="connsiteY3" fmla="*/ 746028 h 1492056"/>
              <a:gd name="connsiteX4" fmla="*/ 260183 w 520366"/>
              <a:gd name="connsiteY4" fmla="*/ 1492056 h 1492056"/>
              <a:gd name="connsiteX0" fmla="*/ 0 w 260183"/>
              <a:gd name="connsiteY0" fmla="*/ 746028 h 1492056"/>
              <a:gd name="connsiteX1" fmla="*/ 0 w 260183"/>
              <a:gd name="connsiteY1" fmla="*/ 0 h 1492056"/>
              <a:gd name="connsiteX2" fmla="*/ 260183 w 260183"/>
              <a:gd name="connsiteY2" fmla="*/ 746028 h 1492056"/>
              <a:gd name="connsiteX3" fmla="*/ 0 w 260183"/>
              <a:gd name="connsiteY3" fmla="*/ 1492056 h 1492056"/>
              <a:gd name="connsiteX0" fmla="*/ 0 w 260183"/>
              <a:gd name="connsiteY0" fmla="*/ 0 h 1492056"/>
              <a:gd name="connsiteX1" fmla="*/ 260183 w 260183"/>
              <a:gd name="connsiteY1" fmla="*/ 746028 h 1492056"/>
              <a:gd name="connsiteX2" fmla="*/ 0 w 260183"/>
              <a:gd name="connsiteY2" fmla="*/ 1492056 h 1492056"/>
            </a:gdLst>
            <a:ahLst/>
            <a:cxnLst>
              <a:cxn ang="0">
                <a:pos x="connsiteX0" y="connsiteY0"/>
              </a:cxn>
              <a:cxn ang="0">
                <a:pos x="connsiteX1" y="connsiteY1"/>
              </a:cxn>
              <a:cxn ang="0">
                <a:pos x="connsiteX2" y="connsiteY2"/>
              </a:cxn>
            </a:cxnLst>
            <a:rect l="l" t="t" r="r" b="b"/>
            <a:pathLst>
              <a:path w="260183" h="1492056">
                <a:moveTo>
                  <a:pt x="0" y="0"/>
                </a:moveTo>
                <a:lnTo>
                  <a:pt x="260183" y="746028"/>
                </a:lnTo>
                <a:lnTo>
                  <a:pt x="0" y="1492056"/>
                </a:lnTo>
              </a:path>
            </a:pathLst>
          </a:custGeom>
          <a:ln w="12700">
            <a:solidFill>
              <a:schemeClr val="bg1"/>
            </a:solid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pic>
        <p:nvPicPr>
          <p:cNvPr id="117" name="Graphic 116" descr="Puzzl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8900000">
            <a:off x="1509950" y="4028229"/>
            <a:ext cx="1152126" cy="1152124"/>
          </a:xfrm>
          <a:prstGeom prst="rect">
            <a:avLst/>
          </a:prstGeom>
        </p:spPr>
      </p:pic>
      <p:grpSp>
        <p:nvGrpSpPr>
          <p:cNvPr id="72" name="Group 71">
            <a:extLst>
              <a:ext uri="{FF2B5EF4-FFF2-40B4-BE49-F238E27FC236}">
                <a16:creationId xmlns:a16="http://schemas.microsoft.com/office/drawing/2014/main" id="{EED126D5-D09F-40AE-9216-B318B1AD1381}"/>
              </a:ext>
            </a:extLst>
          </p:cNvPr>
          <p:cNvGrpSpPr/>
          <p:nvPr/>
        </p:nvGrpSpPr>
        <p:grpSpPr>
          <a:xfrm>
            <a:off x="6982952" y="3146524"/>
            <a:ext cx="1333991" cy="1188527"/>
            <a:chOff x="5311855" y="3106690"/>
            <a:chExt cx="1307953" cy="1165328"/>
          </a:xfrm>
        </p:grpSpPr>
        <p:grpSp>
          <p:nvGrpSpPr>
            <p:cNvPr id="73" name="Group 72">
              <a:extLst>
                <a:ext uri="{FF2B5EF4-FFF2-40B4-BE49-F238E27FC236}">
                  <a16:creationId xmlns:a16="http://schemas.microsoft.com/office/drawing/2014/main" id="{F63403E2-7461-4A42-861E-DD7FDD113DAD}"/>
                </a:ext>
              </a:extLst>
            </p:cNvPr>
            <p:cNvGrpSpPr/>
            <p:nvPr/>
          </p:nvGrpSpPr>
          <p:grpSpPr>
            <a:xfrm>
              <a:off x="5311855" y="3410505"/>
              <a:ext cx="1153298" cy="861513"/>
              <a:chOff x="5311855" y="3410505"/>
              <a:chExt cx="1153298" cy="861513"/>
            </a:xfrm>
          </p:grpSpPr>
          <p:sp>
            <p:nvSpPr>
              <p:cNvPr id="75" name="Freeform 69">
                <a:extLst>
                  <a:ext uri="{FF2B5EF4-FFF2-40B4-BE49-F238E27FC236}">
                    <a16:creationId xmlns:a16="http://schemas.microsoft.com/office/drawing/2014/main" id="{809ACFF5-1CCC-4747-9BA6-6084D73F20E7}"/>
                  </a:ext>
                </a:extLst>
              </p:cNvPr>
              <p:cNvSpPr>
                <a:spLocks/>
              </p:cNvSpPr>
              <p:nvPr/>
            </p:nvSpPr>
            <p:spPr bwMode="auto">
              <a:xfrm rot="2700000">
                <a:off x="5872076" y="3840028"/>
                <a:ext cx="277709" cy="586272"/>
              </a:xfrm>
              <a:custGeom>
                <a:avLst/>
                <a:gdLst>
                  <a:gd name="T0" fmla="*/ 0 w 93"/>
                  <a:gd name="T1" fmla="*/ 127 h 197"/>
                  <a:gd name="T2" fmla="*/ 54 w 93"/>
                  <a:gd name="T3" fmla="*/ 197 h 197"/>
                  <a:gd name="T4" fmla="*/ 76 w 93"/>
                  <a:gd name="T5" fmla="*/ 43 h 197"/>
                  <a:gd name="T6" fmla="*/ 43 w 93"/>
                  <a:gd name="T7" fmla="*/ 0 h 197"/>
                  <a:gd name="T8" fmla="*/ 0 w 93"/>
                  <a:gd name="T9" fmla="*/ 127 h 197"/>
                </a:gdLst>
                <a:ahLst/>
                <a:cxnLst>
                  <a:cxn ang="0">
                    <a:pos x="T0" y="T1"/>
                  </a:cxn>
                  <a:cxn ang="0">
                    <a:pos x="T2" y="T3"/>
                  </a:cxn>
                  <a:cxn ang="0">
                    <a:pos x="T4" y="T5"/>
                  </a:cxn>
                  <a:cxn ang="0">
                    <a:pos x="T6" y="T7"/>
                  </a:cxn>
                  <a:cxn ang="0">
                    <a:pos x="T8" y="T9"/>
                  </a:cxn>
                </a:cxnLst>
                <a:rect l="0" t="0" r="r" b="b"/>
                <a:pathLst>
                  <a:path w="93" h="197">
                    <a:moveTo>
                      <a:pt x="0" y="127"/>
                    </a:moveTo>
                    <a:cubicBezTo>
                      <a:pt x="0" y="127"/>
                      <a:pt x="44" y="159"/>
                      <a:pt x="54" y="197"/>
                    </a:cubicBezTo>
                    <a:cubicBezTo>
                      <a:pt x="80" y="167"/>
                      <a:pt x="93" y="87"/>
                      <a:pt x="76" y="43"/>
                    </a:cubicBezTo>
                    <a:cubicBezTo>
                      <a:pt x="43" y="0"/>
                      <a:pt x="43" y="0"/>
                      <a:pt x="43" y="0"/>
                    </a:cubicBezTo>
                    <a:lnTo>
                      <a:pt x="0" y="127"/>
                    </a:lnTo>
                    <a:close/>
                  </a:path>
                </a:pathLst>
              </a:custGeom>
              <a:solidFill>
                <a:schemeClr val="accent1">
                  <a:lumMod val="40000"/>
                  <a:lumOff val="60000"/>
                </a:schemeClr>
              </a:solidFill>
              <a:ln>
                <a:noFill/>
              </a:ln>
              <a:extLst/>
            </p:spPr>
            <p:txBody>
              <a:bodyPr vert="horz" wrap="square" lIns="93234" tIns="46616" rIns="93234" bIns="46616"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76" name="Freeform 70">
                <a:extLst>
                  <a:ext uri="{FF2B5EF4-FFF2-40B4-BE49-F238E27FC236}">
                    <a16:creationId xmlns:a16="http://schemas.microsoft.com/office/drawing/2014/main" id="{079CA452-F371-49D7-87C7-6FFCDE883152}"/>
                  </a:ext>
                </a:extLst>
              </p:cNvPr>
              <p:cNvSpPr>
                <a:spLocks/>
              </p:cNvSpPr>
              <p:nvPr/>
            </p:nvSpPr>
            <p:spPr bwMode="auto">
              <a:xfrm rot="2700000">
                <a:off x="5466135" y="3417117"/>
                <a:ext cx="274281" cy="582842"/>
              </a:xfrm>
              <a:custGeom>
                <a:avLst/>
                <a:gdLst>
                  <a:gd name="T0" fmla="*/ 91 w 91"/>
                  <a:gd name="T1" fmla="*/ 128 h 196"/>
                  <a:gd name="T2" fmla="*/ 35 w 91"/>
                  <a:gd name="T3" fmla="*/ 196 h 196"/>
                  <a:gd name="T4" fmla="*/ 19 w 91"/>
                  <a:gd name="T5" fmla="*/ 42 h 196"/>
                  <a:gd name="T6" fmla="*/ 53 w 91"/>
                  <a:gd name="T7" fmla="*/ 0 h 196"/>
                  <a:gd name="T8" fmla="*/ 91 w 91"/>
                  <a:gd name="T9" fmla="*/ 128 h 196"/>
                </a:gdLst>
                <a:ahLst/>
                <a:cxnLst>
                  <a:cxn ang="0">
                    <a:pos x="T0" y="T1"/>
                  </a:cxn>
                  <a:cxn ang="0">
                    <a:pos x="T2" y="T3"/>
                  </a:cxn>
                  <a:cxn ang="0">
                    <a:pos x="T4" y="T5"/>
                  </a:cxn>
                  <a:cxn ang="0">
                    <a:pos x="T6" y="T7"/>
                  </a:cxn>
                  <a:cxn ang="0">
                    <a:pos x="T8" y="T9"/>
                  </a:cxn>
                </a:cxnLst>
                <a:rect l="0" t="0" r="r" b="b"/>
                <a:pathLst>
                  <a:path w="91" h="196">
                    <a:moveTo>
                      <a:pt x="91" y="128"/>
                    </a:moveTo>
                    <a:cubicBezTo>
                      <a:pt x="91" y="128"/>
                      <a:pt x="47" y="158"/>
                      <a:pt x="35" y="196"/>
                    </a:cubicBezTo>
                    <a:cubicBezTo>
                      <a:pt x="10" y="166"/>
                      <a:pt x="0" y="85"/>
                      <a:pt x="19" y="42"/>
                    </a:cubicBezTo>
                    <a:cubicBezTo>
                      <a:pt x="53" y="0"/>
                      <a:pt x="53" y="0"/>
                      <a:pt x="53" y="0"/>
                    </a:cubicBezTo>
                    <a:lnTo>
                      <a:pt x="91" y="128"/>
                    </a:lnTo>
                    <a:close/>
                  </a:path>
                </a:pathLst>
              </a:custGeom>
              <a:solidFill>
                <a:schemeClr val="accent1">
                  <a:lumMod val="40000"/>
                  <a:lumOff val="60000"/>
                </a:schemeClr>
              </a:solidFill>
              <a:ln>
                <a:noFill/>
              </a:ln>
              <a:extLst/>
            </p:spPr>
            <p:txBody>
              <a:bodyPr vert="horz" wrap="square" lIns="93234" tIns="46616" rIns="93234" bIns="46616"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79" name="Freeform: Shape 78">
                <a:extLst>
                  <a:ext uri="{FF2B5EF4-FFF2-40B4-BE49-F238E27FC236}">
                    <a16:creationId xmlns:a16="http://schemas.microsoft.com/office/drawing/2014/main" id="{C1C39CB4-F5AB-4DB5-8118-7DE4F11905FE}"/>
                  </a:ext>
                </a:extLst>
              </p:cNvPr>
              <p:cNvSpPr>
                <a:spLocks/>
              </p:cNvSpPr>
              <p:nvPr/>
            </p:nvSpPr>
            <p:spPr bwMode="auto">
              <a:xfrm rot="2700000">
                <a:off x="5763436" y="3272248"/>
                <a:ext cx="563459" cy="839974"/>
              </a:xfrm>
              <a:custGeom>
                <a:avLst/>
                <a:gdLst>
                  <a:gd name="connsiteX0" fmla="*/ 209219 w 1320790"/>
                  <a:gd name="connsiteY0" fmla="*/ 0 h 1968970"/>
                  <a:gd name="connsiteX1" fmla="*/ 334591 w 1320790"/>
                  <a:gd name="connsiteY1" fmla="*/ 48849 h 1968970"/>
                  <a:gd name="connsiteX2" fmla="*/ 333284 w 1320790"/>
                  <a:gd name="connsiteY2" fmla="*/ 52039 h 1968970"/>
                  <a:gd name="connsiteX3" fmla="*/ 495812 w 1320790"/>
                  <a:gd name="connsiteY3" fmla="*/ 86832 h 1968970"/>
                  <a:gd name="connsiteX4" fmla="*/ 669129 w 1320790"/>
                  <a:gd name="connsiteY4" fmla="*/ 100774 h 1968970"/>
                  <a:gd name="connsiteX5" fmla="*/ 1138312 w 1320790"/>
                  <a:gd name="connsiteY5" fmla="*/ 24094 h 1968970"/>
                  <a:gd name="connsiteX6" fmla="*/ 1320382 w 1320790"/>
                  <a:gd name="connsiteY6" fmla="*/ 902425 h 1968970"/>
                  <a:gd name="connsiteX7" fmla="*/ 1012263 w 1320790"/>
                  <a:gd name="connsiteY7" fmla="*/ 1968970 h 1968970"/>
                  <a:gd name="connsiteX8" fmla="*/ 410029 w 1320790"/>
                  <a:gd name="connsiteY8" fmla="*/ 1961999 h 1968970"/>
                  <a:gd name="connsiteX9" fmla="*/ 409516 w 1320790"/>
                  <a:gd name="connsiteY9" fmla="*/ 1960861 h 1968970"/>
                  <a:gd name="connsiteX10" fmla="*/ 365227 w 1320790"/>
                  <a:gd name="connsiteY10" fmla="*/ 1958643 h 1968970"/>
                  <a:gd name="connsiteX11" fmla="*/ 271905 w 1320790"/>
                  <a:gd name="connsiteY11" fmla="*/ 1953968 h 1968970"/>
                  <a:gd name="connsiteX12" fmla="*/ 264 w 1320790"/>
                  <a:gd name="connsiteY12" fmla="*/ 879286 h 1968970"/>
                  <a:gd name="connsiteX13" fmla="*/ 209219 w 1320790"/>
                  <a:gd name="connsiteY13" fmla="*/ 0 h 1968970"/>
                  <a:gd name="connsiteX0" fmla="*/ 209219 w 1320790"/>
                  <a:gd name="connsiteY0" fmla="*/ 0 h 1968970"/>
                  <a:gd name="connsiteX1" fmla="*/ 334591 w 1320790"/>
                  <a:gd name="connsiteY1" fmla="*/ 48849 h 1968970"/>
                  <a:gd name="connsiteX2" fmla="*/ 333284 w 1320790"/>
                  <a:gd name="connsiteY2" fmla="*/ 52039 h 1968970"/>
                  <a:gd name="connsiteX3" fmla="*/ 495812 w 1320790"/>
                  <a:gd name="connsiteY3" fmla="*/ 86832 h 1968970"/>
                  <a:gd name="connsiteX4" fmla="*/ 669129 w 1320790"/>
                  <a:gd name="connsiteY4" fmla="*/ 100774 h 1968970"/>
                  <a:gd name="connsiteX5" fmla="*/ 1138312 w 1320790"/>
                  <a:gd name="connsiteY5" fmla="*/ 24094 h 1968970"/>
                  <a:gd name="connsiteX6" fmla="*/ 1320382 w 1320790"/>
                  <a:gd name="connsiteY6" fmla="*/ 902425 h 1968970"/>
                  <a:gd name="connsiteX7" fmla="*/ 1012263 w 1320790"/>
                  <a:gd name="connsiteY7" fmla="*/ 1968970 h 1968970"/>
                  <a:gd name="connsiteX8" fmla="*/ 410029 w 1320790"/>
                  <a:gd name="connsiteY8" fmla="*/ 1961999 h 1968970"/>
                  <a:gd name="connsiteX9" fmla="*/ 365227 w 1320790"/>
                  <a:gd name="connsiteY9" fmla="*/ 1958643 h 1968970"/>
                  <a:gd name="connsiteX10" fmla="*/ 271905 w 1320790"/>
                  <a:gd name="connsiteY10" fmla="*/ 1953968 h 1968970"/>
                  <a:gd name="connsiteX11" fmla="*/ 264 w 1320790"/>
                  <a:gd name="connsiteY11" fmla="*/ 879286 h 1968970"/>
                  <a:gd name="connsiteX12" fmla="*/ 209219 w 1320790"/>
                  <a:gd name="connsiteY12" fmla="*/ 0 h 1968970"/>
                  <a:gd name="connsiteX0" fmla="*/ 209219 w 1320790"/>
                  <a:gd name="connsiteY0" fmla="*/ 0 h 1968970"/>
                  <a:gd name="connsiteX1" fmla="*/ 334591 w 1320790"/>
                  <a:gd name="connsiteY1" fmla="*/ 48849 h 1968970"/>
                  <a:gd name="connsiteX2" fmla="*/ 333284 w 1320790"/>
                  <a:gd name="connsiteY2" fmla="*/ 52039 h 1968970"/>
                  <a:gd name="connsiteX3" fmla="*/ 495812 w 1320790"/>
                  <a:gd name="connsiteY3" fmla="*/ 86832 h 1968970"/>
                  <a:gd name="connsiteX4" fmla="*/ 669129 w 1320790"/>
                  <a:gd name="connsiteY4" fmla="*/ 100774 h 1968970"/>
                  <a:gd name="connsiteX5" fmla="*/ 1138312 w 1320790"/>
                  <a:gd name="connsiteY5" fmla="*/ 24094 h 1968970"/>
                  <a:gd name="connsiteX6" fmla="*/ 1320382 w 1320790"/>
                  <a:gd name="connsiteY6" fmla="*/ 902425 h 1968970"/>
                  <a:gd name="connsiteX7" fmla="*/ 1012263 w 1320790"/>
                  <a:gd name="connsiteY7" fmla="*/ 1968970 h 1968970"/>
                  <a:gd name="connsiteX8" fmla="*/ 410029 w 1320790"/>
                  <a:gd name="connsiteY8" fmla="*/ 1961999 h 1968970"/>
                  <a:gd name="connsiteX9" fmla="*/ 271905 w 1320790"/>
                  <a:gd name="connsiteY9" fmla="*/ 1953968 h 1968970"/>
                  <a:gd name="connsiteX10" fmla="*/ 264 w 1320790"/>
                  <a:gd name="connsiteY10" fmla="*/ 879286 h 1968970"/>
                  <a:gd name="connsiteX11" fmla="*/ 209219 w 1320790"/>
                  <a:gd name="connsiteY11" fmla="*/ 0 h 1968970"/>
                  <a:gd name="connsiteX0" fmla="*/ 209219 w 1320790"/>
                  <a:gd name="connsiteY0" fmla="*/ 0 h 1968970"/>
                  <a:gd name="connsiteX1" fmla="*/ 334591 w 1320790"/>
                  <a:gd name="connsiteY1" fmla="*/ 48849 h 1968970"/>
                  <a:gd name="connsiteX2" fmla="*/ 333284 w 1320790"/>
                  <a:gd name="connsiteY2" fmla="*/ 52039 h 1968970"/>
                  <a:gd name="connsiteX3" fmla="*/ 495812 w 1320790"/>
                  <a:gd name="connsiteY3" fmla="*/ 86832 h 1968970"/>
                  <a:gd name="connsiteX4" fmla="*/ 669129 w 1320790"/>
                  <a:gd name="connsiteY4" fmla="*/ 100774 h 1968970"/>
                  <a:gd name="connsiteX5" fmla="*/ 1138312 w 1320790"/>
                  <a:gd name="connsiteY5" fmla="*/ 24094 h 1968970"/>
                  <a:gd name="connsiteX6" fmla="*/ 1320382 w 1320790"/>
                  <a:gd name="connsiteY6" fmla="*/ 902425 h 1968970"/>
                  <a:gd name="connsiteX7" fmla="*/ 1012263 w 1320790"/>
                  <a:gd name="connsiteY7" fmla="*/ 1968970 h 1968970"/>
                  <a:gd name="connsiteX8" fmla="*/ 271905 w 1320790"/>
                  <a:gd name="connsiteY8" fmla="*/ 1953968 h 1968970"/>
                  <a:gd name="connsiteX9" fmla="*/ 264 w 1320790"/>
                  <a:gd name="connsiteY9" fmla="*/ 879286 h 1968970"/>
                  <a:gd name="connsiteX10" fmla="*/ 209219 w 1320790"/>
                  <a:gd name="connsiteY10" fmla="*/ 0 h 1968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790" h="1968970">
                    <a:moveTo>
                      <a:pt x="209219" y="0"/>
                    </a:moveTo>
                    <a:cubicBezTo>
                      <a:pt x="251010" y="20935"/>
                      <a:pt x="292801" y="34892"/>
                      <a:pt x="334591" y="48849"/>
                    </a:cubicBezTo>
                    <a:lnTo>
                      <a:pt x="333284" y="52039"/>
                    </a:lnTo>
                    <a:lnTo>
                      <a:pt x="495812" y="86832"/>
                    </a:lnTo>
                    <a:cubicBezTo>
                      <a:pt x="551834" y="95546"/>
                      <a:pt x="609606" y="100774"/>
                      <a:pt x="669129" y="100774"/>
                    </a:cubicBezTo>
                    <a:cubicBezTo>
                      <a:pt x="837195" y="100774"/>
                      <a:pt x="991255" y="72890"/>
                      <a:pt x="1138312" y="24094"/>
                    </a:cubicBezTo>
                    <a:cubicBezTo>
                      <a:pt x="1243352" y="275046"/>
                      <a:pt x="1327385" y="581765"/>
                      <a:pt x="1320382" y="902425"/>
                    </a:cubicBezTo>
                    <a:cubicBezTo>
                      <a:pt x="1313380" y="1313707"/>
                      <a:pt x="1166322" y="1690135"/>
                      <a:pt x="1012263" y="1968970"/>
                    </a:cubicBezTo>
                    <a:lnTo>
                      <a:pt x="271905" y="1953968"/>
                    </a:lnTo>
                    <a:cubicBezTo>
                      <a:pt x="125637" y="1667851"/>
                      <a:pt x="-6701" y="1291014"/>
                      <a:pt x="264" y="879286"/>
                    </a:cubicBezTo>
                    <a:cubicBezTo>
                      <a:pt x="264" y="558277"/>
                      <a:pt x="97776" y="251225"/>
                      <a:pt x="209219" y="0"/>
                    </a:cubicBezTo>
                    <a:close/>
                  </a:path>
                </a:pathLst>
              </a:custGeom>
              <a:solidFill>
                <a:schemeClr val="accent1"/>
              </a:solidFill>
              <a:ln>
                <a:noFill/>
              </a:ln>
              <a:extLst/>
            </p:spPr>
            <p:txBody>
              <a:bodyPr vert="horz" wrap="square" lIns="93234" tIns="46616" rIns="93234" bIns="46616" numCol="1" anchor="t" anchorCtr="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84" name="Freeform 74">
                <a:extLst>
                  <a:ext uri="{FF2B5EF4-FFF2-40B4-BE49-F238E27FC236}">
                    <a16:creationId xmlns:a16="http://schemas.microsoft.com/office/drawing/2014/main" id="{8E559E4A-C361-48FF-8374-1E46E09D0B18}"/>
                  </a:ext>
                </a:extLst>
              </p:cNvPr>
              <p:cNvSpPr>
                <a:spLocks/>
              </p:cNvSpPr>
              <p:nvPr/>
            </p:nvSpPr>
            <p:spPr bwMode="auto">
              <a:xfrm rot="2700000">
                <a:off x="5759153" y="3644526"/>
                <a:ext cx="82285" cy="565699"/>
              </a:xfrm>
              <a:custGeom>
                <a:avLst/>
                <a:gdLst>
                  <a:gd name="T0" fmla="*/ 0 w 24"/>
                  <a:gd name="T1" fmla="*/ 165 h 165"/>
                  <a:gd name="T2" fmla="*/ 21 w 24"/>
                  <a:gd name="T3" fmla="*/ 165 h 165"/>
                  <a:gd name="T4" fmla="*/ 24 w 24"/>
                  <a:gd name="T5" fmla="*/ 1 h 165"/>
                  <a:gd name="T6" fmla="*/ 3 w 24"/>
                  <a:gd name="T7" fmla="*/ 0 h 165"/>
                  <a:gd name="T8" fmla="*/ 0 w 24"/>
                  <a:gd name="T9" fmla="*/ 165 h 165"/>
                </a:gdLst>
                <a:ahLst/>
                <a:cxnLst>
                  <a:cxn ang="0">
                    <a:pos x="T0" y="T1"/>
                  </a:cxn>
                  <a:cxn ang="0">
                    <a:pos x="T2" y="T3"/>
                  </a:cxn>
                  <a:cxn ang="0">
                    <a:pos x="T4" y="T5"/>
                  </a:cxn>
                  <a:cxn ang="0">
                    <a:pos x="T6" y="T7"/>
                  </a:cxn>
                  <a:cxn ang="0">
                    <a:pos x="T8" y="T9"/>
                  </a:cxn>
                </a:cxnLst>
                <a:rect l="0" t="0" r="r" b="b"/>
                <a:pathLst>
                  <a:path w="24" h="165">
                    <a:moveTo>
                      <a:pt x="0" y="165"/>
                    </a:moveTo>
                    <a:lnTo>
                      <a:pt x="21" y="165"/>
                    </a:lnTo>
                    <a:lnTo>
                      <a:pt x="24" y="1"/>
                    </a:lnTo>
                    <a:lnTo>
                      <a:pt x="3" y="0"/>
                    </a:lnTo>
                    <a:lnTo>
                      <a:pt x="0" y="165"/>
                    </a:lnTo>
                    <a:close/>
                  </a:path>
                </a:pathLst>
              </a:custGeom>
              <a:solidFill>
                <a:schemeClr val="accent1">
                  <a:lumMod val="40000"/>
                  <a:lumOff val="60000"/>
                </a:schemeClr>
              </a:solidFill>
              <a:ln>
                <a:noFill/>
              </a:ln>
              <a:extLst/>
            </p:spPr>
            <p:txBody>
              <a:bodyPr vert="horz" wrap="square" lIns="93234" tIns="46616" rIns="93234" bIns="46616"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86" name="Oval 85">
                <a:extLst>
                  <a:ext uri="{FF2B5EF4-FFF2-40B4-BE49-F238E27FC236}">
                    <a16:creationId xmlns:a16="http://schemas.microsoft.com/office/drawing/2014/main" id="{8B3D7C30-FF81-4AB9-883B-5B04FDAA0DEF}"/>
                  </a:ext>
                </a:extLst>
              </p:cNvPr>
              <p:cNvSpPr>
                <a:spLocks/>
              </p:cNvSpPr>
              <p:nvPr/>
            </p:nvSpPr>
            <p:spPr bwMode="auto">
              <a:xfrm rot="2700000">
                <a:off x="6032531" y="3468413"/>
                <a:ext cx="240817" cy="240563"/>
              </a:xfrm>
              <a:prstGeom prst="ellipse">
                <a:avLst/>
              </a:prstGeom>
              <a:solidFill>
                <a:schemeClr val="accent1">
                  <a:lumMod val="40000"/>
                  <a:lumOff val="60000"/>
                </a:schemeClr>
              </a:solidFill>
              <a:ln>
                <a:noFill/>
              </a:ln>
              <a:extLst/>
            </p:spPr>
            <p:txBody>
              <a:bodyPr vert="horz" wrap="square" lIns="93234" tIns="46616" rIns="93234" bIns="46616" numCol="1" anchor="t" anchorCtr="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grpSp>
        <p:sp>
          <p:nvSpPr>
            <p:cNvPr id="74" name="Freeform 77">
              <a:extLst>
                <a:ext uri="{FF2B5EF4-FFF2-40B4-BE49-F238E27FC236}">
                  <a16:creationId xmlns:a16="http://schemas.microsoft.com/office/drawing/2014/main" id="{D4E03D0A-CC62-4491-A8F5-390FB48E1F1A}"/>
                </a:ext>
              </a:extLst>
            </p:cNvPr>
            <p:cNvSpPr>
              <a:spLocks/>
            </p:cNvSpPr>
            <p:nvPr/>
          </p:nvSpPr>
          <p:spPr bwMode="auto">
            <a:xfrm rot="2700000">
              <a:off x="6242674" y="3127262"/>
              <a:ext cx="397706" cy="356562"/>
            </a:xfrm>
            <a:custGeom>
              <a:avLst/>
              <a:gdLst>
                <a:gd name="T0" fmla="*/ 78 w 133"/>
                <a:gd name="T1" fmla="*/ 13 h 119"/>
                <a:gd name="T2" fmla="*/ 68 w 133"/>
                <a:gd name="T3" fmla="*/ 0 h 119"/>
                <a:gd name="T4" fmla="*/ 0 w 133"/>
                <a:gd name="T5" fmla="*/ 105 h 119"/>
                <a:gd name="T6" fmla="*/ 18 w 133"/>
                <a:gd name="T7" fmla="*/ 112 h 119"/>
                <a:gd name="T8" fmla="*/ 66 w 133"/>
                <a:gd name="T9" fmla="*/ 119 h 119"/>
                <a:gd name="T10" fmla="*/ 133 w 133"/>
                <a:gd name="T11" fmla="*/ 108 h 119"/>
                <a:gd name="T12" fmla="*/ 78 w 133"/>
                <a:gd name="T13" fmla="*/ 13 h 119"/>
              </a:gdLst>
              <a:ahLst/>
              <a:cxnLst>
                <a:cxn ang="0">
                  <a:pos x="T0" y="T1"/>
                </a:cxn>
                <a:cxn ang="0">
                  <a:pos x="T2" y="T3"/>
                </a:cxn>
                <a:cxn ang="0">
                  <a:pos x="T4" y="T5"/>
                </a:cxn>
                <a:cxn ang="0">
                  <a:pos x="T6" y="T7"/>
                </a:cxn>
                <a:cxn ang="0">
                  <a:pos x="T8" y="T9"/>
                </a:cxn>
                <a:cxn ang="0">
                  <a:pos x="T10" y="T11"/>
                </a:cxn>
                <a:cxn ang="0">
                  <a:pos x="T12" y="T13"/>
                </a:cxn>
              </a:cxnLst>
              <a:rect l="0" t="0" r="r" b="b"/>
              <a:pathLst>
                <a:path w="133" h="119">
                  <a:moveTo>
                    <a:pt x="78" y="13"/>
                  </a:moveTo>
                  <a:cubicBezTo>
                    <a:pt x="72" y="5"/>
                    <a:pt x="68" y="0"/>
                    <a:pt x="68" y="0"/>
                  </a:cubicBezTo>
                  <a:cubicBezTo>
                    <a:pt x="68" y="0"/>
                    <a:pt x="29" y="42"/>
                    <a:pt x="0" y="105"/>
                  </a:cubicBezTo>
                  <a:cubicBezTo>
                    <a:pt x="6" y="108"/>
                    <a:pt x="12" y="110"/>
                    <a:pt x="18" y="112"/>
                  </a:cubicBezTo>
                  <a:cubicBezTo>
                    <a:pt x="33" y="116"/>
                    <a:pt x="49" y="119"/>
                    <a:pt x="66" y="119"/>
                  </a:cubicBezTo>
                  <a:cubicBezTo>
                    <a:pt x="90" y="119"/>
                    <a:pt x="112" y="115"/>
                    <a:pt x="133" y="108"/>
                  </a:cubicBezTo>
                  <a:cubicBezTo>
                    <a:pt x="115" y="64"/>
                    <a:pt x="91" y="30"/>
                    <a:pt x="78" y="13"/>
                  </a:cubicBezTo>
                  <a:close/>
                </a:path>
              </a:pathLst>
            </a:custGeom>
            <a:solidFill>
              <a:schemeClr val="accent1">
                <a:lumMod val="40000"/>
                <a:lumOff val="60000"/>
              </a:schemeClr>
            </a:solidFill>
            <a:ln>
              <a:noFill/>
            </a:ln>
            <a:extLst/>
          </p:spPr>
          <p:txBody>
            <a:bodyPr vert="horz" wrap="square" lIns="93234" tIns="46616" rIns="93234" bIns="46616"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grpSp>
      <p:grpSp>
        <p:nvGrpSpPr>
          <p:cNvPr id="10" name="Group 9">
            <a:extLst>
              <a:ext uri="{FF2B5EF4-FFF2-40B4-BE49-F238E27FC236}">
                <a16:creationId xmlns:a16="http://schemas.microsoft.com/office/drawing/2014/main" id="{CC51E4FA-8218-4A00-9D68-BE86F55539DE}"/>
              </a:ext>
            </a:extLst>
          </p:cNvPr>
          <p:cNvGrpSpPr/>
          <p:nvPr/>
        </p:nvGrpSpPr>
        <p:grpSpPr>
          <a:xfrm>
            <a:off x="484696" y="4021319"/>
            <a:ext cx="3106775" cy="1159032"/>
            <a:chOff x="474371" y="3942828"/>
            <a:chExt cx="3046134" cy="1136409"/>
          </a:xfrm>
        </p:grpSpPr>
        <p:grpSp>
          <p:nvGrpSpPr>
            <p:cNvPr id="9" name="Group 8"/>
            <p:cNvGrpSpPr/>
            <p:nvPr/>
          </p:nvGrpSpPr>
          <p:grpSpPr>
            <a:xfrm>
              <a:off x="474371" y="3949601"/>
              <a:ext cx="1129638" cy="1129636"/>
              <a:chOff x="350389" y="3848398"/>
              <a:chExt cx="1129798" cy="1129797"/>
            </a:xfrm>
          </p:grpSpPr>
          <p:pic>
            <p:nvPicPr>
              <p:cNvPr id="6" name="Graphic 5" descr="Puzzle"/>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700000">
                <a:off x="350389" y="3848398"/>
                <a:ext cx="1129797" cy="1129798"/>
              </a:xfrm>
              <a:prstGeom prst="rect">
                <a:avLst/>
              </a:prstGeom>
            </p:spPr>
          </p:pic>
          <p:sp>
            <p:nvSpPr>
              <p:cNvPr id="8" name="Rectangle 7"/>
              <p:cNvSpPr/>
              <p:nvPr/>
            </p:nvSpPr>
            <p:spPr bwMode="auto">
              <a:xfrm>
                <a:off x="633619" y="4011399"/>
                <a:ext cx="591024" cy="767475"/>
              </a:xfrm>
              <a:prstGeom prst="rect">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 name="Group 4"/>
            <p:cNvGrpSpPr>
              <a:grpSpLocks noChangeAspect="1"/>
            </p:cNvGrpSpPr>
            <p:nvPr/>
          </p:nvGrpSpPr>
          <p:grpSpPr bwMode="auto">
            <a:xfrm>
              <a:off x="869072" y="4363896"/>
              <a:ext cx="367918" cy="271459"/>
              <a:chOff x="1565" y="1605"/>
              <a:chExt cx="1438" cy="1061"/>
            </a:xfrm>
            <a:solidFill>
              <a:schemeClr val="bg1"/>
            </a:solidFill>
          </p:grpSpPr>
          <p:sp>
            <p:nvSpPr>
              <p:cNvPr id="39" name="Freeform 5"/>
              <p:cNvSpPr>
                <a:spLocks/>
              </p:cNvSpPr>
              <p:nvPr/>
            </p:nvSpPr>
            <p:spPr bwMode="auto">
              <a:xfrm>
                <a:off x="1565" y="1605"/>
                <a:ext cx="1438" cy="915"/>
              </a:xfrm>
              <a:custGeom>
                <a:avLst/>
                <a:gdLst>
                  <a:gd name="T0" fmla="*/ 1200 w 2400"/>
                  <a:gd name="T1" fmla="*/ 0 h 1527"/>
                  <a:gd name="T2" fmla="*/ 0 w 2400"/>
                  <a:gd name="T3" fmla="*/ 775 h 1527"/>
                  <a:gd name="T4" fmla="*/ 911 w 2400"/>
                  <a:gd name="T5" fmla="*/ 1527 h 1527"/>
                  <a:gd name="T6" fmla="*/ 911 w 2400"/>
                  <a:gd name="T7" fmla="*/ 1329 h 1527"/>
                  <a:gd name="T8" fmla="*/ 472 w 2400"/>
                  <a:gd name="T9" fmla="*/ 860 h 1527"/>
                  <a:gd name="T10" fmla="*/ 1411 w 2400"/>
                  <a:gd name="T11" fmla="*/ 306 h 1527"/>
                  <a:gd name="T12" fmla="*/ 2350 w 2400"/>
                  <a:gd name="T13" fmla="*/ 860 h 1527"/>
                  <a:gd name="T14" fmla="*/ 2087 w 2400"/>
                  <a:gd name="T15" fmla="*/ 1244 h 1527"/>
                  <a:gd name="T16" fmla="*/ 2098 w 2400"/>
                  <a:gd name="T17" fmla="*/ 1265 h 1527"/>
                  <a:gd name="T18" fmla="*/ 2106 w 2400"/>
                  <a:gd name="T19" fmla="*/ 1283 h 1527"/>
                  <a:gd name="T20" fmla="*/ 2400 w 2400"/>
                  <a:gd name="T21" fmla="*/ 775 h 1527"/>
                  <a:gd name="T22" fmla="*/ 1200 w 2400"/>
                  <a:gd name="T23" fmla="*/ 0 h 1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00" h="1527">
                    <a:moveTo>
                      <a:pt x="1200" y="0"/>
                    </a:moveTo>
                    <a:cubicBezTo>
                      <a:pt x="537" y="0"/>
                      <a:pt x="0" y="347"/>
                      <a:pt x="0" y="775"/>
                    </a:cubicBezTo>
                    <a:cubicBezTo>
                      <a:pt x="0" y="1139"/>
                      <a:pt x="388" y="1444"/>
                      <a:pt x="911" y="1527"/>
                    </a:cubicBezTo>
                    <a:cubicBezTo>
                      <a:pt x="911" y="1329"/>
                      <a:pt x="911" y="1329"/>
                      <a:pt x="911" y="1329"/>
                    </a:cubicBezTo>
                    <a:cubicBezTo>
                      <a:pt x="647" y="1231"/>
                      <a:pt x="472" y="1058"/>
                      <a:pt x="472" y="860"/>
                    </a:cubicBezTo>
                    <a:cubicBezTo>
                      <a:pt x="472" y="554"/>
                      <a:pt x="892" y="306"/>
                      <a:pt x="1411" y="306"/>
                    </a:cubicBezTo>
                    <a:cubicBezTo>
                      <a:pt x="1930" y="306"/>
                      <a:pt x="2350" y="554"/>
                      <a:pt x="2350" y="860"/>
                    </a:cubicBezTo>
                    <a:cubicBezTo>
                      <a:pt x="2350" y="1009"/>
                      <a:pt x="2250" y="1145"/>
                      <a:pt x="2087" y="1244"/>
                    </a:cubicBezTo>
                    <a:cubicBezTo>
                      <a:pt x="2093" y="1254"/>
                      <a:pt x="2096" y="1262"/>
                      <a:pt x="2098" y="1265"/>
                    </a:cubicBezTo>
                    <a:cubicBezTo>
                      <a:pt x="2101" y="1271"/>
                      <a:pt x="2104" y="1277"/>
                      <a:pt x="2106" y="1283"/>
                    </a:cubicBezTo>
                    <a:cubicBezTo>
                      <a:pt x="2289" y="1147"/>
                      <a:pt x="2400" y="969"/>
                      <a:pt x="2400" y="775"/>
                    </a:cubicBezTo>
                    <a:cubicBezTo>
                      <a:pt x="2400" y="347"/>
                      <a:pt x="1863" y="0"/>
                      <a:pt x="120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0" name="Freeform 6"/>
              <p:cNvSpPr>
                <a:spLocks/>
              </p:cNvSpPr>
              <p:nvPr/>
            </p:nvSpPr>
            <p:spPr bwMode="auto">
              <a:xfrm>
                <a:off x="2383" y="2440"/>
                <a:ext cx="197" cy="90"/>
              </a:xfrm>
              <a:custGeom>
                <a:avLst/>
                <a:gdLst>
                  <a:gd name="T0" fmla="*/ 303 w 329"/>
                  <a:gd name="T1" fmla="*/ 0 h 150"/>
                  <a:gd name="T2" fmla="*/ 45 w 329"/>
                  <a:gd name="T3" fmla="*/ 21 h 150"/>
                  <a:gd name="T4" fmla="*/ 0 w 329"/>
                  <a:gd name="T5" fmla="*/ 20 h 150"/>
                  <a:gd name="T6" fmla="*/ 0 w 329"/>
                  <a:gd name="T7" fmla="*/ 150 h 150"/>
                  <a:gd name="T8" fmla="*/ 329 w 329"/>
                  <a:gd name="T9" fmla="*/ 88 h 150"/>
                  <a:gd name="T10" fmla="*/ 323 w 329"/>
                  <a:gd name="T11" fmla="*/ 33 h 150"/>
                  <a:gd name="T12" fmla="*/ 303 w 329"/>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329" h="150">
                    <a:moveTo>
                      <a:pt x="303" y="0"/>
                    </a:moveTo>
                    <a:cubicBezTo>
                      <a:pt x="221" y="14"/>
                      <a:pt x="135" y="21"/>
                      <a:pt x="45" y="21"/>
                    </a:cubicBezTo>
                    <a:cubicBezTo>
                      <a:pt x="30" y="21"/>
                      <a:pt x="15" y="21"/>
                      <a:pt x="0" y="20"/>
                    </a:cubicBezTo>
                    <a:cubicBezTo>
                      <a:pt x="0" y="150"/>
                      <a:pt x="0" y="150"/>
                      <a:pt x="0" y="150"/>
                    </a:cubicBezTo>
                    <a:cubicBezTo>
                      <a:pt x="116" y="139"/>
                      <a:pt x="226" y="118"/>
                      <a:pt x="329" y="88"/>
                    </a:cubicBezTo>
                    <a:cubicBezTo>
                      <a:pt x="327" y="64"/>
                      <a:pt x="325" y="42"/>
                      <a:pt x="323" y="33"/>
                    </a:cubicBezTo>
                    <a:cubicBezTo>
                      <a:pt x="317" y="22"/>
                      <a:pt x="310" y="11"/>
                      <a:pt x="30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1" name="Freeform 7"/>
              <p:cNvSpPr>
                <a:spLocks noEditPoints="1"/>
              </p:cNvSpPr>
              <p:nvPr/>
            </p:nvSpPr>
            <p:spPr bwMode="auto">
              <a:xfrm>
                <a:off x="2144" y="1875"/>
                <a:ext cx="705" cy="791"/>
              </a:xfrm>
              <a:custGeom>
                <a:avLst/>
                <a:gdLst>
                  <a:gd name="T0" fmla="*/ 1087 w 1176"/>
                  <a:gd name="T1" fmla="*/ 853 h 1320"/>
                  <a:gd name="T2" fmla="*/ 1085 w 1176"/>
                  <a:gd name="T3" fmla="*/ 848 h 1320"/>
                  <a:gd name="T4" fmla="*/ 1082 w 1176"/>
                  <a:gd name="T5" fmla="*/ 842 h 1320"/>
                  <a:gd name="T6" fmla="*/ 1082 w 1176"/>
                  <a:gd name="T7" fmla="*/ 842 h 1320"/>
                  <a:gd name="T8" fmla="*/ 925 w 1176"/>
                  <a:gd name="T9" fmla="*/ 705 h 1320"/>
                  <a:gd name="T10" fmla="*/ 777 w 1176"/>
                  <a:gd name="T11" fmla="*/ 0 h 1320"/>
                  <a:gd name="T12" fmla="*/ 0 w 1176"/>
                  <a:gd name="T13" fmla="*/ 898 h 1320"/>
                  <a:gd name="T14" fmla="*/ 0 w 1176"/>
                  <a:gd name="T15" fmla="*/ 1320 h 1320"/>
                  <a:gd name="T16" fmla="*/ 343 w 1176"/>
                  <a:gd name="T17" fmla="*/ 1097 h 1320"/>
                  <a:gd name="T18" fmla="*/ 343 w 1176"/>
                  <a:gd name="T19" fmla="*/ 835 h 1320"/>
                  <a:gd name="T20" fmla="*/ 706 w 1176"/>
                  <a:gd name="T21" fmla="*/ 860 h 1320"/>
                  <a:gd name="T22" fmla="*/ 771 w 1176"/>
                  <a:gd name="T23" fmla="*/ 950 h 1320"/>
                  <a:gd name="T24" fmla="*/ 774 w 1176"/>
                  <a:gd name="T25" fmla="*/ 955 h 1320"/>
                  <a:gd name="T26" fmla="*/ 775 w 1176"/>
                  <a:gd name="T27" fmla="*/ 957 h 1320"/>
                  <a:gd name="T28" fmla="*/ 775 w 1176"/>
                  <a:gd name="T29" fmla="*/ 959 h 1320"/>
                  <a:gd name="T30" fmla="*/ 776 w 1176"/>
                  <a:gd name="T31" fmla="*/ 962 h 1320"/>
                  <a:gd name="T32" fmla="*/ 777 w 1176"/>
                  <a:gd name="T33" fmla="*/ 964 h 1320"/>
                  <a:gd name="T34" fmla="*/ 777 w 1176"/>
                  <a:gd name="T35" fmla="*/ 967 h 1320"/>
                  <a:gd name="T36" fmla="*/ 778 w 1176"/>
                  <a:gd name="T37" fmla="*/ 971 h 1320"/>
                  <a:gd name="T38" fmla="*/ 778 w 1176"/>
                  <a:gd name="T39" fmla="*/ 974 h 1320"/>
                  <a:gd name="T40" fmla="*/ 779 w 1176"/>
                  <a:gd name="T41" fmla="*/ 978 h 1320"/>
                  <a:gd name="T42" fmla="*/ 779 w 1176"/>
                  <a:gd name="T43" fmla="*/ 983 h 1320"/>
                  <a:gd name="T44" fmla="*/ 780 w 1176"/>
                  <a:gd name="T45" fmla="*/ 987 h 1320"/>
                  <a:gd name="T46" fmla="*/ 780 w 1176"/>
                  <a:gd name="T47" fmla="*/ 992 h 1320"/>
                  <a:gd name="T48" fmla="*/ 781 w 1176"/>
                  <a:gd name="T49" fmla="*/ 997 h 1320"/>
                  <a:gd name="T50" fmla="*/ 781 w 1176"/>
                  <a:gd name="T51" fmla="*/ 1003 h 1320"/>
                  <a:gd name="T52" fmla="*/ 783 w 1176"/>
                  <a:gd name="T53" fmla="*/ 1014 h 1320"/>
                  <a:gd name="T54" fmla="*/ 1176 w 1176"/>
                  <a:gd name="T55" fmla="*/ 1320 h 1320"/>
                  <a:gd name="T56" fmla="*/ 1089 w 1176"/>
                  <a:gd name="T57" fmla="*/ 859 h 1320"/>
                  <a:gd name="T58" fmla="*/ 344 w 1176"/>
                  <a:gd name="T59" fmla="*/ 567 h 1320"/>
                  <a:gd name="T60" fmla="*/ 647 w 1176"/>
                  <a:gd name="T61" fmla="*/ 286 h 1320"/>
                  <a:gd name="T62" fmla="*/ 647 w 1176"/>
                  <a:gd name="T63" fmla="*/ 567 h 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76" h="1320">
                    <a:moveTo>
                      <a:pt x="1089" y="859"/>
                    </a:moveTo>
                    <a:cubicBezTo>
                      <a:pt x="1088" y="857"/>
                      <a:pt x="1088" y="855"/>
                      <a:pt x="1087" y="853"/>
                    </a:cubicBezTo>
                    <a:cubicBezTo>
                      <a:pt x="1087" y="853"/>
                      <a:pt x="1087" y="853"/>
                      <a:pt x="1087" y="853"/>
                    </a:cubicBezTo>
                    <a:cubicBezTo>
                      <a:pt x="1086" y="851"/>
                      <a:pt x="1086" y="849"/>
                      <a:pt x="1085" y="848"/>
                    </a:cubicBezTo>
                    <a:cubicBezTo>
                      <a:pt x="1085" y="847"/>
                      <a:pt x="1084" y="847"/>
                      <a:pt x="1084" y="846"/>
                    </a:cubicBezTo>
                    <a:cubicBezTo>
                      <a:pt x="1084" y="845"/>
                      <a:pt x="1083" y="843"/>
                      <a:pt x="1082" y="842"/>
                    </a:cubicBezTo>
                    <a:cubicBezTo>
                      <a:pt x="1082" y="842"/>
                      <a:pt x="1082" y="842"/>
                      <a:pt x="1082" y="842"/>
                    </a:cubicBezTo>
                    <a:cubicBezTo>
                      <a:pt x="1082" y="842"/>
                      <a:pt x="1082" y="842"/>
                      <a:pt x="1082" y="842"/>
                    </a:cubicBezTo>
                    <a:cubicBezTo>
                      <a:pt x="1079" y="837"/>
                      <a:pt x="1051" y="780"/>
                      <a:pt x="1021" y="752"/>
                    </a:cubicBezTo>
                    <a:cubicBezTo>
                      <a:pt x="989" y="723"/>
                      <a:pt x="925" y="705"/>
                      <a:pt x="925" y="705"/>
                    </a:cubicBezTo>
                    <a:cubicBezTo>
                      <a:pt x="925" y="705"/>
                      <a:pt x="1131" y="702"/>
                      <a:pt x="1131" y="355"/>
                    </a:cubicBezTo>
                    <a:cubicBezTo>
                      <a:pt x="1131" y="7"/>
                      <a:pt x="777" y="0"/>
                      <a:pt x="777" y="0"/>
                    </a:cubicBezTo>
                    <a:cubicBezTo>
                      <a:pt x="777" y="0"/>
                      <a:pt x="777" y="0"/>
                      <a:pt x="0" y="0"/>
                    </a:cubicBezTo>
                    <a:cubicBezTo>
                      <a:pt x="0" y="0"/>
                      <a:pt x="0" y="0"/>
                      <a:pt x="0" y="898"/>
                    </a:cubicBezTo>
                    <a:cubicBezTo>
                      <a:pt x="0" y="957"/>
                      <a:pt x="0" y="1019"/>
                      <a:pt x="0" y="1085"/>
                    </a:cubicBezTo>
                    <a:cubicBezTo>
                      <a:pt x="0" y="1159"/>
                      <a:pt x="0" y="1237"/>
                      <a:pt x="0" y="1320"/>
                    </a:cubicBezTo>
                    <a:cubicBezTo>
                      <a:pt x="0" y="1320"/>
                      <a:pt x="0" y="1320"/>
                      <a:pt x="343" y="1320"/>
                    </a:cubicBezTo>
                    <a:cubicBezTo>
                      <a:pt x="343" y="1320"/>
                      <a:pt x="343" y="1320"/>
                      <a:pt x="343" y="1097"/>
                    </a:cubicBezTo>
                    <a:cubicBezTo>
                      <a:pt x="343" y="1058"/>
                      <a:pt x="343" y="1013"/>
                      <a:pt x="343" y="961"/>
                    </a:cubicBezTo>
                    <a:cubicBezTo>
                      <a:pt x="343" y="923"/>
                      <a:pt x="343" y="881"/>
                      <a:pt x="343" y="835"/>
                    </a:cubicBezTo>
                    <a:cubicBezTo>
                      <a:pt x="343" y="835"/>
                      <a:pt x="628" y="835"/>
                      <a:pt x="642" y="835"/>
                    </a:cubicBezTo>
                    <a:cubicBezTo>
                      <a:pt x="664" y="835"/>
                      <a:pt x="685" y="842"/>
                      <a:pt x="706" y="860"/>
                    </a:cubicBezTo>
                    <a:cubicBezTo>
                      <a:pt x="725" y="875"/>
                      <a:pt x="746" y="907"/>
                      <a:pt x="761" y="932"/>
                    </a:cubicBezTo>
                    <a:cubicBezTo>
                      <a:pt x="765" y="938"/>
                      <a:pt x="768" y="944"/>
                      <a:pt x="771" y="950"/>
                    </a:cubicBezTo>
                    <a:cubicBezTo>
                      <a:pt x="771" y="950"/>
                      <a:pt x="771" y="950"/>
                      <a:pt x="771" y="950"/>
                    </a:cubicBezTo>
                    <a:cubicBezTo>
                      <a:pt x="772" y="952"/>
                      <a:pt x="773" y="953"/>
                      <a:pt x="774" y="955"/>
                    </a:cubicBezTo>
                    <a:cubicBezTo>
                      <a:pt x="774" y="955"/>
                      <a:pt x="774" y="956"/>
                      <a:pt x="775" y="956"/>
                    </a:cubicBezTo>
                    <a:cubicBezTo>
                      <a:pt x="775" y="957"/>
                      <a:pt x="775" y="957"/>
                      <a:pt x="775" y="957"/>
                    </a:cubicBezTo>
                    <a:cubicBezTo>
                      <a:pt x="775" y="957"/>
                      <a:pt x="775" y="958"/>
                      <a:pt x="775" y="958"/>
                    </a:cubicBezTo>
                    <a:cubicBezTo>
                      <a:pt x="775" y="958"/>
                      <a:pt x="775" y="959"/>
                      <a:pt x="775" y="959"/>
                    </a:cubicBezTo>
                    <a:cubicBezTo>
                      <a:pt x="775" y="959"/>
                      <a:pt x="776" y="960"/>
                      <a:pt x="776" y="960"/>
                    </a:cubicBezTo>
                    <a:cubicBezTo>
                      <a:pt x="776" y="961"/>
                      <a:pt x="776" y="961"/>
                      <a:pt x="776" y="962"/>
                    </a:cubicBezTo>
                    <a:cubicBezTo>
                      <a:pt x="776" y="962"/>
                      <a:pt x="776" y="962"/>
                      <a:pt x="776" y="963"/>
                    </a:cubicBezTo>
                    <a:cubicBezTo>
                      <a:pt x="776" y="963"/>
                      <a:pt x="776" y="964"/>
                      <a:pt x="777" y="964"/>
                    </a:cubicBezTo>
                    <a:cubicBezTo>
                      <a:pt x="777" y="965"/>
                      <a:pt x="777" y="965"/>
                      <a:pt x="777" y="965"/>
                    </a:cubicBezTo>
                    <a:cubicBezTo>
                      <a:pt x="777" y="966"/>
                      <a:pt x="777" y="967"/>
                      <a:pt x="777" y="967"/>
                    </a:cubicBezTo>
                    <a:cubicBezTo>
                      <a:pt x="777" y="968"/>
                      <a:pt x="777" y="968"/>
                      <a:pt x="777" y="968"/>
                    </a:cubicBezTo>
                    <a:cubicBezTo>
                      <a:pt x="777" y="969"/>
                      <a:pt x="777" y="970"/>
                      <a:pt x="778" y="971"/>
                    </a:cubicBezTo>
                    <a:cubicBezTo>
                      <a:pt x="778" y="971"/>
                      <a:pt x="778" y="971"/>
                      <a:pt x="778" y="972"/>
                    </a:cubicBezTo>
                    <a:cubicBezTo>
                      <a:pt x="778" y="973"/>
                      <a:pt x="778" y="974"/>
                      <a:pt x="778" y="974"/>
                    </a:cubicBezTo>
                    <a:cubicBezTo>
                      <a:pt x="778" y="975"/>
                      <a:pt x="778" y="975"/>
                      <a:pt x="778" y="975"/>
                    </a:cubicBezTo>
                    <a:cubicBezTo>
                      <a:pt x="778" y="976"/>
                      <a:pt x="779" y="977"/>
                      <a:pt x="779" y="978"/>
                    </a:cubicBezTo>
                    <a:cubicBezTo>
                      <a:pt x="779" y="979"/>
                      <a:pt x="779" y="979"/>
                      <a:pt x="779" y="979"/>
                    </a:cubicBezTo>
                    <a:cubicBezTo>
                      <a:pt x="779" y="981"/>
                      <a:pt x="779" y="982"/>
                      <a:pt x="779" y="983"/>
                    </a:cubicBezTo>
                    <a:cubicBezTo>
                      <a:pt x="779" y="983"/>
                      <a:pt x="779" y="983"/>
                      <a:pt x="779" y="984"/>
                    </a:cubicBezTo>
                    <a:cubicBezTo>
                      <a:pt x="780" y="985"/>
                      <a:pt x="780" y="986"/>
                      <a:pt x="780" y="987"/>
                    </a:cubicBezTo>
                    <a:cubicBezTo>
                      <a:pt x="780" y="988"/>
                      <a:pt x="780" y="988"/>
                      <a:pt x="780" y="988"/>
                    </a:cubicBezTo>
                    <a:cubicBezTo>
                      <a:pt x="780" y="989"/>
                      <a:pt x="780" y="991"/>
                      <a:pt x="780" y="992"/>
                    </a:cubicBezTo>
                    <a:cubicBezTo>
                      <a:pt x="780" y="992"/>
                      <a:pt x="780" y="993"/>
                      <a:pt x="780" y="993"/>
                    </a:cubicBezTo>
                    <a:cubicBezTo>
                      <a:pt x="781" y="994"/>
                      <a:pt x="781" y="996"/>
                      <a:pt x="781" y="997"/>
                    </a:cubicBezTo>
                    <a:cubicBezTo>
                      <a:pt x="781" y="997"/>
                      <a:pt x="781" y="998"/>
                      <a:pt x="781" y="998"/>
                    </a:cubicBezTo>
                    <a:cubicBezTo>
                      <a:pt x="781" y="1000"/>
                      <a:pt x="781" y="1001"/>
                      <a:pt x="781" y="1003"/>
                    </a:cubicBezTo>
                    <a:cubicBezTo>
                      <a:pt x="781" y="1003"/>
                      <a:pt x="781" y="1003"/>
                      <a:pt x="781" y="1003"/>
                    </a:cubicBezTo>
                    <a:cubicBezTo>
                      <a:pt x="782" y="1007"/>
                      <a:pt x="782" y="1010"/>
                      <a:pt x="783" y="1014"/>
                    </a:cubicBezTo>
                    <a:cubicBezTo>
                      <a:pt x="791" y="1108"/>
                      <a:pt x="802" y="1282"/>
                      <a:pt x="826" y="1320"/>
                    </a:cubicBezTo>
                    <a:cubicBezTo>
                      <a:pt x="826" y="1320"/>
                      <a:pt x="826" y="1320"/>
                      <a:pt x="1176" y="1320"/>
                    </a:cubicBezTo>
                    <a:cubicBezTo>
                      <a:pt x="1098" y="1243"/>
                      <a:pt x="1116" y="952"/>
                      <a:pt x="1089" y="860"/>
                    </a:cubicBezTo>
                    <a:cubicBezTo>
                      <a:pt x="1089" y="860"/>
                      <a:pt x="1089" y="859"/>
                      <a:pt x="1089" y="859"/>
                    </a:cubicBezTo>
                    <a:close/>
                    <a:moveTo>
                      <a:pt x="647" y="567"/>
                    </a:moveTo>
                    <a:cubicBezTo>
                      <a:pt x="647" y="567"/>
                      <a:pt x="647" y="567"/>
                      <a:pt x="344" y="567"/>
                    </a:cubicBezTo>
                    <a:cubicBezTo>
                      <a:pt x="344" y="567"/>
                      <a:pt x="344" y="567"/>
                      <a:pt x="344" y="286"/>
                    </a:cubicBezTo>
                    <a:cubicBezTo>
                      <a:pt x="344" y="286"/>
                      <a:pt x="344" y="286"/>
                      <a:pt x="647" y="286"/>
                    </a:cubicBezTo>
                    <a:cubicBezTo>
                      <a:pt x="647" y="286"/>
                      <a:pt x="788" y="279"/>
                      <a:pt x="788" y="424"/>
                    </a:cubicBezTo>
                    <a:cubicBezTo>
                      <a:pt x="788" y="566"/>
                      <a:pt x="647" y="567"/>
                      <a:pt x="647" y="5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47" tIns="46623" rIns="93247" bIns="46623"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Semilight"/>
                  <a:ea typeface="+mn-ea"/>
                  <a:cs typeface="+mn-cs"/>
                </a:endParaRPr>
              </a:p>
            </p:txBody>
          </p:sp>
        </p:grpSp>
        <p:grpSp>
          <p:nvGrpSpPr>
            <p:cNvPr id="87" name="Group 86">
              <a:extLst>
                <a:ext uri="{FF2B5EF4-FFF2-40B4-BE49-F238E27FC236}">
                  <a16:creationId xmlns:a16="http://schemas.microsoft.com/office/drawing/2014/main" id="{E07BFDDF-BB02-40EE-BC16-EB609499394D}"/>
                </a:ext>
              </a:extLst>
            </p:cNvPr>
            <p:cNvGrpSpPr/>
            <p:nvPr/>
          </p:nvGrpSpPr>
          <p:grpSpPr>
            <a:xfrm>
              <a:off x="2390867" y="3942828"/>
              <a:ext cx="1129638" cy="1129636"/>
              <a:chOff x="350389" y="3848398"/>
              <a:chExt cx="1129798" cy="1129797"/>
            </a:xfrm>
          </p:grpSpPr>
          <p:pic>
            <p:nvPicPr>
              <p:cNvPr id="88" name="Graphic 87" descr="Puzzle">
                <a:extLst>
                  <a:ext uri="{FF2B5EF4-FFF2-40B4-BE49-F238E27FC236}">
                    <a16:creationId xmlns:a16="http://schemas.microsoft.com/office/drawing/2014/main" id="{DF5D726E-C3DB-4E08-BB24-F9CBCFEDDB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700000">
                <a:off x="350389" y="3848398"/>
                <a:ext cx="1129797" cy="1129798"/>
              </a:xfrm>
              <a:prstGeom prst="rect">
                <a:avLst/>
              </a:prstGeom>
            </p:spPr>
          </p:pic>
          <p:sp>
            <p:nvSpPr>
              <p:cNvPr id="89" name="Rectangle 88">
                <a:extLst>
                  <a:ext uri="{FF2B5EF4-FFF2-40B4-BE49-F238E27FC236}">
                    <a16:creationId xmlns:a16="http://schemas.microsoft.com/office/drawing/2014/main" id="{3F7FCE82-B863-4FD3-A306-439B01D7B5D6}"/>
                  </a:ext>
                </a:extLst>
              </p:cNvPr>
              <p:cNvSpPr/>
              <p:nvPr/>
            </p:nvSpPr>
            <p:spPr bwMode="auto">
              <a:xfrm>
                <a:off x="633619" y="4011399"/>
                <a:ext cx="591024" cy="767475"/>
              </a:xfrm>
              <a:prstGeom prst="rect">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pic>
          <p:nvPicPr>
            <p:cNvPr id="1026" name="Picture 2" descr="Bildresultat för python language">
              <a:extLst>
                <a:ext uri="{FF2B5EF4-FFF2-40B4-BE49-F238E27FC236}">
                  <a16:creationId xmlns:a16="http://schemas.microsoft.com/office/drawing/2014/main" id="{1BC1FEF2-8E8B-4ED0-A791-332BACFE78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8528" y="4222422"/>
              <a:ext cx="534134" cy="53413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70725996"/>
      </p:ext>
    </p:extLst>
  </p:cSld>
  <p:clrMapOvr>
    <a:masterClrMapping/>
  </p:clrMapOvr>
  <mc:AlternateContent xmlns:mc="http://schemas.openxmlformats.org/markup-compatibility/2006" xmlns:p14="http://schemas.microsoft.com/office/powerpoint/2010/main">
    <mc:Choice Requires="p14">
      <p:transition p14:dur="0"/>
    </mc:Choice>
    <mc:Fallback>
      <p:transition spd="med">
        <p:fade/>
      </p:transition>
    </mc:Fallback>
  </mc:AlternateContent>
</p:sld>
</file>

<file path=ppt/slides/slide36.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B4437-D57C-449E-A9C6-0B94EF79732A}"/>
              </a:ext>
            </a:extLst>
          </p:cNvPr>
          <p:cNvSpPr>
            <a:spLocks noGrp="1"/>
          </p:cNvSpPr>
          <p:nvPr>
            <p:ph type="title"/>
          </p:nvPr>
        </p:nvSpPr>
        <p:spPr>
          <a:xfrm>
            <a:off x="274639" y="295274"/>
            <a:ext cx="12342234" cy="917575"/>
          </a:xfrm>
        </p:spPr>
        <p:txBody>
          <a:bodyPr/>
          <a:lstStyle/>
          <a:p>
            <a:r>
              <a:rPr lang="en-US" dirty="0"/>
              <a:t>Ways of executing R/Python scripts on server</a:t>
            </a:r>
          </a:p>
        </p:txBody>
      </p:sp>
      <p:sp>
        <p:nvSpPr>
          <p:cNvPr id="3" name="Text Placeholder 2">
            <a:extLst>
              <a:ext uri="{FF2B5EF4-FFF2-40B4-BE49-F238E27FC236}">
                <a16:creationId xmlns:a16="http://schemas.microsoft.com/office/drawing/2014/main" id="{CD3DC2BF-05CF-47C5-924C-D931A87DC945}"/>
              </a:ext>
            </a:extLst>
          </p:cNvPr>
          <p:cNvSpPr>
            <a:spLocks noGrp="1"/>
          </p:cNvSpPr>
          <p:nvPr>
            <p:ph type="body" sz="quarter" idx="10"/>
          </p:nvPr>
        </p:nvSpPr>
        <p:spPr>
          <a:xfrm>
            <a:off x="501362" y="1342782"/>
            <a:ext cx="11888787" cy="1169551"/>
          </a:xfrm>
        </p:spPr>
        <p:txBody>
          <a:bodyPr/>
          <a:lstStyle/>
          <a:p>
            <a:pPr marL="742950" indent="-742950">
              <a:buAutoNum type="arabicPeriod"/>
            </a:pPr>
            <a:r>
              <a:rPr lang="en-US" sz="3200" dirty="0"/>
              <a:t>From Client IDE</a:t>
            </a:r>
          </a:p>
          <a:p>
            <a:pPr marL="742950" indent="-742950">
              <a:buAutoNum type="arabicPeriod"/>
            </a:pPr>
            <a:r>
              <a:rPr lang="en-US" sz="3200" dirty="0"/>
              <a:t>From stored procedure (</a:t>
            </a:r>
            <a:r>
              <a:rPr lang="en-US" sz="3200" dirty="0" err="1"/>
              <a:t>sp_execute_external_script</a:t>
            </a:r>
            <a:r>
              <a:rPr lang="en-US" sz="3200" dirty="0"/>
              <a:t>)</a:t>
            </a:r>
          </a:p>
        </p:txBody>
      </p:sp>
      <p:sp>
        <p:nvSpPr>
          <p:cNvPr id="6" name="TextBox 5">
            <a:extLst>
              <a:ext uri="{FF2B5EF4-FFF2-40B4-BE49-F238E27FC236}">
                <a16:creationId xmlns:a16="http://schemas.microsoft.com/office/drawing/2014/main" id="{F9C69654-ADC4-4E0B-95F1-D9EAEBEEF124}"/>
              </a:ext>
            </a:extLst>
          </p:cNvPr>
          <p:cNvSpPr txBox="1"/>
          <p:nvPr/>
        </p:nvSpPr>
        <p:spPr>
          <a:xfrm>
            <a:off x="5023761" y="5784823"/>
            <a:ext cx="2403095" cy="435417"/>
          </a:xfrm>
          <a:prstGeom prst="rect">
            <a:avLst/>
          </a:prstGeom>
          <a:noFill/>
        </p:spPr>
        <p:txBody>
          <a:bodyPr wrap="square" rtlCol="0">
            <a:spAutoFit/>
          </a:bodyPr>
          <a:lstStyle/>
          <a:p>
            <a:pPr marL="0" marR="0" lvl="0" indent="0" algn="l" defTabSz="932239" rtl="0" eaLnBrk="1" fontAlgn="auto" latinLnBrk="0" hangingPunct="1">
              <a:lnSpc>
                <a:spcPct val="100000"/>
              </a:lnSpc>
              <a:spcBef>
                <a:spcPts val="0"/>
              </a:spcBef>
              <a:spcAft>
                <a:spcPts val="0"/>
              </a:spcAft>
              <a:buClrTx/>
              <a:buSzTx/>
              <a:buFontTx/>
              <a:buNone/>
              <a:tabLst/>
              <a:defRPr/>
            </a:pPr>
            <a:r>
              <a:rPr kumimoji="0" lang="en-US" sz="2173" b="0" i="0" u="none" strike="noStrike" kern="1200" cap="none" spc="0" normalizeH="0" baseline="0" noProof="0" dirty="0">
                <a:ln>
                  <a:noFill/>
                </a:ln>
                <a:solidFill>
                  <a:srgbClr val="FFFFFF">
                    <a:lumMod val="95000"/>
                  </a:srgbClr>
                </a:solidFill>
                <a:effectLst/>
                <a:uLnTx/>
                <a:uFillTx/>
                <a:latin typeface="Segoe UI"/>
                <a:ea typeface="+mn-ea"/>
                <a:cs typeface="+mn-cs"/>
              </a:rPr>
              <a:t>SQL Server</a:t>
            </a:r>
          </a:p>
        </p:txBody>
      </p:sp>
      <p:sp>
        <p:nvSpPr>
          <p:cNvPr id="10" name="Flowchart: Magnetic Disk 9">
            <a:extLst>
              <a:ext uri="{FF2B5EF4-FFF2-40B4-BE49-F238E27FC236}">
                <a16:creationId xmlns:a16="http://schemas.microsoft.com/office/drawing/2014/main" id="{29A5D5DD-0119-46C7-A317-7DF1B9FB77DA}"/>
              </a:ext>
            </a:extLst>
          </p:cNvPr>
          <p:cNvSpPr/>
          <p:nvPr/>
        </p:nvSpPr>
        <p:spPr bwMode="auto">
          <a:xfrm>
            <a:off x="5119150" y="4545301"/>
            <a:ext cx="1106159" cy="1169551"/>
          </a:xfrm>
          <a:prstGeom prst="flowChartMagneticDisk">
            <a:avLst/>
          </a:prstGeom>
          <a:ln>
            <a:headEnd type="none" w="med" len="med"/>
            <a:tailEnd type="none" w="med" len="med"/>
          </a:ln>
        </p:spPr>
        <p:style>
          <a:lnRef idx="1">
            <a:schemeClr val="accent1"/>
          </a:lnRef>
          <a:fillRef idx="1002">
            <a:schemeClr val="dk2"/>
          </a:fillRef>
          <a:effectRef idx="1">
            <a:schemeClr val="accent1"/>
          </a:effectRef>
          <a:fontRef idx="minor">
            <a:schemeClr val="dk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ctr" defTabSz="951028"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pic>
        <p:nvPicPr>
          <p:cNvPr id="11" name="Picture 10">
            <a:extLst>
              <a:ext uri="{FF2B5EF4-FFF2-40B4-BE49-F238E27FC236}">
                <a16:creationId xmlns:a16="http://schemas.microsoft.com/office/drawing/2014/main" id="{FEF7544C-5B95-41E2-ABFD-F7C5145B1AD2}"/>
              </a:ext>
            </a:extLst>
          </p:cNvPr>
          <p:cNvPicPr>
            <a:picLocks noChangeAspect="1"/>
          </p:cNvPicPr>
          <p:nvPr/>
        </p:nvPicPr>
        <p:blipFill>
          <a:blip r:embed="rId3"/>
          <a:stretch>
            <a:fillRect/>
          </a:stretch>
        </p:blipFill>
        <p:spPr>
          <a:xfrm>
            <a:off x="1644071" y="3441261"/>
            <a:ext cx="1600095" cy="1187168"/>
          </a:xfrm>
          <a:prstGeom prst="rect">
            <a:avLst/>
          </a:prstGeom>
        </p:spPr>
      </p:pic>
      <p:cxnSp>
        <p:nvCxnSpPr>
          <p:cNvPr id="13" name="Connector: Elbow 12">
            <a:extLst>
              <a:ext uri="{FF2B5EF4-FFF2-40B4-BE49-F238E27FC236}">
                <a16:creationId xmlns:a16="http://schemas.microsoft.com/office/drawing/2014/main" id="{A8937EDE-5D1E-49A2-A2C1-1A2F1C6D8E9F}"/>
              </a:ext>
            </a:extLst>
          </p:cNvPr>
          <p:cNvCxnSpPr>
            <a:cxnSpLocks/>
            <a:stCxn id="11" idx="2"/>
            <a:endCxn id="10" idx="2"/>
          </p:cNvCxnSpPr>
          <p:nvPr/>
        </p:nvCxnSpPr>
        <p:spPr>
          <a:xfrm rot="16200000" flipH="1">
            <a:off x="3530810" y="3541737"/>
            <a:ext cx="501648" cy="2675031"/>
          </a:xfrm>
          <a:prstGeom prst="bent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4CA02D3-FFCC-4D2F-B185-9E6D90621E97}"/>
              </a:ext>
            </a:extLst>
          </p:cNvPr>
          <p:cNvSpPr txBox="1"/>
          <p:nvPr/>
        </p:nvSpPr>
        <p:spPr>
          <a:xfrm>
            <a:off x="188484" y="3574473"/>
            <a:ext cx="1868197" cy="954107"/>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1.Client</a:t>
            </a:r>
          </a:p>
          <a:p>
            <a:pPr marL="0" marR="0" lvl="0" indent="0" algn="l" defTabSz="932742"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endParaRPr>
          </a:p>
        </p:txBody>
      </p:sp>
      <p:cxnSp>
        <p:nvCxnSpPr>
          <p:cNvPr id="24" name="Straight Arrow Connector 23">
            <a:extLst>
              <a:ext uri="{FF2B5EF4-FFF2-40B4-BE49-F238E27FC236}">
                <a16:creationId xmlns:a16="http://schemas.microsoft.com/office/drawing/2014/main" id="{C6FF9C1B-9B74-4710-B424-5C2555FF9DEA}"/>
              </a:ext>
            </a:extLst>
          </p:cNvPr>
          <p:cNvCxnSpPr>
            <a:cxnSpLocks/>
            <a:endCxn id="10" idx="4"/>
          </p:cNvCxnSpPr>
          <p:nvPr/>
        </p:nvCxnSpPr>
        <p:spPr>
          <a:xfrm flipH="1">
            <a:off x="6225309" y="5130077"/>
            <a:ext cx="1588655"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24CF70FA-6AC7-49CC-BAD9-D5E372D928A5}"/>
              </a:ext>
            </a:extLst>
          </p:cNvPr>
          <p:cNvPicPr>
            <a:picLocks noChangeAspect="1"/>
          </p:cNvPicPr>
          <p:nvPr/>
        </p:nvPicPr>
        <p:blipFill>
          <a:blip r:embed="rId4"/>
          <a:stretch>
            <a:fillRect/>
          </a:stretch>
        </p:blipFill>
        <p:spPr>
          <a:xfrm>
            <a:off x="7935690" y="4176805"/>
            <a:ext cx="2702487" cy="1825726"/>
          </a:xfrm>
          <a:prstGeom prst="rect">
            <a:avLst/>
          </a:prstGeom>
        </p:spPr>
      </p:pic>
      <p:sp>
        <p:nvSpPr>
          <p:cNvPr id="27" name="TextBox 26">
            <a:extLst>
              <a:ext uri="{FF2B5EF4-FFF2-40B4-BE49-F238E27FC236}">
                <a16:creationId xmlns:a16="http://schemas.microsoft.com/office/drawing/2014/main" id="{5676FF88-277C-437B-BF00-F403CE50E411}"/>
              </a:ext>
            </a:extLst>
          </p:cNvPr>
          <p:cNvSpPr txBox="1"/>
          <p:nvPr/>
        </p:nvSpPr>
        <p:spPr>
          <a:xfrm>
            <a:off x="7935690" y="3574473"/>
            <a:ext cx="3136545" cy="627864"/>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2. Stored procedure</a:t>
            </a:r>
          </a:p>
        </p:txBody>
      </p:sp>
      <p:sp>
        <p:nvSpPr>
          <p:cNvPr id="28" name="TextBox 27">
            <a:extLst>
              <a:ext uri="{FF2B5EF4-FFF2-40B4-BE49-F238E27FC236}">
                <a16:creationId xmlns:a16="http://schemas.microsoft.com/office/drawing/2014/main" id="{506ACB65-98B5-42BA-B88D-12C132D6E2D6}"/>
              </a:ext>
            </a:extLst>
          </p:cNvPr>
          <p:cNvSpPr txBox="1"/>
          <p:nvPr/>
        </p:nvSpPr>
        <p:spPr>
          <a:xfrm>
            <a:off x="2545444" y="5089668"/>
            <a:ext cx="2493819" cy="517065"/>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SQL Compute Context</a:t>
            </a:r>
          </a:p>
        </p:txBody>
      </p:sp>
    </p:spTree>
    <p:extLst>
      <p:ext uri="{BB962C8B-B14F-4D97-AF65-F5344CB8AC3E}">
        <p14:creationId xmlns:p14="http://schemas.microsoft.com/office/powerpoint/2010/main" val="1867618282"/>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37.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7" y="2125677"/>
            <a:ext cx="10885539" cy="1181862"/>
          </a:xfrm>
        </p:spPr>
        <p:txBody>
          <a:bodyPr/>
          <a:lstStyle/>
          <a:p>
            <a:r>
              <a:rPr lang="en-US" dirty="0"/>
              <a:t>Demo – 1MM scoring</a:t>
            </a:r>
          </a:p>
        </p:txBody>
      </p:sp>
      <p:sp>
        <p:nvSpPr>
          <p:cNvPr id="5" name="Text Placeholder 4">
            <a:extLst>
              <a:ext uri="{FF2B5EF4-FFF2-40B4-BE49-F238E27FC236}">
                <a16:creationId xmlns:a16="http://schemas.microsoft.com/office/drawing/2014/main" id="{86D90F6A-36C9-446F-B5CF-D74386BB828D}"/>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827897338"/>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38.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1A9CE-434B-4565-8B6A-4A89A108647D}"/>
              </a:ext>
            </a:extLst>
          </p:cNvPr>
          <p:cNvSpPr>
            <a:spLocks noGrp="1"/>
          </p:cNvSpPr>
          <p:nvPr>
            <p:ph type="title"/>
          </p:nvPr>
        </p:nvSpPr>
        <p:spPr/>
        <p:txBody>
          <a:bodyPr/>
          <a:lstStyle/>
          <a:p>
            <a:r>
              <a:rPr lang="en-US" dirty="0"/>
              <a:t>What is Machine Learning?</a:t>
            </a:r>
          </a:p>
        </p:txBody>
      </p:sp>
      <p:sp>
        <p:nvSpPr>
          <p:cNvPr id="3" name="Text Placeholder 2">
            <a:extLst>
              <a:ext uri="{FF2B5EF4-FFF2-40B4-BE49-F238E27FC236}">
                <a16:creationId xmlns:a16="http://schemas.microsoft.com/office/drawing/2014/main" id="{0E5D355B-7A1F-4326-B6F9-63CBB0A4F228}"/>
              </a:ext>
            </a:extLst>
          </p:cNvPr>
          <p:cNvSpPr>
            <a:spLocks noGrp="1"/>
          </p:cNvSpPr>
          <p:nvPr>
            <p:ph type="body" sz="quarter" idx="10"/>
          </p:nvPr>
        </p:nvSpPr>
        <p:spPr>
          <a:xfrm>
            <a:off x="274638" y="1212850"/>
            <a:ext cx="11888787" cy="5675400"/>
          </a:xfrm>
        </p:spPr>
        <p:txBody>
          <a:bodyPr/>
          <a:lstStyle/>
          <a:p>
            <a:pPr marL="571500" indent="-571500">
              <a:buFont typeface="Arial" panose="020B0604020202020204" pitchFamily="34" charset="0"/>
              <a:buChar char="•"/>
            </a:pPr>
            <a:r>
              <a:rPr lang="en-US" sz="4000" dirty="0"/>
              <a:t>Uses data mining and learning techniques to </a:t>
            </a:r>
            <a:r>
              <a:rPr lang="en-US" sz="4000" u="sng" dirty="0"/>
              <a:t>train</a:t>
            </a:r>
            <a:r>
              <a:rPr lang="en-US" sz="4000" dirty="0"/>
              <a:t> models using </a:t>
            </a:r>
            <a:r>
              <a:rPr lang="en-US" sz="4000" u="sng" dirty="0"/>
              <a:t>historical data</a:t>
            </a:r>
            <a:r>
              <a:rPr lang="en-US" sz="4000" dirty="0"/>
              <a:t> to </a:t>
            </a:r>
            <a:r>
              <a:rPr lang="en-US" sz="4000" u="sng" dirty="0"/>
              <a:t>predict future</a:t>
            </a:r>
            <a:r>
              <a:rPr lang="en-US" sz="4000" dirty="0"/>
              <a:t> outcomes</a:t>
            </a:r>
          </a:p>
          <a:p>
            <a:pPr marL="571500" indent="-571500">
              <a:buFont typeface="Arial" panose="020B0604020202020204" pitchFamily="34" charset="0"/>
              <a:buChar char="•"/>
            </a:pPr>
            <a:r>
              <a:rPr lang="en-US" sz="4000" dirty="0"/>
              <a:t>Examples</a:t>
            </a:r>
          </a:p>
          <a:p>
            <a:pPr marL="800100" lvl="1" indent="-571500">
              <a:buFont typeface="Arial" panose="020B0604020202020204" pitchFamily="34" charset="0"/>
              <a:buChar char="•"/>
            </a:pPr>
            <a:r>
              <a:rPr lang="en-US" sz="3200" dirty="0"/>
              <a:t>Predict store sales based on historical performance</a:t>
            </a:r>
          </a:p>
          <a:p>
            <a:pPr marL="800100" lvl="1" indent="-571500">
              <a:buFont typeface="Arial" panose="020B0604020202020204" pitchFamily="34" charset="0"/>
              <a:buChar char="•"/>
            </a:pPr>
            <a:r>
              <a:rPr lang="en-US" sz="3200" dirty="0"/>
              <a:t>Predict default of a loan based on loan/transaction history</a:t>
            </a:r>
          </a:p>
          <a:p>
            <a:pPr marL="800100" lvl="1" indent="-571500">
              <a:buFont typeface="Arial" panose="020B0604020202020204" pitchFamily="34" charset="0"/>
              <a:buChar char="•"/>
            </a:pPr>
            <a:r>
              <a:rPr lang="en-US" sz="3200" dirty="0"/>
              <a:t>Predict sentiment of a new tweet or review or call log</a:t>
            </a:r>
          </a:p>
          <a:p>
            <a:pPr marL="800100" lvl="1" indent="-571500">
              <a:buFont typeface="Arial" panose="020B0604020202020204" pitchFamily="34" charset="0"/>
              <a:buChar char="•"/>
            </a:pPr>
            <a:r>
              <a:rPr lang="en-US" sz="3200" dirty="0"/>
              <a:t>Classify customers into groups based on transaction characteristics</a:t>
            </a:r>
          </a:p>
          <a:p>
            <a:pPr marL="800100" lvl="1" indent="-571500">
              <a:buFont typeface="Arial" panose="020B0604020202020204" pitchFamily="34" charset="0"/>
              <a:buChar char="•"/>
            </a:pPr>
            <a:r>
              <a:rPr lang="en-US" sz="3200" dirty="0"/>
              <a:t>Classify images and extract features from images</a:t>
            </a:r>
          </a:p>
        </p:txBody>
      </p:sp>
      <p:pic>
        <p:nvPicPr>
          <p:cNvPr id="9" name="Picture 8">
            <a:extLst>
              <a:ext uri="{FF2B5EF4-FFF2-40B4-BE49-F238E27FC236}">
                <a16:creationId xmlns:a16="http://schemas.microsoft.com/office/drawing/2014/main" id="{D0220404-1DE3-4209-B3B2-3775278D8EEC}"/>
              </a:ext>
            </a:extLst>
          </p:cNvPr>
          <p:cNvPicPr>
            <a:picLocks noChangeAspect="1"/>
          </p:cNvPicPr>
          <p:nvPr/>
        </p:nvPicPr>
        <p:blipFill>
          <a:blip r:embed="rId3"/>
          <a:stretch>
            <a:fillRect/>
          </a:stretch>
        </p:blipFill>
        <p:spPr>
          <a:xfrm>
            <a:off x="3017837" y="1135062"/>
            <a:ext cx="6860085" cy="5557162"/>
          </a:xfrm>
          <a:prstGeom prst="rect">
            <a:avLst/>
          </a:prstGeom>
        </p:spPr>
      </p:pic>
      <p:sp>
        <p:nvSpPr>
          <p:cNvPr id="10" name="Rectangle 9">
            <a:extLst>
              <a:ext uri="{FF2B5EF4-FFF2-40B4-BE49-F238E27FC236}">
                <a16:creationId xmlns:a16="http://schemas.microsoft.com/office/drawing/2014/main" id="{90D3A2C5-9B4F-4D5F-B2C8-49281201F2AE}"/>
              </a:ext>
            </a:extLst>
          </p:cNvPr>
          <p:cNvSpPr/>
          <p:nvPr/>
        </p:nvSpPr>
        <p:spPr bwMode="auto">
          <a:xfrm>
            <a:off x="3170237" y="2430462"/>
            <a:ext cx="6477000" cy="1066800"/>
          </a:xfrm>
          <a:prstGeom prst="rect">
            <a:avLst/>
          </a:prstGeom>
          <a:noFill/>
          <a:ln w="19050" cap="flat" cmpd="sng" algn="ctr">
            <a:solidFill>
              <a:srgbClr val="107C1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Tree>
    <p:extLst>
      <p:ext uri="{BB962C8B-B14F-4D97-AF65-F5344CB8AC3E}">
        <p14:creationId xmlns:p14="http://schemas.microsoft.com/office/powerpoint/2010/main" val="2274667702"/>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9.xml><?xml version="1.0" encoding="utf-8"?>
<p:sld xmlns:a14="http://schemas.microsoft.com/office/drawing/2010/main"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888478" y="1591087"/>
            <a:ext cx="3306771" cy="466698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2448"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8" name="Rectangle: Rounded Corners 7"/>
          <p:cNvSpPr/>
          <p:nvPr/>
        </p:nvSpPr>
        <p:spPr>
          <a:xfrm>
            <a:off x="5722878" y="2165145"/>
            <a:ext cx="2889788" cy="302127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FFFFF"/>
              </a:solidFill>
              <a:effectLst/>
              <a:uLnTx/>
              <a:uFillTx/>
              <a:latin typeface="Segoe UI Semilight"/>
              <a:ea typeface="+mn-ea"/>
              <a:cs typeface="+mn-cs"/>
            </a:endParaRPr>
          </a:p>
        </p:txBody>
      </p:sp>
      <p:sp>
        <p:nvSpPr>
          <p:cNvPr id="4" name="Rectangle: Rounded Corners 3"/>
          <p:cNvSpPr/>
          <p:nvPr/>
        </p:nvSpPr>
        <p:spPr>
          <a:xfrm>
            <a:off x="563241" y="2169438"/>
            <a:ext cx="3035964" cy="389239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FFFFF"/>
              </a:solidFill>
              <a:effectLst/>
              <a:uLnTx/>
              <a:uFillTx/>
              <a:latin typeface="Segoe UI Semilight"/>
              <a:ea typeface="+mn-ea"/>
              <a:cs typeface="+mn-cs"/>
            </a:endParaRPr>
          </a:p>
        </p:txBody>
      </p:sp>
      <p:sp>
        <p:nvSpPr>
          <p:cNvPr id="2" name="Title 1"/>
          <p:cNvSpPr>
            <a:spLocks noGrp="1"/>
          </p:cNvSpPr>
          <p:nvPr>
            <p:ph type="title"/>
          </p:nvPr>
        </p:nvSpPr>
        <p:spPr/>
        <p:txBody>
          <a:bodyPr/>
          <a:lstStyle/>
          <a:p>
            <a:r>
              <a:rPr lang="en-US" dirty="0"/>
              <a:t>The SQL Extensibility Architecture</a:t>
            </a:r>
            <a:endParaRPr lang="en-IN" dirty="0"/>
          </a:p>
        </p:txBody>
      </p:sp>
      <p:sp>
        <p:nvSpPr>
          <p:cNvPr id="6" name="TextBox 5"/>
          <p:cNvSpPr txBox="1"/>
          <p:nvPr/>
        </p:nvSpPr>
        <p:spPr>
          <a:xfrm>
            <a:off x="6016018" y="2154609"/>
            <a:ext cx="2432397" cy="531812"/>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2856" b="0" i="0" u="none" strike="noStrike" kern="1200" cap="none" spc="0" normalizeH="0" baseline="0" noProof="0" dirty="0">
                <a:ln>
                  <a:noFill/>
                </a:ln>
                <a:solidFill>
                  <a:srgbClr val="353535"/>
                </a:solidFill>
                <a:effectLst/>
                <a:uLnTx/>
                <a:uFillTx/>
                <a:latin typeface="Segoe UI Semilight"/>
                <a:ea typeface="+mn-ea"/>
                <a:cs typeface="+mn-cs"/>
              </a:rPr>
              <a:t>launchpad.exe</a:t>
            </a:r>
          </a:p>
        </p:txBody>
      </p:sp>
      <p:sp>
        <p:nvSpPr>
          <p:cNvPr id="7" name="TextBox 6"/>
          <p:cNvSpPr txBox="1"/>
          <p:nvPr/>
        </p:nvSpPr>
        <p:spPr>
          <a:xfrm>
            <a:off x="657641" y="3164334"/>
            <a:ext cx="2836418" cy="374846"/>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dirty="0" err="1">
                <a:ln>
                  <a:noFill/>
                </a:ln>
                <a:solidFill>
                  <a:srgbClr val="FFFFFF"/>
                </a:solidFill>
                <a:effectLst/>
                <a:uLnTx/>
                <a:uFillTx/>
                <a:latin typeface="Segoe UI Semilight"/>
                <a:ea typeface="+mn-ea"/>
                <a:cs typeface="+mn-cs"/>
              </a:rPr>
              <a:t>sp_execute_external_script</a:t>
            </a:r>
            <a:endParaRPr kumimoji="0" lang="en-US" sz="1836" b="1" i="0" u="none" strike="noStrike" kern="1200" cap="none" spc="0" normalizeH="0" baseline="0" noProof="0" dirty="0">
              <a:ln>
                <a:noFill/>
              </a:ln>
              <a:solidFill>
                <a:srgbClr val="FFFFFF"/>
              </a:solidFill>
              <a:effectLst/>
              <a:uLnTx/>
              <a:uFillTx/>
              <a:latin typeface="Segoe UI Semilight"/>
              <a:ea typeface="+mn-ea"/>
              <a:cs typeface="+mn-cs"/>
            </a:endParaRPr>
          </a:p>
        </p:txBody>
      </p:sp>
      <p:sp>
        <p:nvSpPr>
          <p:cNvPr id="9" name="TextBox 8"/>
          <p:cNvSpPr txBox="1"/>
          <p:nvPr/>
        </p:nvSpPr>
        <p:spPr>
          <a:xfrm>
            <a:off x="1121167" y="2165143"/>
            <a:ext cx="1977464" cy="531812"/>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2856" b="0" i="0" u="none" strike="noStrike" kern="1200" cap="none" spc="0" normalizeH="0" baseline="0" noProof="0" dirty="0">
                <a:ln>
                  <a:noFill/>
                </a:ln>
                <a:solidFill>
                  <a:srgbClr val="FFFFFF"/>
                </a:solidFill>
                <a:effectLst/>
                <a:uLnTx/>
                <a:uFillTx/>
                <a:latin typeface="Segoe UI Semilight"/>
                <a:ea typeface="+mn-ea"/>
                <a:cs typeface="+mn-cs"/>
              </a:rPr>
              <a:t>sqlservr.exe</a:t>
            </a:r>
          </a:p>
        </p:txBody>
      </p:sp>
      <p:pic>
        <p:nvPicPr>
          <p:cNvPr id="10" name="Picture 9" descr="... pips is Water Pipe Pullers water pressure pipes. Main by orders ov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450" y="2581642"/>
            <a:ext cx="2005040" cy="2005040"/>
          </a:xfrm>
          <a:prstGeom prst="rect">
            <a:avLst/>
          </a:prstGeom>
        </p:spPr>
      </p:pic>
      <p:sp>
        <p:nvSpPr>
          <p:cNvPr id="12" name="TextBox 11"/>
          <p:cNvSpPr txBox="1"/>
          <p:nvPr/>
        </p:nvSpPr>
        <p:spPr>
          <a:xfrm>
            <a:off x="3823348" y="2581643"/>
            <a:ext cx="1854995" cy="469039"/>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2448" b="0" i="0" u="none" strike="noStrike" kern="1200" cap="none" spc="0" normalizeH="0" baseline="0" noProof="0" dirty="0">
                <a:ln>
                  <a:noFill/>
                </a:ln>
                <a:solidFill>
                  <a:srgbClr val="353535"/>
                </a:solidFill>
                <a:effectLst/>
                <a:uLnTx/>
                <a:uFillTx/>
                <a:latin typeface="Segoe UI Semilight"/>
                <a:ea typeface="+mn-ea"/>
                <a:cs typeface="+mn-cs"/>
              </a:rPr>
              <a:t>Named pipe</a:t>
            </a:r>
          </a:p>
        </p:txBody>
      </p:sp>
      <p:sp>
        <p:nvSpPr>
          <p:cNvPr id="13" name="Arrow: Right 12"/>
          <p:cNvSpPr/>
          <p:nvPr/>
        </p:nvSpPr>
        <p:spPr>
          <a:xfrm rot="1456963">
            <a:off x="7602367" y="3705029"/>
            <a:ext cx="2114565" cy="440990"/>
          </a:xfrm>
          <a:prstGeom prst="rightArrow">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Semilight"/>
              <a:ea typeface="+mn-ea"/>
              <a:cs typeface="+mn-cs"/>
            </a:endParaRPr>
          </a:p>
        </p:txBody>
      </p:sp>
      <p:sp>
        <p:nvSpPr>
          <p:cNvPr id="21" name="TextBox 20"/>
          <p:cNvSpPr txBox="1"/>
          <p:nvPr/>
        </p:nvSpPr>
        <p:spPr>
          <a:xfrm>
            <a:off x="917520" y="1699588"/>
            <a:ext cx="2478371" cy="374846"/>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MSSQLSERVER Service</a:t>
            </a:r>
          </a:p>
        </p:txBody>
      </p:sp>
      <p:sp>
        <p:nvSpPr>
          <p:cNvPr id="22" name="TextBox 21"/>
          <p:cNvSpPr txBox="1"/>
          <p:nvPr/>
        </p:nvSpPr>
        <p:spPr>
          <a:xfrm>
            <a:off x="5769363" y="1699588"/>
            <a:ext cx="3024995" cy="374846"/>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MSSQLLAUNCHPAD Service</a:t>
            </a:r>
          </a:p>
        </p:txBody>
      </p:sp>
      <p:sp>
        <p:nvSpPr>
          <p:cNvPr id="23" name="TextBox 22"/>
          <p:cNvSpPr txBox="1"/>
          <p:nvPr/>
        </p:nvSpPr>
        <p:spPr>
          <a:xfrm>
            <a:off x="3582898" y="4007271"/>
            <a:ext cx="2095445" cy="657359"/>
          </a:xfrm>
          <a:prstGeom prst="rect">
            <a:avLst/>
          </a:prstGeom>
          <a:noFill/>
        </p:spPr>
        <p:txBody>
          <a:bodyPr wrap="none" rtlCol="0">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a:t>
            </a:r>
            <a:r>
              <a:rPr kumimoji="0" lang="en-US" sz="1836" b="0" i="0" u="none" strike="noStrike" kern="1200" cap="none" spc="0" normalizeH="0" baseline="0" noProof="0" dirty="0">
                <a:ln>
                  <a:noFill/>
                </a:ln>
                <a:solidFill>
                  <a:srgbClr val="353535"/>
                </a:solidFill>
                <a:effectLst/>
                <a:uLnTx/>
                <a:uFillTx/>
                <a:latin typeface="Segoe UI Semilight"/>
                <a:ea typeface="+mn-ea"/>
                <a:cs typeface="+mn-cs"/>
              </a:rPr>
              <a:t>What” and “How” </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353535"/>
                </a:solidFill>
                <a:effectLst/>
                <a:uLnTx/>
                <a:uFillTx/>
                <a:latin typeface="Segoe UI Semilight"/>
                <a:ea typeface="+mn-ea"/>
                <a:cs typeface="+mn-cs"/>
              </a:rPr>
              <a:t>to “launch”</a:t>
            </a:r>
          </a:p>
        </p:txBody>
      </p:sp>
      <p:sp>
        <p:nvSpPr>
          <p:cNvPr id="24" name="Rectangle: Rounded Corners 23"/>
          <p:cNvSpPr/>
          <p:nvPr/>
        </p:nvSpPr>
        <p:spPr>
          <a:xfrm>
            <a:off x="6059314" y="3074502"/>
            <a:ext cx="1581807" cy="63557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R/Python Launcher</a:t>
            </a:r>
          </a:p>
        </p:txBody>
      </p:sp>
      <p:sp>
        <p:nvSpPr>
          <p:cNvPr id="32" name="Rectangle: Rounded Corners 31"/>
          <p:cNvSpPr/>
          <p:nvPr/>
        </p:nvSpPr>
        <p:spPr>
          <a:xfrm>
            <a:off x="9743430" y="4143163"/>
            <a:ext cx="2200139" cy="1800519"/>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R/Python “satellite” process</a:t>
            </a:r>
          </a:p>
        </p:txBody>
      </p:sp>
      <p:sp>
        <p:nvSpPr>
          <p:cNvPr id="35" name="Rectangle: Rounded Corners 34"/>
          <p:cNvSpPr/>
          <p:nvPr/>
        </p:nvSpPr>
        <p:spPr>
          <a:xfrm>
            <a:off x="9963753" y="5406741"/>
            <a:ext cx="1762596" cy="3672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sqlsatellite.dll</a:t>
            </a:r>
          </a:p>
        </p:txBody>
      </p:sp>
      <p:sp>
        <p:nvSpPr>
          <p:cNvPr id="39" name="Rectangle: Rounded Corners 38"/>
          <p:cNvSpPr/>
          <p:nvPr/>
        </p:nvSpPr>
        <p:spPr>
          <a:xfrm>
            <a:off x="9042327" y="1886793"/>
            <a:ext cx="2200139" cy="1800519"/>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Windows “satellite” process</a:t>
            </a:r>
          </a:p>
        </p:txBody>
      </p:sp>
      <p:sp>
        <p:nvSpPr>
          <p:cNvPr id="41" name="Rectangle: Rounded Corners 40"/>
          <p:cNvSpPr/>
          <p:nvPr/>
        </p:nvSpPr>
        <p:spPr>
          <a:xfrm>
            <a:off x="9169520" y="1962519"/>
            <a:ext cx="2200139" cy="1800519"/>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Windows “satellite” process</a:t>
            </a:r>
          </a:p>
        </p:txBody>
      </p:sp>
      <p:sp>
        <p:nvSpPr>
          <p:cNvPr id="42" name="Rectangle: Rounded Corners 41"/>
          <p:cNvSpPr/>
          <p:nvPr/>
        </p:nvSpPr>
        <p:spPr>
          <a:xfrm>
            <a:off x="9296712" y="2047370"/>
            <a:ext cx="2200139" cy="1800519"/>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Windows “satellite” process</a:t>
            </a:r>
          </a:p>
        </p:txBody>
      </p:sp>
      <p:sp>
        <p:nvSpPr>
          <p:cNvPr id="40" name="Rectangle: Rounded Corners 39"/>
          <p:cNvSpPr/>
          <p:nvPr/>
        </p:nvSpPr>
        <p:spPr>
          <a:xfrm>
            <a:off x="9423905" y="2159790"/>
            <a:ext cx="2200139" cy="1800519"/>
          </a:xfrm>
          <a:prstGeom prst="round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R/Python “satellite” processes</a:t>
            </a:r>
          </a:p>
        </p:txBody>
      </p:sp>
      <p:sp>
        <p:nvSpPr>
          <p:cNvPr id="25" name="TextBox 24"/>
          <p:cNvSpPr txBox="1"/>
          <p:nvPr/>
        </p:nvSpPr>
        <p:spPr>
          <a:xfrm>
            <a:off x="9296712" y="1050242"/>
            <a:ext cx="2149948" cy="374846"/>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36" b="0" i="0" u="none" strike="noStrike" kern="1200" cap="none" spc="0" normalizeH="0" baseline="0" noProof="0" dirty="0">
                <a:ln>
                  <a:noFill/>
                </a:ln>
                <a:solidFill>
                  <a:srgbClr val="FFFFFF"/>
                </a:solidFill>
                <a:effectLst/>
                <a:uLnTx/>
                <a:uFillTx/>
                <a:latin typeface="Segoe UI Semilight"/>
                <a:ea typeface="+mn-ea"/>
                <a:cs typeface="+mn-cs"/>
              </a:rPr>
              <a:t>Windows </a:t>
            </a:r>
            <a:r>
              <a:rPr kumimoji="0" lang="en-US" sz="1836" b="0" i="0" u="none" strike="noStrike" kern="1200" cap="none" spc="0" normalizeH="0" baseline="0" noProof="0" dirty="0" err="1">
                <a:ln>
                  <a:noFill/>
                </a:ln>
                <a:solidFill>
                  <a:srgbClr val="FFFFFF"/>
                </a:solidFill>
                <a:effectLst/>
                <a:uLnTx/>
                <a:uFillTx/>
                <a:latin typeface="Segoe UI Semilight"/>
                <a:ea typeface="+mn-ea"/>
                <a:cs typeface="+mn-cs"/>
              </a:rPr>
              <a:t>Jobobject</a:t>
            </a:r>
            <a:endParaRPr kumimoji="0" lang="en-US" sz="1836" b="0" i="0" u="none" strike="noStrike" kern="1200" cap="none" spc="0" normalizeH="0" baseline="0" noProof="0" dirty="0">
              <a:ln>
                <a:noFill/>
              </a:ln>
              <a:solidFill>
                <a:srgbClr val="FFFFFF"/>
              </a:solidFill>
              <a:effectLst/>
              <a:uLnTx/>
              <a:uFillTx/>
              <a:latin typeface="Segoe UI Semilight"/>
              <a:ea typeface="+mn-ea"/>
              <a:cs typeface="+mn-cs"/>
            </a:endParaRPr>
          </a:p>
        </p:txBody>
      </p:sp>
      <p:grpSp>
        <p:nvGrpSpPr>
          <p:cNvPr id="11" name="Group 10">
            <a:extLst>
              <a:ext uri="{FF2B5EF4-FFF2-40B4-BE49-F238E27FC236}">
                <a16:creationId xmlns:a16="http://schemas.microsoft.com/office/drawing/2014/main" id="{F27E4F79-308E-40AF-9BA9-E7D43785AC95}"/>
              </a:ext>
            </a:extLst>
          </p:cNvPr>
          <p:cNvGrpSpPr/>
          <p:nvPr/>
        </p:nvGrpSpPr>
        <p:grpSpPr>
          <a:xfrm>
            <a:off x="3589590" y="5590341"/>
            <a:ext cx="6374164" cy="556532"/>
            <a:chOff x="2638995" y="4110921"/>
            <a:chExt cx="4687311" cy="409252"/>
          </a:xfrm>
        </p:grpSpPr>
        <p:cxnSp>
          <p:nvCxnSpPr>
            <p:cNvPr id="37" name="Straight Arrow Connector 36"/>
            <p:cNvCxnSpPr>
              <a:endCxn id="35" idx="1"/>
            </p:cNvCxnSpPr>
            <p:nvPr/>
          </p:nvCxnSpPr>
          <p:spPr>
            <a:xfrm>
              <a:off x="2638995" y="4110921"/>
              <a:ext cx="4687311"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78E8FA2-3EE7-4C36-8F8A-C081CC01DCEF}"/>
                </a:ext>
              </a:extLst>
            </p:cNvPr>
            <p:cNvSpPr txBox="1"/>
            <p:nvPr/>
          </p:nvSpPr>
          <p:spPr>
            <a:xfrm>
              <a:off x="4788313" y="4175260"/>
              <a:ext cx="613278" cy="344913"/>
            </a:xfrm>
            <a:prstGeom prst="rect">
              <a:avLst/>
            </a:prstGeom>
            <a:noFill/>
          </p:spPr>
          <p:txBody>
            <a:bodyPr wrap="squar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2448" b="0" i="0" u="none" strike="noStrike" kern="1200" cap="none" spc="0" normalizeH="0" baseline="0" noProof="0" dirty="0">
                  <a:ln>
                    <a:noFill/>
                  </a:ln>
                  <a:solidFill>
                    <a:srgbClr val="FFFFFF"/>
                  </a:solidFill>
                  <a:effectLst/>
                  <a:uLnTx/>
                  <a:uFillTx/>
                  <a:latin typeface="Segoe UI Semilight"/>
                  <a:ea typeface="+mn-ea"/>
                  <a:cs typeface="+mn-cs"/>
                </a:rPr>
                <a:t>TCP</a:t>
              </a:r>
            </a:p>
          </p:txBody>
        </p:sp>
      </p:grpSp>
    </p:spTree>
    <p:extLst>
      <p:ext uri="{BB962C8B-B14F-4D97-AF65-F5344CB8AC3E}">
        <p14:creationId xmlns:p14="http://schemas.microsoft.com/office/powerpoint/2010/main" val="948436481"/>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animBg="1"/>
      <p:bldP spid="23" grpId="0"/>
      <p:bldP spid="32" grpId="0" animBg="1"/>
      <p:bldP spid="35" grpId="0" animBg="1"/>
      <p:bldP spid="39" grpId="0" animBg="1"/>
      <p:bldP spid="41" grpId="0" animBg="1"/>
      <p:bldP spid="42" grpId="0" animBg="1"/>
      <p:bldP spid="40" grpId="0" animBg="1"/>
    </p:bldLst>
  </p:timing>
</p:sld>
</file>

<file path=ppt/slides/slide40.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1A63-4262-4870-B2C0-B66ECC61876E}"/>
              </a:ext>
            </a:extLst>
          </p:cNvPr>
          <p:cNvSpPr>
            <a:spLocks noGrp="1"/>
          </p:cNvSpPr>
          <p:nvPr>
            <p:ph type="title"/>
          </p:nvPr>
        </p:nvSpPr>
        <p:spPr>
          <a:xfrm>
            <a:off x="274639" y="235509"/>
            <a:ext cx="11889564" cy="917575"/>
          </a:xfrm>
        </p:spPr>
        <p:txBody>
          <a:bodyPr/>
          <a:lstStyle/>
          <a:p>
            <a:r>
              <a:rPr lang="en-US" dirty="0"/>
              <a:t>SQL compute context from T-SQL</a:t>
            </a:r>
          </a:p>
        </p:txBody>
      </p:sp>
      <p:sp>
        <p:nvSpPr>
          <p:cNvPr id="3" name="Text Placeholder 2">
            <a:extLst>
              <a:ext uri="{FF2B5EF4-FFF2-40B4-BE49-F238E27FC236}">
                <a16:creationId xmlns:a16="http://schemas.microsoft.com/office/drawing/2014/main" id="{E3FAFF91-DBFC-4FE4-9D11-565CC0562C23}"/>
              </a:ext>
            </a:extLst>
          </p:cNvPr>
          <p:cNvSpPr>
            <a:spLocks noGrp="1"/>
          </p:cNvSpPr>
          <p:nvPr>
            <p:ph type="body" sz="quarter" idx="10"/>
          </p:nvPr>
        </p:nvSpPr>
        <p:spPr>
          <a:xfrm>
            <a:off x="200027" y="1201271"/>
            <a:ext cx="12021856" cy="1292662"/>
          </a:xfrm>
        </p:spPr>
        <p:txBody>
          <a:bodyPr/>
          <a:lstStyle/>
          <a:p>
            <a:pPr marL="0" indent="0">
              <a:buNone/>
            </a:pPr>
            <a:r>
              <a:rPr lang="en-US" dirty="0"/>
              <a:t>Use to train or predict in parallel (</a:t>
            </a:r>
            <a:r>
              <a:rPr lang="en-US" dirty="0" err="1"/>
              <a:t>rx</a:t>
            </a:r>
            <a:r>
              <a:rPr lang="en-US" dirty="0"/>
              <a:t>* functions)</a:t>
            </a:r>
          </a:p>
          <a:p>
            <a:pPr marL="0" indent="0">
              <a:buNone/>
            </a:pPr>
            <a:r>
              <a:rPr lang="en-US" dirty="0"/>
              <a:t>Scale to datasets that don’t fit in memory</a:t>
            </a:r>
          </a:p>
        </p:txBody>
      </p:sp>
      <p:grpSp>
        <p:nvGrpSpPr>
          <p:cNvPr id="11" name="Group 10">
            <a:extLst>
              <a:ext uri="{FF2B5EF4-FFF2-40B4-BE49-F238E27FC236}">
                <a16:creationId xmlns:a16="http://schemas.microsoft.com/office/drawing/2014/main" id="{D8FC56E9-F6A4-4D52-A5A0-2BD48C4C9073}"/>
              </a:ext>
            </a:extLst>
          </p:cNvPr>
          <p:cNvGrpSpPr/>
          <p:nvPr/>
        </p:nvGrpSpPr>
        <p:grpSpPr>
          <a:xfrm>
            <a:off x="1891298" y="2609182"/>
            <a:ext cx="3025616" cy="3943092"/>
            <a:chOff x="2261746" y="3210080"/>
            <a:chExt cx="3025616" cy="3067277"/>
          </a:xfrm>
        </p:grpSpPr>
        <p:sp>
          <p:nvSpPr>
            <p:cNvPr id="4" name="Cylinder 3">
              <a:extLst>
                <a:ext uri="{FF2B5EF4-FFF2-40B4-BE49-F238E27FC236}">
                  <a16:creationId xmlns:a16="http://schemas.microsoft.com/office/drawing/2014/main" id="{79DFBAF9-ADFF-4F4F-BDA9-F654255E6BA1}"/>
                </a:ext>
              </a:extLst>
            </p:cNvPr>
            <p:cNvSpPr/>
            <p:nvPr/>
          </p:nvSpPr>
          <p:spPr bwMode="auto">
            <a:xfrm>
              <a:off x="2261746" y="3210080"/>
              <a:ext cx="3025616" cy="3067277"/>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p:txBody>
        </p:sp>
        <p:sp>
          <p:nvSpPr>
            <p:cNvPr id="5" name="Flowchart: Data 4">
              <a:extLst>
                <a:ext uri="{FF2B5EF4-FFF2-40B4-BE49-F238E27FC236}">
                  <a16:creationId xmlns:a16="http://schemas.microsoft.com/office/drawing/2014/main" id="{874205B3-325F-4702-93FC-02615997F5A6}"/>
                </a:ext>
              </a:extLst>
            </p:cNvPr>
            <p:cNvSpPr/>
            <p:nvPr/>
          </p:nvSpPr>
          <p:spPr bwMode="auto">
            <a:xfrm>
              <a:off x="2334224" y="4024028"/>
              <a:ext cx="2880659" cy="935372"/>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sp_execute_external_script</a:t>
              </a:r>
              <a:endPar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@script = N’</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RxSqlServerData</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rxLogIt</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a:t>
              </a:r>
              <a:r>
                <a:rPr kumimoji="0" lang="en-US" sz="1200" b="1"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rPr>
                <a:t>, @input_data_1 = N’’</a:t>
              </a:r>
            </a:p>
          </p:txBody>
        </p:sp>
      </p:grpSp>
      <p:grpSp>
        <p:nvGrpSpPr>
          <p:cNvPr id="33" name="Group 32">
            <a:extLst>
              <a:ext uri="{FF2B5EF4-FFF2-40B4-BE49-F238E27FC236}">
                <a16:creationId xmlns:a16="http://schemas.microsoft.com/office/drawing/2014/main" id="{57D13851-CEE6-46B3-86FB-0A2C53FC60D0}"/>
              </a:ext>
            </a:extLst>
          </p:cNvPr>
          <p:cNvGrpSpPr/>
          <p:nvPr/>
        </p:nvGrpSpPr>
        <p:grpSpPr>
          <a:xfrm>
            <a:off x="8665894" y="2692467"/>
            <a:ext cx="2510118" cy="1706880"/>
            <a:chOff x="8665894" y="2692467"/>
            <a:chExt cx="2510118" cy="1706880"/>
          </a:xfrm>
        </p:grpSpPr>
        <p:grpSp>
          <p:nvGrpSpPr>
            <p:cNvPr id="13" name="Group 12">
              <a:extLst>
                <a:ext uri="{FF2B5EF4-FFF2-40B4-BE49-F238E27FC236}">
                  <a16:creationId xmlns:a16="http://schemas.microsoft.com/office/drawing/2014/main" id="{02F37C82-BD55-4896-89B2-2ADC2B0DDB5C}"/>
                </a:ext>
              </a:extLst>
            </p:cNvPr>
            <p:cNvGrpSpPr/>
            <p:nvPr/>
          </p:nvGrpSpPr>
          <p:grpSpPr>
            <a:xfrm>
              <a:off x="8665894" y="2726963"/>
              <a:ext cx="2510118" cy="1672384"/>
              <a:chOff x="7751483" y="3997721"/>
              <a:chExt cx="2510118" cy="1672384"/>
            </a:xfrm>
          </p:grpSpPr>
          <p:sp>
            <p:nvSpPr>
              <p:cNvPr id="15" name="Flowchart: Process 14">
                <a:extLst>
                  <a:ext uri="{FF2B5EF4-FFF2-40B4-BE49-F238E27FC236}">
                    <a16:creationId xmlns:a16="http://schemas.microsoft.com/office/drawing/2014/main" id="{9DEFDAF1-C439-4CF6-A952-89BF99E178E6}"/>
                  </a:ext>
                </a:extLst>
              </p:cNvPr>
              <p:cNvSpPr/>
              <p:nvPr/>
            </p:nvSpPr>
            <p:spPr bwMode="auto">
              <a:xfrm>
                <a:off x="7751483" y="3997721"/>
                <a:ext cx="2510118" cy="1672384"/>
              </a:xfrm>
              <a:prstGeom prst="flowChartProcess">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pic>
            <p:nvPicPr>
              <p:cNvPr id="16" name="Picture 2" descr="Bildresultat för R Language">
                <a:extLst>
                  <a:ext uri="{FF2B5EF4-FFF2-40B4-BE49-F238E27FC236}">
                    <a16:creationId xmlns:a16="http://schemas.microsoft.com/office/drawing/2014/main" id="{10211DD1-84D9-4E5F-96C1-BF79E8F46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5192" y="4109781"/>
                <a:ext cx="431924" cy="334751"/>
              </a:xfrm>
              <a:prstGeom prst="rect">
                <a:avLst/>
              </a:prstGeom>
              <a:noFill/>
              <a:extLst>
                <a:ext uri="{909E8E84-426E-40DD-AFC4-6F175D3DCCD1}">
                  <a14:hiddenFill xmlns:a14="http://schemas.microsoft.com/office/drawing/2010/main">
                    <a:solidFill>
                      <a:srgbClr val="FFFFFF"/>
                    </a:solidFill>
                  </a14:hiddenFill>
                </a:ext>
              </a:extLst>
            </p:spPr>
          </p:pic>
          <p:sp>
            <p:nvSpPr>
              <p:cNvPr id="17" name="Flowchart: Data 16">
                <a:extLst>
                  <a:ext uri="{FF2B5EF4-FFF2-40B4-BE49-F238E27FC236}">
                    <a16:creationId xmlns:a16="http://schemas.microsoft.com/office/drawing/2014/main" id="{589CA7B3-AA82-437D-98F7-9FEAEA62BA87}"/>
                  </a:ext>
                </a:extLst>
              </p:cNvPr>
              <p:cNvSpPr/>
              <p:nvPr/>
            </p:nvSpPr>
            <p:spPr bwMode="auto">
              <a:xfrm>
                <a:off x="8194280" y="4556592"/>
                <a:ext cx="1936071" cy="790467"/>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rxLogIt</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 or </a:t>
                </a: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rxPredict</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 with SQLCC</a:t>
                </a:r>
              </a:p>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
          <p:nvSpPr>
            <p:cNvPr id="10" name="TextBox 9">
              <a:extLst>
                <a:ext uri="{FF2B5EF4-FFF2-40B4-BE49-F238E27FC236}">
                  <a16:creationId xmlns:a16="http://schemas.microsoft.com/office/drawing/2014/main" id="{85055094-A35D-4841-A441-E2BFCD7BA27D}"/>
                </a:ext>
              </a:extLst>
            </p:cNvPr>
            <p:cNvSpPr txBox="1"/>
            <p:nvPr/>
          </p:nvSpPr>
          <p:spPr>
            <a:xfrm>
              <a:off x="9108693" y="2692467"/>
              <a:ext cx="1936070" cy="627864"/>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 </a:t>
              </a:r>
              <a:r>
                <a:rPr kumimoji="0" lang="en-US" sz="2400" b="0" i="0" u="none" strike="noStrike" kern="1200" cap="none" spc="0" normalizeH="0" baseline="0" noProof="0" dirty="0" err="1">
                  <a:ln>
                    <a:noFill/>
                  </a:ln>
                  <a:gradFill>
                    <a:gsLst>
                      <a:gs pos="2917">
                        <a:srgbClr val="FFFFFF"/>
                      </a:gs>
                      <a:gs pos="30000">
                        <a:srgbClr val="FFFFFF"/>
                      </a:gs>
                    </a:gsLst>
                    <a:lin ang="5400000" scaled="0"/>
                  </a:gradFill>
                  <a:effectLst/>
                  <a:uLnTx/>
                  <a:uFillTx/>
                  <a:latin typeface="Segoe UI Semilight"/>
                  <a:ea typeface="+mn-ea"/>
                  <a:cs typeface="+mn-cs"/>
                </a:rPr>
                <a:t>BxlServer</a:t>
              </a:r>
              <a:endPar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endParaRPr>
            </a:p>
          </p:txBody>
        </p:sp>
      </p:grpSp>
      <p:sp>
        <p:nvSpPr>
          <p:cNvPr id="19" name="Flowchart: Data 18">
            <a:extLst>
              <a:ext uri="{FF2B5EF4-FFF2-40B4-BE49-F238E27FC236}">
                <a16:creationId xmlns:a16="http://schemas.microsoft.com/office/drawing/2014/main" id="{DB1ED6B9-4BF2-4021-AEFB-52AA676A1FF1}"/>
              </a:ext>
            </a:extLst>
          </p:cNvPr>
          <p:cNvSpPr/>
          <p:nvPr/>
        </p:nvSpPr>
        <p:spPr bwMode="auto">
          <a:xfrm>
            <a:off x="1963775" y="4973243"/>
            <a:ext cx="2880659" cy="1202453"/>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sp_execute_external_script</a:t>
            </a:r>
            <a:endPar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@script = N’</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&lt;</a:t>
            </a: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rxcall</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&gt;’,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@input_data_1 = N’SELECT….’</a:t>
            </a: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cxnSp>
        <p:nvCxnSpPr>
          <p:cNvPr id="21" name="Straight Arrow Connector 20">
            <a:extLst>
              <a:ext uri="{FF2B5EF4-FFF2-40B4-BE49-F238E27FC236}">
                <a16:creationId xmlns:a16="http://schemas.microsoft.com/office/drawing/2014/main" id="{E1CB474C-C3A9-438D-A5CA-78D0C29F40D4}"/>
              </a:ext>
            </a:extLst>
          </p:cNvPr>
          <p:cNvCxnSpPr>
            <a:cxnSpLocks/>
            <a:stCxn id="5" idx="5"/>
            <a:endCxn id="15" idx="1"/>
          </p:cNvCxnSpPr>
          <p:nvPr/>
        </p:nvCxnSpPr>
        <p:spPr>
          <a:xfrm flipV="1">
            <a:off x="4556369" y="3563155"/>
            <a:ext cx="4109525" cy="69361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6B9D90F-5E49-4F85-AFB3-D53FF38B2519}"/>
              </a:ext>
            </a:extLst>
          </p:cNvPr>
          <p:cNvCxnSpPr>
            <a:stCxn id="17" idx="2"/>
            <a:endCxn id="19" idx="5"/>
          </p:cNvCxnSpPr>
          <p:nvPr/>
        </p:nvCxnSpPr>
        <p:spPr>
          <a:xfrm flipH="1">
            <a:off x="4556368" y="3681068"/>
            <a:ext cx="4745930" cy="1893402"/>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22FA862-6E9B-4E83-9BE6-8828AB8A7D11}"/>
              </a:ext>
            </a:extLst>
          </p:cNvPr>
          <p:cNvCxnSpPr>
            <a:cxnSpLocks/>
            <a:stCxn id="19" idx="5"/>
            <a:endCxn id="39" idx="1"/>
          </p:cNvCxnSpPr>
          <p:nvPr/>
        </p:nvCxnSpPr>
        <p:spPr>
          <a:xfrm flipV="1">
            <a:off x="4556368" y="5505860"/>
            <a:ext cx="4309738" cy="6861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55711F30-C6D4-4BB2-94C6-0E0F6F907A46}"/>
              </a:ext>
            </a:extLst>
          </p:cNvPr>
          <p:cNvGrpSpPr/>
          <p:nvPr/>
        </p:nvGrpSpPr>
        <p:grpSpPr>
          <a:xfrm>
            <a:off x="8866106" y="4635172"/>
            <a:ext cx="2510118" cy="1706880"/>
            <a:chOff x="8665894" y="2692467"/>
            <a:chExt cx="2510118" cy="1706880"/>
          </a:xfrm>
        </p:grpSpPr>
        <p:grpSp>
          <p:nvGrpSpPr>
            <p:cNvPr id="37" name="Group 36">
              <a:extLst>
                <a:ext uri="{FF2B5EF4-FFF2-40B4-BE49-F238E27FC236}">
                  <a16:creationId xmlns:a16="http://schemas.microsoft.com/office/drawing/2014/main" id="{5F235DBE-1857-4B43-AD87-BF78B2369EB4}"/>
                </a:ext>
              </a:extLst>
            </p:cNvPr>
            <p:cNvGrpSpPr/>
            <p:nvPr/>
          </p:nvGrpSpPr>
          <p:grpSpPr>
            <a:xfrm>
              <a:off x="8665894" y="2726963"/>
              <a:ext cx="2510118" cy="1672384"/>
              <a:chOff x="7751483" y="3997721"/>
              <a:chExt cx="2510118" cy="1672384"/>
            </a:xfrm>
          </p:grpSpPr>
          <p:sp>
            <p:nvSpPr>
              <p:cNvPr id="39" name="Flowchart: Process 38">
                <a:extLst>
                  <a:ext uri="{FF2B5EF4-FFF2-40B4-BE49-F238E27FC236}">
                    <a16:creationId xmlns:a16="http://schemas.microsoft.com/office/drawing/2014/main" id="{13A15DD5-AF05-4944-96BE-310576AB31F9}"/>
                  </a:ext>
                </a:extLst>
              </p:cNvPr>
              <p:cNvSpPr/>
              <p:nvPr/>
            </p:nvSpPr>
            <p:spPr bwMode="auto">
              <a:xfrm>
                <a:off x="7751483" y="3997721"/>
                <a:ext cx="2510118" cy="1672384"/>
              </a:xfrm>
              <a:prstGeom prst="flowChartProcess">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pic>
            <p:nvPicPr>
              <p:cNvPr id="40" name="Picture 2" descr="Bildresultat för R Language">
                <a:extLst>
                  <a:ext uri="{FF2B5EF4-FFF2-40B4-BE49-F238E27FC236}">
                    <a16:creationId xmlns:a16="http://schemas.microsoft.com/office/drawing/2014/main" id="{3575ACB3-5F3F-4EBB-B32B-E917E21AF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5192" y="4109781"/>
                <a:ext cx="431924" cy="334751"/>
              </a:xfrm>
              <a:prstGeom prst="rect">
                <a:avLst/>
              </a:prstGeom>
              <a:noFill/>
              <a:extLst>
                <a:ext uri="{909E8E84-426E-40DD-AFC4-6F175D3DCCD1}">
                  <a14:hiddenFill xmlns:a14="http://schemas.microsoft.com/office/drawing/2010/main">
                    <a:solidFill>
                      <a:srgbClr val="FFFFFF"/>
                    </a:solidFill>
                  </a14:hiddenFill>
                </a:ext>
              </a:extLst>
            </p:spPr>
          </p:pic>
          <p:sp>
            <p:nvSpPr>
              <p:cNvPr id="41" name="Flowchart: Data 40">
                <a:extLst>
                  <a:ext uri="{FF2B5EF4-FFF2-40B4-BE49-F238E27FC236}">
                    <a16:creationId xmlns:a16="http://schemas.microsoft.com/office/drawing/2014/main" id="{FDC96984-CD6F-47CA-AEED-4F0FADAF6412}"/>
                  </a:ext>
                </a:extLst>
              </p:cNvPr>
              <p:cNvSpPr/>
              <p:nvPr/>
            </p:nvSpPr>
            <p:spPr bwMode="auto">
              <a:xfrm>
                <a:off x="8194280" y="4556592"/>
                <a:ext cx="1936071" cy="790467"/>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rxCall</a:t>
                </a: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 streamed or serial</a:t>
                </a:r>
              </a:p>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
          <p:nvSpPr>
            <p:cNvPr id="38" name="TextBox 37">
              <a:extLst>
                <a:ext uri="{FF2B5EF4-FFF2-40B4-BE49-F238E27FC236}">
                  <a16:creationId xmlns:a16="http://schemas.microsoft.com/office/drawing/2014/main" id="{9424EF05-47FB-40ED-A420-AEDA0F27C947}"/>
                </a:ext>
              </a:extLst>
            </p:cNvPr>
            <p:cNvSpPr txBox="1"/>
            <p:nvPr/>
          </p:nvSpPr>
          <p:spPr>
            <a:xfrm>
              <a:off x="9108693" y="2692467"/>
              <a:ext cx="1936070" cy="627864"/>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 </a:t>
              </a:r>
              <a:r>
                <a:rPr kumimoji="0" lang="en-US" sz="2400" b="0" i="0" u="none" strike="noStrike" kern="1200" cap="none" spc="0" normalizeH="0" baseline="0" noProof="0" dirty="0" err="1">
                  <a:ln>
                    <a:noFill/>
                  </a:ln>
                  <a:gradFill>
                    <a:gsLst>
                      <a:gs pos="2917">
                        <a:srgbClr val="FFFFFF"/>
                      </a:gs>
                      <a:gs pos="30000">
                        <a:srgbClr val="FFFFFF"/>
                      </a:gs>
                    </a:gsLst>
                    <a:lin ang="5400000" scaled="0"/>
                  </a:gradFill>
                  <a:effectLst/>
                  <a:uLnTx/>
                  <a:uFillTx/>
                  <a:latin typeface="Segoe UI Semilight"/>
                  <a:ea typeface="+mn-ea"/>
                  <a:cs typeface="+mn-cs"/>
                </a:rPr>
                <a:t>BxlServer</a:t>
              </a:r>
              <a:endPar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endParaRPr>
            </a:p>
          </p:txBody>
        </p:sp>
      </p:grpSp>
      <p:grpSp>
        <p:nvGrpSpPr>
          <p:cNvPr id="34" name="Group 33">
            <a:extLst>
              <a:ext uri="{FF2B5EF4-FFF2-40B4-BE49-F238E27FC236}">
                <a16:creationId xmlns:a16="http://schemas.microsoft.com/office/drawing/2014/main" id="{BF02CA59-4418-444F-86DE-C64DA790629A}"/>
              </a:ext>
            </a:extLst>
          </p:cNvPr>
          <p:cNvGrpSpPr/>
          <p:nvPr/>
        </p:nvGrpSpPr>
        <p:grpSpPr>
          <a:xfrm>
            <a:off x="9290118" y="5156631"/>
            <a:ext cx="2510118" cy="1706880"/>
            <a:chOff x="8665892" y="4716342"/>
            <a:chExt cx="2510118" cy="1706880"/>
          </a:xfrm>
          <a:effectLst>
            <a:outerShdw blurRad="50800" dist="38100" dir="2700000" algn="tl" rotWithShape="0">
              <a:prstClr val="black">
                <a:alpha val="40000"/>
              </a:prstClr>
            </a:outerShdw>
          </a:effectLst>
        </p:grpSpPr>
        <p:grpSp>
          <p:nvGrpSpPr>
            <p:cNvPr id="25" name="Group 24">
              <a:extLst>
                <a:ext uri="{FF2B5EF4-FFF2-40B4-BE49-F238E27FC236}">
                  <a16:creationId xmlns:a16="http://schemas.microsoft.com/office/drawing/2014/main" id="{7921CB21-1960-4879-B2D8-504C56D695C5}"/>
                </a:ext>
              </a:extLst>
            </p:cNvPr>
            <p:cNvGrpSpPr/>
            <p:nvPr/>
          </p:nvGrpSpPr>
          <p:grpSpPr>
            <a:xfrm>
              <a:off x="8665892" y="4750838"/>
              <a:ext cx="2510118" cy="1672384"/>
              <a:chOff x="7751483" y="3997721"/>
              <a:chExt cx="2510118" cy="1672384"/>
            </a:xfrm>
          </p:grpSpPr>
          <p:sp>
            <p:nvSpPr>
              <p:cNvPr id="26" name="Flowchart: Process 25">
                <a:extLst>
                  <a:ext uri="{FF2B5EF4-FFF2-40B4-BE49-F238E27FC236}">
                    <a16:creationId xmlns:a16="http://schemas.microsoft.com/office/drawing/2014/main" id="{46594C4E-899A-46C7-9282-EFEC554571AB}"/>
                  </a:ext>
                </a:extLst>
              </p:cNvPr>
              <p:cNvSpPr/>
              <p:nvPr/>
            </p:nvSpPr>
            <p:spPr bwMode="auto">
              <a:xfrm>
                <a:off x="7751483" y="3997721"/>
                <a:ext cx="2510118" cy="1672384"/>
              </a:xfrm>
              <a:prstGeom prst="flowChartProcess">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pic>
            <p:nvPicPr>
              <p:cNvPr id="27" name="Picture 2" descr="Bildresultat för R Language">
                <a:extLst>
                  <a:ext uri="{FF2B5EF4-FFF2-40B4-BE49-F238E27FC236}">
                    <a16:creationId xmlns:a16="http://schemas.microsoft.com/office/drawing/2014/main" id="{3AFBCCFD-7BC3-457F-BC3B-2F4F1C7D65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5192" y="4109781"/>
                <a:ext cx="431924" cy="334751"/>
              </a:xfrm>
              <a:prstGeom prst="rect">
                <a:avLst/>
              </a:prstGeom>
              <a:noFill/>
              <a:extLst>
                <a:ext uri="{909E8E84-426E-40DD-AFC4-6F175D3DCCD1}">
                  <a14:hiddenFill xmlns:a14="http://schemas.microsoft.com/office/drawing/2010/main">
                    <a:solidFill>
                      <a:srgbClr val="FFFFFF"/>
                    </a:solidFill>
                  </a14:hiddenFill>
                </a:ext>
              </a:extLst>
            </p:spPr>
          </p:pic>
          <p:sp>
            <p:nvSpPr>
              <p:cNvPr id="28" name="Flowchart: Data 27">
                <a:extLst>
                  <a:ext uri="{FF2B5EF4-FFF2-40B4-BE49-F238E27FC236}">
                    <a16:creationId xmlns:a16="http://schemas.microsoft.com/office/drawing/2014/main" id="{AE0E3D17-B48F-4B5B-94F3-40F47EEB582C}"/>
                  </a:ext>
                </a:extLst>
              </p:cNvPr>
              <p:cNvSpPr/>
              <p:nvPr/>
            </p:nvSpPr>
            <p:spPr bwMode="auto">
              <a:xfrm>
                <a:off x="8194280" y="4556592"/>
                <a:ext cx="1738605" cy="911797"/>
              </a:xfrm>
              <a:prstGeom prst="flowChartInputOutp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err="1">
                    <a:ln>
                      <a:noFill/>
                    </a:ln>
                    <a:solidFill>
                      <a:srgbClr val="353535"/>
                    </a:solidFill>
                    <a:effectLst/>
                    <a:uLnTx/>
                    <a:uFillTx/>
                    <a:latin typeface="Segoe UI Semilight"/>
                    <a:ea typeface="Segoe UI" pitchFamily="34" charset="0"/>
                    <a:cs typeface="Segoe UI" pitchFamily="34" charset="0"/>
                  </a:rPr>
                  <a:t>rxCall</a:t>
                </a:r>
                <a:endPar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endParaRP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353535"/>
                    </a:solidFill>
                    <a:effectLst/>
                    <a:uLnTx/>
                    <a:uFillTx/>
                    <a:latin typeface="Segoe UI Semilight"/>
                    <a:ea typeface="Segoe UI" pitchFamily="34" charset="0"/>
                    <a:cs typeface="Segoe UI" pitchFamily="34" charset="0"/>
                  </a:rPr>
                  <a:t>parallel execution</a:t>
                </a:r>
                <a:endParaRPr kumimoji="0" lang="en-US" sz="1200" b="1" i="0" u="none" strike="noStrike" kern="1200" cap="none" spc="0" normalizeH="0" baseline="0" noProof="0" dirty="0">
                  <a:ln>
                    <a:noFill/>
                  </a:ln>
                  <a:solidFill>
                    <a:srgbClr val="000000"/>
                  </a:solidFill>
                  <a:effectLst/>
                  <a:uLnTx/>
                  <a:uFillTx/>
                  <a:latin typeface="Segoe UI Semilight"/>
                  <a:ea typeface="Segoe UI" pitchFamily="34" charset="0"/>
                  <a:cs typeface="Segoe UI" pitchFamily="34" charset="0"/>
                </a:endParaRPr>
              </a:p>
            </p:txBody>
          </p:sp>
        </p:grpSp>
        <p:sp>
          <p:nvSpPr>
            <p:cNvPr id="29" name="TextBox 28">
              <a:extLst>
                <a:ext uri="{FF2B5EF4-FFF2-40B4-BE49-F238E27FC236}">
                  <a16:creationId xmlns:a16="http://schemas.microsoft.com/office/drawing/2014/main" id="{FA945513-7E03-47F6-9508-E3A32378DB71}"/>
                </a:ext>
              </a:extLst>
            </p:cNvPr>
            <p:cNvSpPr txBox="1"/>
            <p:nvPr/>
          </p:nvSpPr>
          <p:spPr>
            <a:xfrm>
              <a:off x="9108691" y="4716342"/>
              <a:ext cx="1936070" cy="627864"/>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 </a:t>
              </a:r>
              <a:r>
                <a:rPr kumimoji="0" lang="en-US" sz="2400" b="0" i="0" u="none" strike="noStrike" kern="1200" cap="none" spc="0" normalizeH="0" baseline="0" noProof="0" dirty="0" err="1">
                  <a:ln>
                    <a:noFill/>
                  </a:ln>
                  <a:gradFill>
                    <a:gsLst>
                      <a:gs pos="2917">
                        <a:srgbClr val="FFFFFF"/>
                      </a:gs>
                      <a:gs pos="30000">
                        <a:srgbClr val="FFFFFF"/>
                      </a:gs>
                    </a:gsLst>
                    <a:lin ang="5400000" scaled="0"/>
                  </a:gradFill>
                  <a:effectLst/>
                  <a:uLnTx/>
                  <a:uFillTx/>
                  <a:latin typeface="Segoe UI Semilight"/>
                  <a:ea typeface="+mn-ea"/>
                  <a:cs typeface="+mn-cs"/>
                </a:rPr>
                <a:t>BxlServer</a:t>
              </a:r>
              <a:endPar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endParaRPr>
            </a:p>
          </p:txBody>
        </p:sp>
      </p:grpSp>
      <p:grpSp>
        <p:nvGrpSpPr>
          <p:cNvPr id="50" name="Group 49">
            <a:extLst>
              <a:ext uri="{FF2B5EF4-FFF2-40B4-BE49-F238E27FC236}">
                <a16:creationId xmlns:a16="http://schemas.microsoft.com/office/drawing/2014/main" id="{A80E8C39-0127-471B-9C8C-8AC613D7C311}"/>
              </a:ext>
            </a:extLst>
          </p:cNvPr>
          <p:cNvGrpSpPr/>
          <p:nvPr/>
        </p:nvGrpSpPr>
        <p:grpSpPr>
          <a:xfrm>
            <a:off x="4556368" y="5574470"/>
            <a:ext cx="4733750" cy="1289041"/>
            <a:chOff x="4556368" y="5574470"/>
            <a:chExt cx="4733750" cy="1289041"/>
          </a:xfrm>
        </p:grpSpPr>
        <p:cxnSp>
          <p:nvCxnSpPr>
            <p:cNvPr id="45" name="Straight Arrow Connector 44">
              <a:extLst>
                <a:ext uri="{FF2B5EF4-FFF2-40B4-BE49-F238E27FC236}">
                  <a16:creationId xmlns:a16="http://schemas.microsoft.com/office/drawing/2014/main" id="{34133DAD-B779-475B-9DEB-016A7257E3E7}"/>
                </a:ext>
              </a:extLst>
            </p:cNvPr>
            <p:cNvCxnSpPr>
              <a:cxnSpLocks/>
              <a:stCxn id="19" idx="5"/>
              <a:endCxn id="26" idx="1"/>
            </p:cNvCxnSpPr>
            <p:nvPr/>
          </p:nvCxnSpPr>
          <p:spPr>
            <a:xfrm>
              <a:off x="4556368" y="5574470"/>
              <a:ext cx="4733750" cy="45284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71A2150-D08F-4CC8-A857-18E39840BDAD}"/>
                </a:ext>
              </a:extLst>
            </p:cNvPr>
            <p:cNvSpPr txBox="1"/>
            <p:nvPr/>
          </p:nvSpPr>
          <p:spPr>
            <a:xfrm>
              <a:off x="7325865" y="5826304"/>
              <a:ext cx="1336180" cy="1037207"/>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Parallel</a:t>
              </a:r>
            </a:p>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gradFill>
                    <a:gsLst>
                      <a:gs pos="2917">
                        <a:srgbClr val="FFFFFF"/>
                      </a:gs>
                      <a:gs pos="30000">
                        <a:srgbClr val="FFFFFF"/>
                      </a:gs>
                    </a:gsLst>
                    <a:lin ang="5400000" scaled="0"/>
                  </a:gradFill>
                  <a:effectLst/>
                  <a:uLnTx/>
                  <a:uFillTx/>
                  <a:latin typeface="Segoe UI Semilight"/>
                  <a:ea typeface="+mn-ea"/>
                  <a:cs typeface="+mn-cs"/>
                </a:rPr>
                <a:t>Query</a:t>
              </a:r>
            </a:p>
          </p:txBody>
        </p:sp>
      </p:grpSp>
    </p:spTree>
    <p:extLst>
      <p:ext uri="{BB962C8B-B14F-4D97-AF65-F5344CB8AC3E}">
        <p14:creationId xmlns:p14="http://schemas.microsoft.com/office/powerpoint/2010/main" val="1232373524"/>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41.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Streaming from Client</a:t>
            </a:r>
          </a:p>
        </p:txBody>
      </p:sp>
      <p:sp>
        <p:nvSpPr>
          <p:cNvPr id="5" name="Text Placeholder 4"/>
          <p:cNvSpPr>
            <a:spLocks noGrp="1"/>
          </p:cNvSpPr>
          <p:nvPr>
            <p:ph type="body" sz="quarter" idx="10"/>
          </p:nvPr>
        </p:nvSpPr>
        <p:spPr>
          <a:xfrm>
            <a:off x="274638" y="1221157"/>
            <a:ext cx="11887199" cy="5452262"/>
          </a:xfrm>
        </p:spPr>
        <p:txBody>
          <a:bodyPr/>
          <a:lstStyle/>
          <a:p>
            <a:r>
              <a:rPr lang="en-US" sz="2100" dirty="0">
                <a:solidFill>
                  <a:schemeClr val="bg1"/>
                </a:solidFill>
              </a:rPr>
              <a:t># Query to select 20% of the data for testing purposes</a:t>
            </a:r>
          </a:p>
          <a:p>
            <a:r>
              <a:rPr lang="en-US" sz="2100" dirty="0" err="1">
                <a:solidFill>
                  <a:schemeClr val="bg1"/>
                </a:solidFill>
              </a:rPr>
              <a:t>input_query</a:t>
            </a:r>
            <a:r>
              <a:rPr lang="en-US" sz="2100" dirty="0">
                <a:solidFill>
                  <a:schemeClr val="bg1"/>
                </a:solidFill>
              </a:rPr>
              <a:t> &lt;- "SELECT TOP(20) PERCENT</a:t>
            </a:r>
          </a:p>
          <a:p>
            <a:r>
              <a:rPr lang="en-US" sz="2100" dirty="0">
                <a:solidFill>
                  <a:schemeClr val="bg1"/>
                </a:solidFill>
              </a:rPr>
              <a:t>		</a:t>
            </a:r>
            <a:r>
              <a:rPr lang="en-US" sz="2100" dirty="0" err="1">
                <a:solidFill>
                  <a:schemeClr val="bg1"/>
                </a:solidFill>
              </a:rPr>
              <a:t>pr_review_sk</a:t>
            </a:r>
            <a:r>
              <a:rPr lang="en-US" sz="2100" dirty="0">
                <a:solidFill>
                  <a:schemeClr val="bg1"/>
                </a:solidFill>
              </a:rPr>
              <a:t>, </a:t>
            </a:r>
            <a:r>
              <a:rPr lang="en-US" sz="2100" dirty="0" err="1">
                <a:solidFill>
                  <a:schemeClr val="bg1"/>
                </a:solidFill>
              </a:rPr>
              <a:t>pr_review_content</a:t>
            </a:r>
            <a:r>
              <a:rPr lang="en-US" sz="2100" dirty="0">
                <a:solidFill>
                  <a:schemeClr val="bg1"/>
                </a:solidFill>
              </a:rPr>
              <a:t>, </a:t>
            </a:r>
            <a:r>
              <a:rPr lang="en-US" sz="2100" dirty="0" err="1">
                <a:solidFill>
                  <a:schemeClr val="bg1"/>
                </a:solidFill>
              </a:rPr>
              <a:t>pr_review_rating</a:t>
            </a:r>
            <a:r>
              <a:rPr lang="en-US" sz="2100" dirty="0">
                <a:solidFill>
                  <a:schemeClr val="bg1"/>
                </a:solidFill>
              </a:rPr>
              <a:t>,</a:t>
            </a:r>
          </a:p>
          <a:p>
            <a:r>
              <a:rPr lang="en-US" sz="2100" dirty="0">
                <a:solidFill>
                  <a:schemeClr val="bg1"/>
                </a:solidFill>
              </a:rPr>
              <a:t>		CASE WHEN </a:t>
            </a:r>
            <a:r>
              <a:rPr lang="en-US" sz="2100" dirty="0" err="1">
                <a:solidFill>
                  <a:schemeClr val="bg1"/>
                </a:solidFill>
              </a:rPr>
              <a:t>pr_review_rating</a:t>
            </a:r>
            <a:r>
              <a:rPr lang="en-US" sz="2100" dirty="0">
                <a:solidFill>
                  <a:schemeClr val="bg1"/>
                </a:solidFill>
              </a:rPr>
              <a:t> &lt;3 THEN 1</a:t>
            </a:r>
          </a:p>
          <a:p>
            <a:r>
              <a:rPr lang="en-US" sz="2100" dirty="0">
                <a:solidFill>
                  <a:schemeClr val="bg1"/>
                </a:solidFill>
              </a:rPr>
              <a:t>			WHEN </a:t>
            </a:r>
            <a:r>
              <a:rPr lang="en-US" sz="2100" dirty="0" err="1">
                <a:solidFill>
                  <a:schemeClr val="bg1"/>
                </a:solidFill>
              </a:rPr>
              <a:t>pr_review_rating</a:t>
            </a:r>
            <a:r>
              <a:rPr lang="en-US" sz="2100" dirty="0">
                <a:solidFill>
                  <a:schemeClr val="bg1"/>
                </a:solidFill>
              </a:rPr>
              <a:t> =3 THEN 2 ELSE 3 END AS tag</a:t>
            </a:r>
          </a:p>
          <a:p>
            <a:r>
              <a:rPr lang="en-US" sz="2100" dirty="0">
                <a:solidFill>
                  <a:schemeClr val="bg1"/>
                </a:solidFill>
              </a:rPr>
              <a:t>    FROM </a:t>
            </a:r>
            <a:r>
              <a:rPr lang="en-US" sz="2100" dirty="0" err="1">
                <a:solidFill>
                  <a:schemeClr val="bg1"/>
                </a:solidFill>
              </a:rPr>
              <a:t>product_reviews</a:t>
            </a:r>
            <a:r>
              <a:rPr lang="en-US" sz="2100" dirty="0">
                <a:solidFill>
                  <a:schemeClr val="bg1"/>
                </a:solidFill>
              </a:rPr>
              <a:t>";</a:t>
            </a:r>
          </a:p>
          <a:p>
            <a:endParaRPr lang="en-US" sz="2100" dirty="0">
              <a:solidFill>
                <a:schemeClr val="bg1"/>
              </a:solidFill>
            </a:endParaRPr>
          </a:p>
          <a:p>
            <a:r>
              <a:rPr lang="en-US" sz="2100" dirty="0">
                <a:solidFill>
                  <a:schemeClr val="bg1"/>
                </a:solidFill>
              </a:rPr>
              <a:t># Set </a:t>
            </a:r>
            <a:r>
              <a:rPr lang="en-US" sz="2100" dirty="0" err="1">
                <a:solidFill>
                  <a:schemeClr val="bg1"/>
                </a:solidFill>
              </a:rPr>
              <a:t>ComputeContext</a:t>
            </a:r>
            <a:endParaRPr lang="en-US" sz="2100" dirty="0">
              <a:solidFill>
                <a:schemeClr val="bg1"/>
              </a:solidFill>
            </a:endParaRPr>
          </a:p>
          <a:p>
            <a:r>
              <a:rPr lang="en-US" sz="2100" dirty="0">
                <a:solidFill>
                  <a:schemeClr val="bg1"/>
                </a:solidFill>
              </a:rPr>
              <a:t>cc &lt;- </a:t>
            </a:r>
            <a:r>
              <a:rPr lang="en-US" sz="2100" dirty="0" err="1">
                <a:solidFill>
                  <a:schemeClr val="bg1"/>
                </a:solidFill>
              </a:rPr>
              <a:t>RxInSqlServer</a:t>
            </a:r>
            <a:r>
              <a:rPr lang="en-US" sz="2100" dirty="0">
                <a:solidFill>
                  <a:schemeClr val="bg1"/>
                </a:solidFill>
              </a:rPr>
              <a:t>(</a:t>
            </a:r>
            <a:r>
              <a:rPr lang="en-US" sz="2100" dirty="0" err="1">
                <a:solidFill>
                  <a:schemeClr val="bg1"/>
                </a:solidFill>
              </a:rPr>
              <a:t>connectionString</a:t>
            </a:r>
            <a:r>
              <a:rPr lang="en-US" sz="2100" dirty="0">
                <a:solidFill>
                  <a:schemeClr val="bg1"/>
                </a:solidFill>
              </a:rPr>
              <a:t> = </a:t>
            </a:r>
            <a:r>
              <a:rPr lang="en-US" sz="2100" dirty="0" err="1">
                <a:solidFill>
                  <a:schemeClr val="bg1"/>
                </a:solidFill>
              </a:rPr>
              <a:t>connStr</a:t>
            </a:r>
            <a:r>
              <a:rPr lang="en-US" sz="2100" dirty="0">
                <a:solidFill>
                  <a:schemeClr val="bg1"/>
                </a:solidFill>
              </a:rPr>
              <a:t>);</a:t>
            </a:r>
          </a:p>
          <a:p>
            <a:r>
              <a:rPr lang="en-US" sz="2100" dirty="0" err="1">
                <a:solidFill>
                  <a:schemeClr val="bg1"/>
                </a:solidFill>
              </a:rPr>
              <a:t>rxSetComputeContext</a:t>
            </a:r>
            <a:r>
              <a:rPr lang="en-US" sz="2100" dirty="0">
                <a:solidFill>
                  <a:schemeClr val="bg1"/>
                </a:solidFill>
              </a:rPr>
              <a:t>(cc);</a:t>
            </a:r>
          </a:p>
          <a:p>
            <a:endParaRPr lang="en-US" sz="2100" dirty="0">
              <a:solidFill>
                <a:schemeClr val="bg1"/>
              </a:solidFill>
            </a:endParaRPr>
          </a:p>
          <a:p>
            <a:r>
              <a:rPr lang="en-US" sz="2100" dirty="0">
                <a:solidFill>
                  <a:schemeClr val="bg1"/>
                </a:solidFill>
              </a:rPr>
              <a:t>test &lt;- </a:t>
            </a:r>
            <a:r>
              <a:rPr lang="en-US" sz="2100" dirty="0" err="1">
                <a:solidFill>
                  <a:schemeClr val="bg1"/>
                </a:solidFill>
              </a:rPr>
              <a:t>RxSqlServerData</a:t>
            </a:r>
            <a:r>
              <a:rPr lang="en-US" sz="2100" dirty="0">
                <a:solidFill>
                  <a:schemeClr val="bg1"/>
                </a:solidFill>
              </a:rPr>
              <a:t>(</a:t>
            </a:r>
            <a:r>
              <a:rPr lang="en-US" sz="2100" dirty="0" err="1">
                <a:solidFill>
                  <a:schemeClr val="bg1"/>
                </a:solidFill>
              </a:rPr>
              <a:t>connectionString</a:t>
            </a:r>
            <a:r>
              <a:rPr lang="en-US" sz="2100" dirty="0">
                <a:solidFill>
                  <a:schemeClr val="bg1"/>
                </a:solidFill>
              </a:rPr>
              <a:t> = </a:t>
            </a:r>
            <a:r>
              <a:rPr lang="en-US" sz="2100" dirty="0" err="1">
                <a:solidFill>
                  <a:schemeClr val="bg1"/>
                </a:solidFill>
              </a:rPr>
              <a:t>connStr</a:t>
            </a:r>
            <a:r>
              <a:rPr lang="en-US" sz="2100" dirty="0">
                <a:solidFill>
                  <a:schemeClr val="bg1"/>
                </a:solidFill>
              </a:rPr>
              <a:t>, </a:t>
            </a:r>
            <a:r>
              <a:rPr lang="en-US" sz="2100" dirty="0" err="1">
                <a:solidFill>
                  <a:schemeClr val="bg1"/>
                </a:solidFill>
              </a:rPr>
              <a:t>sqlQuery</a:t>
            </a:r>
            <a:r>
              <a:rPr lang="en-US" sz="2100" dirty="0">
                <a:solidFill>
                  <a:schemeClr val="bg1"/>
                </a:solidFill>
              </a:rPr>
              <a:t> = </a:t>
            </a:r>
            <a:r>
              <a:rPr lang="en-US" sz="2100" dirty="0" err="1">
                <a:solidFill>
                  <a:schemeClr val="bg1"/>
                </a:solidFill>
              </a:rPr>
              <a:t>input_query</a:t>
            </a:r>
            <a:r>
              <a:rPr lang="en-US" sz="2100" dirty="0">
                <a:solidFill>
                  <a:schemeClr val="bg1"/>
                </a:solidFill>
              </a:rPr>
              <a:t>);</a:t>
            </a:r>
          </a:p>
          <a:p>
            <a:endParaRPr lang="en-US" sz="2100" dirty="0">
              <a:solidFill>
                <a:schemeClr val="bg1"/>
              </a:solidFill>
            </a:endParaRPr>
          </a:p>
          <a:p>
            <a:r>
              <a:rPr lang="en-US" sz="2100" dirty="0">
                <a:solidFill>
                  <a:schemeClr val="bg1"/>
                </a:solidFill>
              </a:rPr>
              <a:t>prediction &lt;- </a:t>
            </a:r>
            <a:r>
              <a:rPr lang="en-US" sz="2100" dirty="0" err="1">
                <a:solidFill>
                  <a:schemeClr val="bg1"/>
                </a:solidFill>
              </a:rPr>
              <a:t>rxPredict</a:t>
            </a:r>
            <a:r>
              <a:rPr lang="en-US" sz="2100" dirty="0">
                <a:solidFill>
                  <a:schemeClr val="bg1"/>
                </a:solidFill>
              </a:rPr>
              <a:t>(model, data = test, </a:t>
            </a:r>
            <a:r>
              <a:rPr lang="en-US" sz="2100" dirty="0" err="1">
                <a:solidFill>
                  <a:schemeClr val="bg1"/>
                </a:solidFill>
              </a:rPr>
              <a:t>extraVarsToWrite</a:t>
            </a:r>
            <a:r>
              <a:rPr lang="en-US" sz="2100" dirty="0">
                <a:solidFill>
                  <a:schemeClr val="bg1"/>
                </a:solidFill>
              </a:rPr>
              <a:t> = "tag",</a:t>
            </a:r>
          </a:p>
          <a:p>
            <a:r>
              <a:rPr lang="en-US" sz="2100" dirty="0">
                <a:solidFill>
                  <a:schemeClr val="bg1"/>
                </a:solidFill>
              </a:rPr>
              <a:t>				overwrite = TRUE, </a:t>
            </a:r>
            <a:r>
              <a:rPr lang="en-US" sz="2000" b="1" dirty="0" err="1">
                <a:solidFill>
                  <a:schemeClr val="accent2"/>
                </a:solidFill>
              </a:rPr>
              <a:t>rowsPerRead</a:t>
            </a:r>
            <a:r>
              <a:rPr lang="en-US" sz="2000" b="1" dirty="0">
                <a:solidFill>
                  <a:schemeClr val="accent2"/>
                </a:solidFill>
              </a:rPr>
              <a:t> = 5000</a:t>
            </a:r>
            <a:r>
              <a:rPr lang="en-US" sz="2100" dirty="0">
                <a:solidFill>
                  <a:schemeClr val="bg1"/>
                </a:solidFill>
              </a:rPr>
              <a:t>)</a:t>
            </a:r>
          </a:p>
        </p:txBody>
      </p:sp>
    </p:spTree>
    <p:extLst>
      <p:ext uri="{BB962C8B-B14F-4D97-AF65-F5344CB8AC3E}">
        <p14:creationId xmlns:p14="http://schemas.microsoft.com/office/powerpoint/2010/main" val="3262907614"/>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42.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Management Views</a:t>
            </a:r>
          </a:p>
        </p:txBody>
      </p:sp>
      <p:sp>
        <p:nvSpPr>
          <p:cNvPr id="3" name="Text Placeholder 2"/>
          <p:cNvSpPr>
            <a:spLocks noGrp="1"/>
          </p:cNvSpPr>
          <p:nvPr>
            <p:ph type="body" sz="quarter" idx="10"/>
          </p:nvPr>
        </p:nvSpPr>
        <p:spPr>
          <a:xfrm>
            <a:off x="274639" y="1212851"/>
            <a:ext cx="11887200" cy="1292662"/>
          </a:xfrm>
        </p:spPr>
        <p:txBody>
          <a:bodyPr/>
          <a:lstStyle/>
          <a:p>
            <a:endParaRPr lang="en-US" dirty="0"/>
          </a:p>
          <a:p>
            <a:endParaRPr lang="en-US" dirty="0"/>
          </a:p>
        </p:txBody>
      </p:sp>
      <p:graphicFrame>
        <p:nvGraphicFramePr>
          <p:cNvPr id="4" name="Table 3"/>
          <p:cNvGraphicFramePr>
            <a:graphicFrameLocks noGrp="1"/>
          </p:cNvGraphicFramePr>
          <p:nvPr>
            <p:extLst/>
          </p:nvPr>
        </p:nvGraphicFramePr>
        <p:xfrm>
          <a:off x="449049" y="1386935"/>
          <a:ext cx="11538377" cy="4755811"/>
        </p:xfrm>
        <a:graphic>
          <a:graphicData uri="http://schemas.openxmlformats.org/drawingml/2006/table">
            <a:tbl>
              <a:tblPr firstRow="1" bandRow="1">
                <a:tableStyleId>{5C22544A-7EE6-4342-B048-85BDC9FD1C3A}</a:tableStyleId>
              </a:tblPr>
              <a:tblGrid>
                <a:gridCol w="4563022">
                  <a:extLst>
                    <a:ext uri="{9D8B030D-6E8A-4147-A177-3AD203B41FA5}">
                      <a16:colId xmlns:a16="http://schemas.microsoft.com/office/drawing/2014/main" val="3031652956"/>
                    </a:ext>
                  </a:extLst>
                </a:gridCol>
                <a:gridCol w="6975355">
                  <a:extLst>
                    <a:ext uri="{9D8B030D-6E8A-4147-A177-3AD203B41FA5}">
                      <a16:colId xmlns:a16="http://schemas.microsoft.com/office/drawing/2014/main" val="4235896045"/>
                    </a:ext>
                  </a:extLst>
                </a:gridCol>
              </a:tblGrid>
              <a:tr h="688115">
                <a:tc>
                  <a:txBody>
                    <a:bodyPr/>
                    <a:lstStyle/>
                    <a:p>
                      <a:r>
                        <a:rPr lang="en-US" sz="2400" dirty="0"/>
                        <a:t>DMV</a:t>
                      </a:r>
                    </a:p>
                  </a:txBody>
                  <a:tcPr marL="124347" marR="124347" marT="62174" marB="62174"/>
                </a:tc>
                <a:tc>
                  <a:txBody>
                    <a:bodyPr/>
                    <a:lstStyle/>
                    <a:p>
                      <a:r>
                        <a:rPr lang="en-US" sz="2400" dirty="0"/>
                        <a:t>Description</a:t>
                      </a:r>
                    </a:p>
                  </a:txBody>
                  <a:tcPr marL="124347" marR="124347" marT="62174" marB="62174"/>
                </a:tc>
                <a:extLst>
                  <a:ext uri="{0D108BD9-81ED-4DB2-BD59-A6C34878D82A}">
                    <a16:rowId xmlns:a16="http://schemas.microsoft.com/office/drawing/2014/main" val="585219999"/>
                  </a:ext>
                </a:extLst>
              </a:tr>
              <a:tr h="688115">
                <a:tc>
                  <a:txBody>
                    <a:bodyPr/>
                    <a:lstStyle/>
                    <a:p>
                      <a:r>
                        <a:rPr lang="en-US" sz="2400" dirty="0" err="1"/>
                        <a:t>sys.dm_exec_requests</a:t>
                      </a:r>
                      <a:endParaRPr lang="en-US" sz="2400" dirty="0"/>
                    </a:p>
                  </a:txBody>
                  <a:tcPr marL="124347" marR="124347" marT="62174" marB="6217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New column: </a:t>
                      </a:r>
                      <a:r>
                        <a:rPr lang="en-US" sz="2400" b="1" dirty="0" err="1"/>
                        <a:t>external_script_request_id</a:t>
                      </a:r>
                      <a:endParaRPr lang="en-US" sz="2400" b="1" dirty="0"/>
                    </a:p>
                  </a:txBody>
                  <a:tcPr marL="124347" marR="124347" marT="62174" marB="62174"/>
                </a:tc>
                <a:extLst>
                  <a:ext uri="{0D108BD9-81ED-4DB2-BD59-A6C34878D82A}">
                    <a16:rowId xmlns:a16="http://schemas.microsoft.com/office/drawing/2014/main" val="2417409847"/>
                  </a:ext>
                </a:extLst>
              </a:tr>
              <a:tr h="11877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sys.dm_external_script_requests</a:t>
                      </a:r>
                      <a:endParaRPr lang="en-US" sz="2400" dirty="0"/>
                    </a:p>
                  </a:txBody>
                  <a:tcPr marL="124347" marR="124347" marT="62174" marB="6217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Returns running</a:t>
                      </a:r>
                      <a:r>
                        <a:rPr lang="en-US" sz="2400" baseline="0" dirty="0"/>
                        <a:t> external scripts, DOP &amp; assigned user account</a:t>
                      </a:r>
                      <a:endParaRPr lang="en-US" sz="2400" dirty="0"/>
                    </a:p>
                  </a:txBody>
                  <a:tcPr marL="124347" marR="124347" marT="62174" marB="62174"/>
                </a:tc>
                <a:extLst>
                  <a:ext uri="{0D108BD9-81ED-4DB2-BD59-A6C34878D82A}">
                    <a16:rowId xmlns:a16="http://schemas.microsoft.com/office/drawing/2014/main" val="2925610459"/>
                  </a:ext>
                </a:extLst>
              </a:tr>
              <a:tr h="11877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err="1">
                          <a:solidFill>
                            <a:schemeClr val="dk1"/>
                          </a:solidFill>
                          <a:latin typeface="+mn-lt"/>
                          <a:ea typeface="+mn-ea"/>
                          <a:cs typeface="+mn-cs"/>
                        </a:rPr>
                        <a:t>sys.dm_external_script_execution_stats</a:t>
                      </a:r>
                      <a:endParaRPr lang="en-US" sz="2400" dirty="0"/>
                    </a:p>
                  </a:txBody>
                  <a:tcPr marL="124347" marR="124347" marT="62174" marB="6217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Number</a:t>
                      </a:r>
                      <a:r>
                        <a:rPr lang="en-US" sz="2400" baseline="0" dirty="0"/>
                        <a:t> of executions for </a:t>
                      </a:r>
                      <a:r>
                        <a:rPr lang="en-US" sz="2400" baseline="0" dirty="0" err="1"/>
                        <a:t>rx</a:t>
                      </a:r>
                      <a:r>
                        <a:rPr lang="en-US" sz="2400" baseline="0" dirty="0"/>
                        <a:t>* functions in </a:t>
                      </a:r>
                      <a:r>
                        <a:rPr lang="en-US" sz="2400" baseline="0" dirty="0" err="1"/>
                        <a:t>RevoScaleR</a:t>
                      </a:r>
                      <a:r>
                        <a:rPr lang="en-US" sz="2400" baseline="0" dirty="0"/>
                        <a:t> package</a:t>
                      </a:r>
                      <a:endParaRPr lang="en-US" sz="2400" dirty="0"/>
                    </a:p>
                  </a:txBody>
                  <a:tcPr marL="124347" marR="124347" marT="62174" marB="62174"/>
                </a:tc>
                <a:extLst>
                  <a:ext uri="{0D108BD9-81ED-4DB2-BD59-A6C34878D82A}">
                    <a16:rowId xmlns:a16="http://schemas.microsoft.com/office/drawing/2014/main" val="635753157"/>
                  </a:ext>
                </a:extLst>
              </a:tr>
              <a:tr h="1004165">
                <a:tc>
                  <a:txBody>
                    <a:bodyPr/>
                    <a:lstStyle/>
                    <a:p>
                      <a:r>
                        <a:rPr lang="en-US" sz="2400" dirty="0" err="1"/>
                        <a:t>sys.dm_os_performance_counters</a:t>
                      </a:r>
                      <a:endParaRPr lang="en-US" sz="2400" dirty="0"/>
                    </a:p>
                  </a:txBody>
                  <a:tcPr marL="124347" marR="124347" marT="62174" marB="62174"/>
                </a:tc>
                <a:tc>
                  <a:txBody>
                    <a:bodyPr/>
                    <a:lstStyle/>
                    <a:p>
                      <a:r>
                        <a:rPr lang="en-US" sz="2400" dirty="0"/>
                        <a:t>New “</a:t>
                      </a:r>
                      <a:r>
                        <a:rPr lang="en-US" sz="2400" b="1" dirty="0"/>
                        <a:t>External Scripts</a:t>
                      </a:r>
                      <a:r>
                        <a:rPr lang="en-US" sz="2400" dirty="0"/>
                        <a:t>” performance counters</a:t>
                      </a:r>
                    </a:p>
                  </a:txBody>
                  <a:tcPr marL="124347" marR="124347" marT="62174" marB="62174"/>
                </a:tc>
                <a:extLst>
                  <a:ext uri="{0D108BD9-81ED-4DB2-BD59-A6C34878D82A}">
                    <a16:rowId xmlns:a16="http://schemas.microsoft.com/office/drawing/2014/main" val="1482386088"/>
                  </a:ext>
                </a:extLst>
              </a:tr>
            </a:tbl>
          </a:graphicData>
        </a:graphic>
      </p:graphicFrame>
    </p:spTree>
    <p:extLst>
      <p:ext uri="{BB962C8B-B14F-4D97-AF65-F5344CB8AC3E}">
        <p14:creationId xmlns:p14="http://schemas.microsoft.com/office/powerpoint/2010/main" val="4138613515"/>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43.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616141" y="1150312"/>
            <a:ext cx="11208510" cy="4299126"/>
          </a:xfrm>
        </p:spPr>
        <p:txBody>
          <a:bodyPr/>
          <a:lstStyle/>
          <a:p>
            <a:pPr marL="466310" indent="-466310">
              <a:buFont typeface="Arial" panose="020B0604020202020204" pitchFamily="34" charset="0"/>
              <a:buChar char="•"/>
            </a:pPr>
            <a:r>
              <a:rPr lang="en-US" sz="2448" dirty="0"/>
              <a:t>Three classes of events: SQL Server, Launchpad &amp; </a:t>
            </a:r>
            <a:r>
              <a:rPr lang="en-US" sz="2448" dirty="0" err="1"/>
              <a:t>BxlServer</a:t>
            </a:r>
            <a:endParaRPr lang="en-US" sz="2448" dirty="0"/>
          </a:p>
          <a:p>
            <a:pPr marL="466310" indent="-466310">
              <a:buFont typeface="Arial" panose="020B0604020202020204" pitchFamily="34" charset="0"/>
              <a:buChar char="•"/>
            </a:pPr>
            <a:r>
              <a:rPr lang="en-US" sz="2448" dirty="0"/>
              <a:t>SQL Server Launch events</a:t>
            </a:r>
          </a:p>
          <a:p>
            <a:pPr marL="932619" lvl="1">
              <a:buFont typeface="Arial" panose="020B0604020202020204" pitchFamily="34" charset="0"/>
              <a:buChar char="•"/>
            </a:pPr>
            <a:r>
              <a:rPr lang="en-US" sz="2176" dirty="0"/>
              <a:t>Available under debug channel</a:t>
            </a:r>
          </a:p>
          <a:p>
            <a:pPr marL="932619" lvl="1">
              <a:buFont typeface="Arial" panose="020B0604020202020204" pitchFamily="34" charset="0"/>
              <a:buChar char="•"/>
            </a:pPr>
            <a:r>
              <a:rPr lang="en-US" sz="2176" dirty="0"/>
              <a:t>Start of satellite &amp; successful launch of satellite event</a:t>
            </a:r>
          </a:p>
          <a:p>
            <a:pPr marL="466310" indent="-466310">
              <a:buFont typeface="Arial" panose="020B0604020202020204" pitchFamily="34" charset="0"/>
              <a:buChar char="•"/>
            </a:pPr>
            <a:r>
              <a:rPr lang="en-US" sz="2448" dirty="0"/>
              <a:t>Satellite events can be used to diagnose R script execution</a:t>
            </a:r>
          </a:p>
          <a:p>
            <a:pPr marL="932619" lvl="1">
              <a:buFont typeface="Arial" panose="020B0604020202020204" pitchFamily="34" charset="0"/>
              <a:buChar char="•"/>
            </a:pPr>
            <a:r>
              <a:rPr lang="en-US" sz="2176" dirty="0"/>
              <a:t>Enable debug channel to see more events</a:t>
            </a:r>
          </a:p>
          <a:p>
            <a:pPr marL="932619" lvl="1">
              <a:buFont typeface="Arial" panose="020B0604020202020204" pitchFamily="34" charset="0"/>
              <a:buChar char="•"/>
            </a:pPr>
            <a:r>
              <a:rPr lang="en-US" sz="2176" dirty="0"/>
              <a:t>Authentication, Startup, Shutdown events</a:t>
            </a:r>
          </a:p>
          <a:p>
            <a:pPr marL="932619" lvl="1">
              <a:buFont typeface="Arial" panose="020B0604020202020204" pitchFamily="34" charset="0"/>
              <a:buChar char="•"/>
            </a:pPr>
            <a:r>
              <a:rPr lang="en-US" sz="2176" dirty="0"/>
              <a:t>Communication between SQL Server &amp; </a:t>
            </a:r>
            <a:r>
              <a:rPr lang="en-US" sz="2176" dirty="0" err="1"/>
              <a:t>BxlServer</a:t>
            </a:r>
            <a:endParaRPr lang="en-US" sz="2176" dirty="0"/>
          </a:p>
          <a:p>
            <a:pPr marL="932619" lvl="1">
              <a:buFont typeface="Arial" panose="020B0604020202020204" pitchFamily="34" charset="0"/>
              <a:buChar char="•"/>
            </a:pPr>
            <a:r>
              <a:rPr lang="en-US" sz="2176" dirty="0"/>
              <a:t>Data Transfer between SQL Server &amp; </a:t>
            </a:r>
            <a:r>
              <a:rPr lang="en-US" sz="2176" dirty="0" err="1"/>
              <a:t>BxlServer</a:t>
            </a:r>
            <a:endParaRPr lang="en-US" sz="2176" dirty="0"/>
          </a:p>
          <a:p>
            <a:pPr marL="466310" indent="-466310">
              <a:buFont typeface="Arial" panose="020B0604020202020204" pitchFamily="34" charset="0"/>
              <a:buChar char="•"/>
            </a:pPr>
            <a:r>
              <a:rPr lang="en-US" sz="2448" dirty="0"/>
              <a:t>Launchpad &amp; </a:t>
            </a:r>
            <a:r>
              <a:rPr lang="en-US" sz="2448" dirty="0" err="1"/>
              <a:t>BxlServer</a:t>
            </a:r>
            <a:r>
              <a:rPr lang="en-US" sz="2448" dirty="0"/>
              <a:t> events</a:t>
            </a:r>
          </a:p>
          <a:p>
            <a:pPr marL="932619" lvl="1">
              <a:buFont typeface="Arial" panose="020B0604020202020204" pitchFamily="34" charset="0"/>
              <a:buChar char="•"/>
            </a:pPr>
            <a:r>
              <a:rPr lang="en-US" sz="1904" dirty="0"/>
              <a:t>Enabled using a configuration XML file. Documented </a:t>
            </a:r>
            <a:r>
              <a:rPr lang="en-US" sz="1904" dirty="0">
                <a:hlinkClick r:id="rId3"/>
              </a:rPr>
              <a:t>here</a:t>
            </a:r>
            <a:endParaRPr lang="en-US" sz="1904" dirty="0"/>
          </a:p>
        </p:txBody>
      </p:sp>
      <p:sp>
        <p:nvSpPr>
          <p:cNvPr id="4" name="Title 3"/>
          <p:cNvSpPr>
            <a:spLocks noGrp="1"/>
          </p:cNvSpPr>
          <p:nvPr>
            <p:ph type="title"/>
          </p:nvPr>
        </p:nvSpPr>
        <p:spPr/>
        <p:txBody>
          <a:bodyPr/>
          <a:lstStyle/>
          <a:p>
            <a:r>
              <a:rPr lang="en-US" dirty="0"/>
              <a:t>Extended Events</a:t>
            </a:r>
          </a:p>
        </p:txBody>
      </p:sp>
    </p:spTree>
    <p:extLst>
      <p:ext uri="{BB962C8B-B14F-4D97-AF65-F5344CB8AC3E}">
        <p14:creationId xmlns:p14="http://schemas.microsoft.com/office/powerpoint/2010/main" val="101600344"/>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44.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616141" y="1318081"/>
            <a:ext cx="11208510" cy="5257914"/>
          </a:xfrm>
        </p:spPr>
        <p:txBody>
          <a:bodyPr/>
          <a:lstStyle/>
          <a:p>
            <a:pPr marL="466310" indent="-466310">
              <a:buFont typeface="Arial" panose="020B0604020202020204" pitchFamily="34" charset="0"/>
              <a:buChar char="•"/>
            </a:pPr>
            <a:r>
              <a:rPr lang="en-US" sz="3808" dirty="0"/>
              <a:t>Set CPU, affinity, memory limit &amp; max processes for external runtimes</a:t>
            </a:r>
          </a:p>
          <a:p>
            <a:pPr marL="466310" indent="-466310">
              <a:buFont typeface="Arial" panose="020B0604020202020204" pitchFamily="34" charset="0"/>
              <a:buChar char="•"/>
            </a:pPr>
            <a:r>
              <a:rPr lang="en-US" sz="3808" dirty="0"/>
              <a:t>Enforced using Windows </a:t>
            </a:r>
            <a:r>
              <a:rPr lang="en-US" sz="3808" dirty="0" err="1"/>
              <a:t>Jobobjects</a:t>
            </a:r>
            <a:endParaRPr lang="en-US" sz="3808" dirty="0"/>
          </a:p>
          <a:p>
            <a:pPr marL="466310" indent="-466310">
              <a:buFont typeface="Arial" panose="020B0604020202020204" pitchFamily="34" charset="0"/>
              <a:buChar char="•"/>
            </a:pPr>
            <a:r>
              <a:rPr lang="en-US" sz="3808" dirty="0"/>
              <a:t>“default” external resource pool</a:t>
            </a:r>
          </a:p>
          <a:p>
            <a:pPr marL="932619" lvl="1">
              <a:buFont typeface="Arial" panose="020B0604020202020204" pitchFamily="34" charset="0"/>
              <a:buChar char="•"/>
            </a:pPr>
            <a:r>
              <a:rPr lang="en-US" sz="3264" dirty="0"/>
              <a:t>Enabled on all editions of SQL Server. Can be modified in EE</a:t>
            </a:r>
          </a:p>
          <a:p>
            <a:pPr marL="932619" lvl="1">
              <a:buFont typeface="Arial" panose="020B0604020202020204" pitchFamily="34" charset="0"/>
              <a:buChar char="•"/>
            </a:pPr>
            <a:r>
              <a:rPr lang="en-US" sz="3264" u="sng" dirty="0"/>
              <a:t>Default memory setting is 20% of available RAM</a:t>
            </a:r>
          </a:p>
          <a:p>
            <a:pPr marL="466310" indent="-466310">
              <a:buFont typeface="Arial" panose="020B0604020202020204" pitchFamily="34" charset="0"/>
              <a:buChar char="•"/>
            </a:pPr>
            <a:r>
              <a:rPr lang="en-US" sz="3808" dirty="0"/>
              <a:t>Workload group can be tied to a SQL resource pool &amp; external resource pool</a:t>
            </a:r>
          </a:p>
        </p:txBody>
      </p:sp>
      <p:sp>
        <p:nvSpPr>
          <p:cNvPr id="3" name="Title 2"/>
          <p:cNvSpPr>
            <a:spLocks noGrp="1"/>
          </p:cNvSpPr>
          <p:nvPr>
            <p:ph type="title"/>
          </p:nvPr>
        </p:nvSpPr>
        <p:spPr/>
        <p:txBody>
          <a:bodyPr/>
          <a:lstStyle/>
          <a:p>
            <a:r>
              <a:rPr lang="en-US" dirty="0"/>
              <a:t>External Resource Pools</a:t>
            </a:r>
          </a:p>
        </p:txBody>
      </p:sp>
      <p:sp>
        <p:nvSpPr>
          <p:cNvPr id="4" name="Slide Number Placeholder 3"/>
          <p:cNvSpPr>
            <a:spLocks noGrp="1"/>
          </p:cNvSpPr>
          <p:nvPr>
            <p:ph type="sldNum" sz="quarter" idx="4"/>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fld id="{2501BE23-1565-7B4A-A660-ADF397564F82}" type="slidenum">
              <a:rPr kumimoji="0" lang="en-US" sz="1800" b="0" i="0" u="none" strike="noStrike" kern="1200" cap="none" spc="0" normalizeH="0" baseline="0" noProof="0" smtClean="0">
                <a:ln>
                  <a:noFill/>
                </a:ln>
                <a:solidFill>
                  <a:srgbClr val="FFFFFF"/>
                </a:solidFill>
                <a:effectLst/>
                <a:uLnTx/>
                <a:uFillTx/>
                <a:latin typeface="Segoe UI Semilight"/>
                <a:ea typeface="+mn-ea"/>
                <a:cs typeface="+mn-cs"/>
              </a:rPr>
              <a:pPr marL="0" marR="0" lvl="0" indent="0" algn="l" defTabSz="932742"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dirty="0">
              <a:ln>
                <a:noFill/>
              </a:ln>
              <a:solidFill>
                <a:srgbClr val="FFFFFF"/>
              </a:solidFill>
              <a:effectLst/>
              <a:uLnTx/>
              <a:uFillTx/>
              <a:latin typeface="Segoe UI Semilight"/>
              <a:ea typeface="+mn-ea"/>
              <a:cs typeface="+mn-cs"/>
            </a:endParaRPr>
          </a:p>
        </p:txBody>
      </p:sp>
    </p:spTree>
    <p:extLst>
      <p:ext uri="{BB962C8B-B14F-4D97-AF65-F5344CB8AC3E}">
        <p14:creationId xmlns:p14="http://schemas.microsoft.com/office/powerpoint/2010/main" val="2662052405"/>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slides/slide45.xml><?xml version="1.0" encoding="utf-8"?>
<p:sld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616141" y="1318081"/>
            <a:ext cx="11208510" cy="5916235"/>
          </a:xfrm>
        </p:spPr>
        <p:txBody>
          <a:bodyPr/>
          <a:lstStyle/>
          <a:p>
            <a:pPr marL="466310" indent="-466310">
              <a:buFont typeface="Arial" panose="020B0604020202020204" pitchFamily="34" charset="0"/>
              <a:buChar char="•"/>
            </a:pPr>
            <a:r>
              <a:rPr lang="en-US" dirty="0"/>
              <a:t>Launchpad creates </a:t>
            </a:r>
            <a:r>
              <a:rPr lang="en-US" dirty="0" err="1"/>
              <a:t>jobobjects</a:t>
            </a:r>
            <a:r>
              <a:rPr lang="en-US" dirty="0"/>
              <a:t> for external resource pools</a:t>
            </a:r>
          </a:p>
          <a:p>
            <a:pPr marL="466310" indent="-466310">
              <a:buFont typeface="Arial" panose="020B0604020202020204" pitchFamily="34" charset="0"/>
              <a:buChar char="•"/>
            </a:pPr>
            <a:r>
              <a:rPr lang="en-US" dirty="0"/>
              <a:t>Instance counter names:</a:t>
            </a:r>
          </a:p>
          <a:p>
            <a:pPr lvl="1"/>
            <a:r>
              <a:rPr lang="en-US" sz="2448" dirty="0"/>
              <a:t>&lt;SQL INSTANCE_ NAME&gt;_</a:t>
            </a:r>
            <a:r>
              <a:rPr lang="en-US" sz="2448" dirty="0" err="1"/>
              <a:t>External_Resource_Pool</a:t>
            </a:r>
            <a:r>
              <a:rPr lang="en-US" sz="2448" dirty="0"/>
              <a:t>_&lt;ID&gt;_&lt;Timestamp&gt;</a:t>
            </a:r>
          </a:p>
          <a:p>
            <a:pPr marL="466310" indent="-466310">
              <a:buFont typeface="Arial" panose="020B0604020202020204" pitchFamily="34" charset="0"/>
              <a:buChar char="•"/>
            </a:pPr>
            <a:r>
              <a:rPr lang="en-US" dirty="0"/>
              <a:t>Job Object</a:t>
            </a:r>
          </a:p>
          <a:p>
            <a:pPr marL="932619" lvl="1">
              <a:buFont typeface="Arial" panose="020B0604020202020204" pitchFamily="34" charset="0"/>
              <a:buChar char="•"/>
            </a:pPr>
            <a:r>
              <a:rPr lang="en-US" dirty="0"/>
              <a:t>Ex: Current % Processor Time, Process Count - Active</a:t>
            </a:r>
          </a:p>
          <a:p>
            <a:pPr marL="466310" indent="-466310">
              <a:buFont typeface="Arial" panose="020B0604020202020204" pitchFamily="34" charset="0"/>
              <a:buChar char="•"/>
            </a:pPr>
            <a:r>
              <a:rPr lang="en-US" dirty="0">
                <a:hlinkClick r:id="rId3"/>
              </a:rPr>
              <a:t>Job Object Details</a:t>
            </a:r>
            <a:endParaRPr lang="en-US" dirty="0"/>
          </a:p>
          <a:p>
            <a:pPr marL="932619" lvl="1">
              <a:buFont typeface="Arial" panose="020B0604020202020204" pitchFamily="34" charset="0"/>
              <a:buChar char="•"/>
            </a:pPr>
            <a:r>
              <a:rPr lang="en-US" dirty="0"/>
              <a:t>Get details on specific R or </a:t>
            </a:r>
            <a:r>
              <a:rPr lang="en-US" dirty="0" err="1"/>
              <a:t>BxlServer</a:t>
            </a:r>
            <a:r>
              <a:rPr lang="en-US" dirty="0"/>
              <a:t> process or Total</a:t>
            </a:r>
          </a:p>
          <a:p>
            <a:pPr marL="932619" lvl="1">
              <a:buFont typeface="Arial" panose="020B0604020202020204" pitchFamily="34" charset="0"/>
              <a:buChar char="•"/>
            </a:pPr>
            <a:r>
              <a:rPr lang="en-US" dirty="0"/>
              <a:t>Ex: IO Data Bytes/sec, Working Set</a:t>
            </a:r>
          </a:p>
          <a:p>
            <a:pPr marL="466310" indent="-466310">
              <a:buFont typeface="Arial" panose="020B0604020202020204" pitchFamily="34" charset="0"/>
              <a:buChar char="•"/>
            </a:pPr>
            <a:r>
              <a:rPr lang="en-US" sz="2720" i="1" dirty="0"/>
              <a:t>Requires CU1 fix to view the counters in Windows Performance Monitor</a:t>
            </a:r>
          </a:p>
          <a:p>
            <a:pPr marL="466310" indent="-466310">
              <a:buFont typeface="Arial" panose="020B0604020202020204" pitchFamily="34" charset="0"/>
              <a:buChar char="•"/>
            </a:pPr>
            <a:endParaRPr lang="en-US" dirty="0"/>
          </a:p>
        </p:txBody>
      </p:sp>
      <p:sp>
        <p:nvSpPr>
          <p:cNvPr id="3" name="Title 2"/>
          <p:cNvSpPr>
            <a:spLocks noGrp="1"/>
          </p:cNvSpPr>
          <p:nvPr>
            <p:ph type="title"/>
          </p:nvPr>
        </p:nvSpPr>
        <p:spPr/>
        <p:txBody>
          <a:bodyPr/>
          <a:lstStyle/>
          <a:p>
            <a:r>
              <a:rPr lang="en-US" dirty="0"/>
              <a:t>Windows Job objects</a:t>
            </a:r>
          </a:p>
        </p:txBody>
      </p:sp>
      <p:sp>
        <p:nvSpPr>
          <p:cNvPr id="4" name="Slide Number Placeholder 3"/>
          <p:cNvSpPr>
            <a:spLocks noGrp="1"/>
          </p:cNvSpPr>
          <p:nvPr>
            <p:ph type="sldNum" sz="quarter" idx="4"/>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fld id="{2501BE23-1565-7B4A-A660-ADF397564F82}" type="slidenum">
              <a:rPr kumimoji="0" lang="en-US" sz="1800" b="0" i="0" u="none" strike="noStrike" kern="1200" cap="none" spc="0" normalizeH="0" baseline="0" noProof="0" smtClean="0">
                <a:ln>
                  <a:noFill/>
                </a:ln>
                <a:solidFill>
                  <a:srgbClr val="FFFFFF"/>
                </a:solidFill>
                <a:effectLst/>
                <a:uLnTx/>
                <a:uFillTx/>
                <a:latin typeface="Segoe UI Semilight"/>
                <a:ea typeface="+mn-ea"/>
                <a:cs typeface="+mn-cs"/>
              </a:rPr>
              <a:pPr marL="0" marR="0" lvl="0" indent="0" algn="l" defTabSz="932742"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dirty="0">
              <a:ln>
                <a:noFill/>
              </a:ln>
              <a:solidFill>
                <a:srgbClr val="FFFFFF"/>
              </a:solidFill>
              <a:effectLst/>
              <a:uLnTx/>
              <a:uFillTx/>
              <a:latin typeface="Segoe UI Semilight"/>
              <a:ea typeface="+mn-ea"/>
              <a:cs typeface="+mn-cs"/>
            </a:endParaRPr>
          </a:p>
        </p:txBody>
      </p:sp>
    </p:spTree>
    <p:extLst>
      <p:ext uri="{BB962C8B-B14F-4D97-AF65-F5344CB8AC3E}">
        <p14:creationId xmlns:p14="http://schemas.microsoft.com/office/powerpoint/2010/main" val="4112398220"/>
      </p:ext>
    </p:extLst>
  </p:cSld>
  <p:clrMapOvr>
    <a:masterClrMapping/>
  </p:clrMapOvr>
  <mc:AlternateContent xmlns:mc="http://schemas.openxmlformats.org/markup-compatibility/2006" xmlns:p14="http://schemas.microsoft.com/office/powerpoint/2010/main">
    <mc:Choice Requires="p14">
      <p:transition p14:dur="0"/>
    </mc:Choice>
    <mc:Fallback>
      <p:transition/>
    </mc:Fallback>
  </mc:AlternateContent>
</p:sld>
</file>

<file path=ppt/theme/theme1.xml><?xml version="1.0" encoding="utf-8"?>
<a:theme xmlns:a="http://schemas.openxmlformats.org/drawingml/2006/main" name="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4B8F84BF-CF35-4AF1-BAC7-B8DAE64F4EAE}" vid="{CBD897B8-F46D-4D52-9EAA-92EA989EC1D5}"/>
    </a:ext>
  </a:extLst>
</a:theme>
</file>

<file path=ppt/theme/theme2.xml><?xml version="1.0" encoding="utf-8"?>
<a:theme xmlns:a="http://schemas.openxmlformats.org/drawingml/2006/main" name="5-50109_Microsoft_Dark_Template">
  <a:themeElements>
    <a:clrScheme name="Microsoft 2017 Dark">
      <a:dk1>
        <a:srgbClr val="353535"/>
      </a:dk1>
      <a:lt1>
        <a:srgbClr val="FFFFFF"/>
      </a:lt1>
      <a:dk2>
        <a:srgbClr val="D83B01"/>
      </a:dk2>
      <a:lt2>
        <a:srgbClr val="CDF4FF"/>
      </a:lt2>
      <a:accent1>
        <a:srgbClr val="D83B01"/>
      </a:accent1>
      <a:accent2>
        <a:srgbClr val="FF8C00"/>
      </a:accent2>
      <a:accent3>
        <a:srgbClr val="FFB900"/>
      </a:accent3>
      <a:accent4>
        <a:srgbClr val="00BCF2"/>
      </a:accent4>
      <a:accent5>
        <a:srgbClr val="D2D2D2"/>
      </a:accent5>
      <a:accent6>
        <a:srgbClr val="737373"/>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4B8F84BF-CF35-4AF1-BAC7-B8DAE64F4EAE}" vid="{CC16A16F-169B-40E3-993E-E257D7AEC25A}"/>
    </a:ext>
  </a:extLst>
</a:theme>
</file>

<file path=ppt/theme/theme3.xml><?xml version="1.0" encoding="utf-8"?>
<a:theme xmlns:a="http://schemas.openxmlformats.org/drawingml/2006/main" name="1_5-50109_Microsoft_Dark_Template">
  <a:themeElements>
    <a:clrScheme name="Microsoft 2017 Dark">
      <a:dk1>
        <a:srgbClr val="353535"/>
      </a:dk1>
      <a:lt1>
        <a:srgbClr val="FFFFFF"/>
      </a:lt1>
      <a:dk2>
        <a:srgbClr val="D83B01"/>
      </a:dk2>
      <a:lt2>
        <a:srgbClr val="CDF4FF"/>
      </a:lt2>
      <a:accent1>
        <a:srgbClr val="D83B01"/>
      </a:accent1>
      <a:accent2>
        <a:srgbClr val="FF8C00"/>
      </a:accent2>
      <a:accent3>
        <a:srgbClr val="FFB900"/>
      </a:accent3>
      <a:accent4>
        <a:srgbClr val="00BCF2"/>
      </a:accent4>
      <a:accent5>
        <a:srgbClr val="D2D2D2"/>
      </a:accent5>
      <a:accent6>
        <a:srgbClr val="737373"/>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7C638A3A-D771-4183-8214-2AFBE384714F}"/>
    </a:ext>
  </a:extLst>
</a:theme>
</file>

<file path=ppt/theme/theme4.xml><?xml version="1.0" encoding="utf-8"?>
<a:theme xmlns:a="http://schemas.openxmlformats.org/drawingml/2006/main" name="1_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F7CA4DD3-8A26-4BFE-B361-277536E70685}" vid="{DC517985-AF00-427B-A27C-74FF5728D0B0}"/>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PresentationsDoc" ma:contentTypeID="0x010100A584695755FE764EB25B07353E74077C00D779C3CEF1177A4F8B41F96DF87A1F66" ma:contentTypeVersion="27" ma:contentTypeDescription="" ma:contentTypeScope="" ma:versionID="8641f81e7643323f4894ad5cfb9fb0f3">
  <xsd:schema xmlns:xsd="http://www.w3.org/2001/XMLSchema" xmlns:xs="http://www.w3.org/2001/XMLSchema" xmlns:p="http://schemas.microsoft.com/office/2006/metadata/properties" xmlns:ns1="http://schemas.microsoft.com/sharepoint/v3" xmlns:ns2="04e01bb1-6d80-42e9-ae53-416b1e8aa845" xmlns:ns3="230e9df3-be65-4c73-a93b-d1236ebd677e" xmlns:ns5="e889e55c-35cf-43c7-aaf4-cf2500919dd8" targetNamespace="http://schemas.microsoft.com/office/2006/metadata/properties" ma:root="true" ma:fieldsID="cfa393de6d5a52634dd4113eb929c878" ns1:_="" ns2:_="" ns3:_="" ns5:_="">
    <xsd:import namespace="http://schemas.microsoft.com/sharepoint/v3"/>
    <xsd:import namespace="04e01bb1-6d80-42e9-ae53-416b1e8aa845"/>
    <xsd:import namespace="230e9df3-be65-4c73-a93b-d1236ebd677e"/>
    <xsd:import namespace="e889e55c-35cf-43c7-aaf4-cf2500919dd8"/>
    <xsd:element name="properties">
      <xsd:complexType>
        <xsd:sequence>
          <xsd:element name="documentManagement">
            <xsd:complexType>
              <xsd:all>
                <xsd:element ref="ns2:e349cd3f156b4e7d8653c9cd4f2d8fb4" minOccurs="0"/>
                <xsd:element ref="ns3:TaxCatchAll" minOccurs="0"/>
                <xsd:element ref="ns3:TaxCatchAllLabel" minOccurs="0"/>
                <xsd:element ref="ns2:g60601ae6c3e4c409eb6a70077dda16d" minOccurs="0"/>
                <xsd:element ref="ns2:l61c8586195b4657a1f710a539f9bc3a"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e6bd9c8ce3ed4fe68161c78952f36fbc" minOccurs="0"/>
                <xsd:element ref="ns2:c2f1b796fca04ddbb48af271e99c8750" minOccurs="0"/>
                <xsd:element ref="ns2:Session_x0020_Code" minOccurs="0"/>
                <xsd:element ref="ns2:MS_x0020_Content_x0020_Owner" minOccurs="0"/>
                <xsd:element ref="ns2:a645af38eebb4a1ea4744f163c56ea26" minOccurs="0"/>
                <xsd:element ref="ns2:fb4e50409e3b4517bb965b3c7125e153" minOccurs="0"/>
                <xsd:element ref="ns1:AverageRating" minOccurs="0"/>
                <xsd:element ref="ns1:RatingCount" minOccurs="0"/>
                <xsd:element ref="ns1:LikesCount" minOccurs="0"/>
                <xsd:element ref="ns3:TaxKeywordTaxHTField" minOccurs="0"/>
                <xsd:element ref="ns2:SharedWithUsers" minOccurs="0"/>
                <xsd:element ref="ns2:SharedWithDetails" minOccurs="0"/>
                <xsd:element ref="ns5:_x0062_bc8" minOccurs="0"/>
                <xsd:element ref="ns2:LastSharedByUser" minOccurs="0"/>
                <xsd:element ref="ns2:LastSharedByTime" minOccurs="0"/>
                <xsd:element ref="ns5:MediaServiceMetadata" minOccurs="0"/>
                <xsd:element ref="ns5: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1" nillable="true" ma:displayName="Rating (0-5)" ma:decimals="2" ma:description="Average value of all the ratings that have been submitted" ma:internalName="AverageRating" ma:readOnly="true">
      <xsd:simpleType>
        <xsd:restriction base="dms:Number"/>
      </xsd:simpleType>
    </xsd:element>
    <xsd:element name="RatingCount" ma:index="32" nillable="true" ma:displayName="Number of Ratings" ma:decimals="0" ma:description="Number of ratings submitted" ma:internalName="RatingCount" ma:readOnly="true">
      <xsd:simpleType>
        <xsd:restriction base="dms:Number"/>
      </xsd:simpleType>
    </xsd:element>
    <xsd:element name="LikesCount" ma:index="33" nillable="true" ma:displayName="Number of Likes" ma:internalName="LikesCoun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4e01bb1-6d80-42e9-ae53-416b1e8aa845" elementFormDefault="qualified">
    <xsd:import namespace="http://schemas.microsoft.com/office/2006/documentManagement/types"/>
    <xsd:import namespace="http://schemas.microsoft.com/office/infopath/2007/PartnerControls"/>
    <xsd:element name="e349cd3f156b4e7d8653c9cd4f2d8fb4" ma:index="8" nillable="true" ma:taxonomy="true" ma:internalName="e349cd3f156b4e7d8653c9cd4f2d8fb4" ma:taxonomyFieldName="Event_x0020_Name" ma:displayName="Event Name" ma:default="" ma:fieldId="{e349cd3f-156b-4e7d-8653-c9cd4f2d8fb4}"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g60601ae6c3e4c409eb6a70077dda16d" ma:index="12" nillable="true" ma:taxonomy="true" ma:internalName="g60601ae6c3e4c409eb6a70077dda16d" ma:taxonomyFieldName="Event_x0020_Location" ma:displayName="Event Location" ma:default="" ma:fieldId="{060601ae-6c3e-4c40-9eb6-a70077dda16d}"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l61c8586195b4657a1f710a539f9bc3a" ma:index="14" nillable="true" ma:taxonomy="true" ma:internalName="l61c8586195b4657a1f710a539f9bc3a" ma:taxonomyFieldName="Event_x0020_Venue" ma:displayName="Event Venue" ma:default="" ma:fieldId="{561c8586-195b-4657-a1f7-10a539f9bc3a}"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e6bd9c8ce3ed4fe68161c78952f36fbc" ma:index="21" nillable="true" ma:taxonomy="true" ma:internalName="e6bd9c8ce3ed4fe68161c78952f36fbc" ma:taxonomyFieldName="Product" ma:displayName="Product" ma:default="" ma:fieldId="{e6bd9c8c-e3ed-4fe6-8161-c78952f36fbc}" ma:taxonomyMulti="true" ma:sspId="e385fb40-52d4-4fae-9c5b-3e8ff8a5878e" ma:termSetId="e8298524-23d5-441d-8e61-21bed1c2c470" ma:anchorId="00000000-0000-0000-0000-000000000000" ma:open="false" ma:isKeyword="false">
      <xsd:complexType>
        <xsd:sequence>
          <xsd:element ref="pc:Terms" minOccurs="0" maxOccurs="1"/>
        </xsd:sequence>
      </xsd:complexType>
    </xsd:element>
    <xsd:element name="c2f1b796fca04ddbb48af271e99c8750" ma:index="23" nillable="true" ma:taxonomy="true" ma:internalName="c2f1b796fca04ddbb48af271e99c8750" ma:taxonomyFieldName="Campaign" ma:displayName="Campaign" ma:default="" ma:fieldId="{c2f1b796-fca0-4ddb-b48a-f271e99c8750}" ma:taxonomyMulti="true" ma:sspId="e385fb40-52d4-4fae-9c5b-3e8ff8a5878e" ma:termSetId="eb6054b1-3a98-4c79-97b4-d20150dd266e" ma:anchorId="a7bf803d-fc4f-4bb4-903c-88e76437cc17" ma:open="false" ma:isKeyword="false">
      <xsd:complexType>
        <xsd:sequence>
          <xsd:element ref="pc:Terms" minOccurs="0" maxOccurs="1"/>
        </xsd:sequence>
      </xsd:complexType>
    </xsd:element>
    <xsd:element name="Session_x0020_Code" ma:index="25" nillable="true" ma:displayName="Session Code" ma:internalName="Session_x0020_Code">
      <xsd:simpleType>
        <xsd:restriction base="dms:Text">
          <xsd:maxLength value="255"/>
        </xsd:restriction>
      </xsd:simpleType>
    </xsd:element>
    <xsd:element name="MS_x0020_Content_x0020_Owner" ma:index="26"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645af38eebb4a1ea4744f163c56ea26" ma:index="27" nillable="true" ma:taxonomy="true" ma:internalName="a645af38eebb4a1ea4744f163c56ea26" ma:taxonomyFieldName="Track" ma:displayName="Track" ma:default="" ma:fieldId="{a645af38-eebb-4a1e-a474-4f163c56ea26}" ma:sspId="e385fb40-52d4-4fae-9c5b-3e8ff8a5878e" ma:termSetId="c41d04fa-0c93-454c-bbda-19a0dbc9ce57" ma:anchorId="00000000-0000-0000-0000-000000000000" ma:open="true" ma:isKeyword="false">
      <xsd:complexType>
        <xsd:sequence>
          <xsd:element ref="pc:Terms" minOccurs="0" maxOccurs="1"/>
        </xsd:sequence>
      </xsd:complexType>
    </xsd:element>
    <xsd:element name="fb4e50409e3b4517bb965b3c7125e153" ma:index="29" nillable="true" ma:taxonomy="true" ma:internalName="fb4e50409e3b4517bb965b3c7125e153" ma:taxonomyFieldName="Audience1" ma:displayName="Audience" ma:default="" ma:fieldId="{fb4e5040-9e3b-4517-bb96-5b3c7125e153}" ma:taxonomyMulti="true"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SharedWithUsers" ma:index="37"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8" nillable="true" ma:displayName="Shared With Details" ma:description="" ma:internalName="SharedWithDetails" ma:readOnly="true">
      <xsd:simpleType>
        <xsd:restriction base="dms:Note">
          <xsd:maxLength value="255"/>
        </xsd:restriction>
      </xsd:simpleType>
    </xsd:element>
    <xsd:element name="LastSharedByUser" ma:index="40" nillable="true" ma:displayName="Last Shared By User" ma:description="" ma:hidden="true" ma:internalName="LastSharedByUser" ma:readOnly="true">
      <xsd:simpleType>
        <xsd:restriction base="dms:Note"/>
      </xsd:simpleType>
    </xsd:element>
    <xsd:element name="LastSharedByTime" ma:index="41" nillable="true" ma:displayName="Last Shared By Time"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description="" ma:hidden="true" ma:list="{8508df36-a784-4474-b4a6-3a99ee8c8b37}" ma:internalName="TaxCatchAll" ma:showField="CatchAllData" ma:web="04e01bb1-6d80-42e9-ae53-416b1e8aa845">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description="" ma:hidden="true" ma:list="{8508df36-a784-4474-b4a6-3a99ee8c8b37}" ma:internalName="TaxCatchAllLabel" ma:readOnly="true" ma:showField="CatchAllDataLabel" ma:web="04e01bb1-6d80-42e9-ae53-416b1e8aa845">
      <xsd:complexType>
        <xsd:complexContent>
          <xsd:extension base="dms:MultiChoiceLookup">
            <xsd:sequence>
              <xsd:element name="Value" type="dms:Lookup" maxOccurs="unbounded" minOccurs="0" nillable="true"/>
            </xsd:sequence>
          </xsd:extension>
        </xsd:complexContent>
      </xsd:complexType>
    </xsd:element>
    <xsd:element name="TaxKeywordTaxHTField" ma:index="35"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889e55c-35cf-43c7-aaf4-cf2500919dd8" elementFormDefault="qualified">
    <xsd:import namespace="http://schemas.microsoft.com/office/2006/documentManagement/types"/>
    <xsd:import namespace="http://schemas.microsoft.com/office/infopath/2007/PartnerControls"/>
    <xsd:element name="_x0062_bc8" ma:index="39" nillable="true" ma:displayName="Person or Group" ma:list="UserInfo" ma:internalName="_x0062_bc8">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Metadata" ma:index="42" nillable="true" ma:displayName="MediaServiceMetadata" ma:description="" ma:hidden="true" ma:internalName="MediaServiceMetadata" ma:readOnly="true">
      <xsd:simpleType>
        <xsd:restriction base="dms:Note"/>
      </xsd:simpleType>
    </xsd:element>
    <xsd:element name="MediaServiceFastMetadata" ma:index="43"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3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ssion_x0020_Code xmlns="04e01bb1-6d80-42e9-ae53-416b1e8aa845">BRK3261</Session_x0020_Code>
    <LikesCount xmlns="http://schemas.microsoft.com/sharepoint/v3" xsi:nil="true"/>
    <_x0062_bc8 xmlns="e889e55c-35cf-43c7-aaf4-cf2500919dd8">
      <UserInfo>
        <DisplayName/>
        <AccountId xsi:nil="true"/>
        <AccountType/>
      </UserInfo>
    </_x0062_bc8>
    <External_x0020_Speaker xmlns="04e01bb1-6d80-42e9-ae53-416b1e8aa845">Nellie Gustafsson; Umachandar Jayachandran</External_x0020_Speaker>
    <fb4e50409e3b4517bb965b3c7125e153 xmlns="04e01bb1-6d80-42e9-ae53-416b1e8aa845">
      <Terms xmlns="http://schemas.microsoft.com/office/infopath/2007/PartnerControls"/>
    </fb4e50409e3b4517bb965b3c7125e153>
    <MS_x0020_Content_x0020_Owner xmlns="04e01bb1-6d80-42e9-ae53-416b1e8aa845">
      <UserInfo>
        <DisplayName/>
        <AccountId xsi:nil="true"/>
        <AccountType/>
      </UserInfo>
    </MS_x0020_Content_x0020_Owner>
    <l61c8586195b4657a1f710a539f9bc3a xmlns="04e01bb1-6d80-42e9-ae53-416b1e8aa845">
      <Terms xmlns="http://schemas.microsoft.com/office/infopath/2007/PartnerControls">
        <TermInfo xmlns="http://schemas.microsoft.com/office/infopath/2007/PartnerControls">
          <TermName xmlns="http://schemas.microsoft.com/office/infopath/2007/PartnerControls">Orange County Convention Center</TermName>
          <TermId xmlns="http://schemas.microsoft.com/office/infopath/2007/PartnerControls">bd993e89-aa48-4695-84e0-3b53e88b1a79</TermId>
        </TermInfo>
      </Terms>
    </l61c8586195b4657a1f710a539f9bc3a>
    <a645af38eebb4a1ea4744f163c56ea26 xmlns="04e01bb1-6d80-42e9-ae53-416b1e8aa845">
      <Terms xmlns="http://schemas.microsoft.com/office/infopath/2007/PartnerControls"/>
    </a645af38eebb4a1ea4744f163c56ea26>
    <g60601ae6c3e4c409eb6a70077dda16d xmlns="04e01bb1-6d80-42e9-ae53-416b1e8aa845">
      <Terms xmlns="http://schemas.microsoft.com/office/infopath/2007/PartnerControls">
        <TermInfo xmlns="http://schemas.microsoft.com/office/infopath/2007/PartnerControls">
          <TermName xmlns="http://schemas.microsoft.com/office/infopath/2007/PartnerControls">Orlando</TermName>
          <TermId xmlns="http://schemas.microsoft.com/office/infopath/2007/PartnerControls">8cc4ed56-1866-4501-a22c-89aafde6f59b</TermId>
        </TermInfo>
      </Terms>
    </g60601ae6c3e4c409eb6a70077dda16d>
    <e6bd9c8ce3ed4fe68161c78952f36fbc xmlns="04e01bb1-6d80-42e9-ae53-416b1e8aa845">
      <Terms xmlns="http://schemas.microsoft.com/office/infopath/2007/PartnerControls"/>
    </e6bd9c8ce3ed4fe68161c78952f36fbc>
    <MS_x0020_Speaker xmlns="04e01bb1-6d80-42e9-ae53-416b1e8aa845">
      <UserInfo>
        <DisplayName/>
        <AccountId xsi:nil="true"/>
        <AccountType/>
      </UserInfo>
    </MS_x0020_Speaker>
    <Presentation_x0020_Date xmlns="04e01bb1-6d80-42e9-ae53-416b1e8aa845" xsi:nil="true"/>
    <Event_x0020_Start_x0020_Date xmlns="04e01bb1-6d80-42e9-ae53-416b1e8aa845">2017-09-23T04:00:00+00:00</Event_x0020_Start_x0020_Date>
    <TaxKeywordTaxHTField xmlns="230e9df3-be65-4c73-a93b-d1236ebd677e">
      <Terms xmlns="http://schemas.microsoft.com/office/infopath/2007/PartnerControls">
        <TermInfo xmlns="http://schemas.microsoft.com/office/infopath/2007/PartnerControls">
          <TermName xmlns="http://schemas.microsoft.com/office/infopath/2007/PartnerControls">Microsoft Ignite 2017</TermName>
          <TermId xmlns="http://schemas.microsoft.com/office/infopath/2007/PartnerControls">21d30605-03f6-4b08-a63a-5a553eb19f84</TermId>
        </TermInfo>
      </Terms>
    </TaxKeywordTaxHTField>
    <e349cd3f156b4e7d8653c9cd4f2d8fb4 xmlns="04e01bb1-6d80-42e9-ae53-416b1e8aa845">
      <Terms xmlns="http://schemas.microsoft.com/office/infopath/2007/PartnerControls">
        <TermInfo xmlns="http://schemas.microsoft.com/office/infopath/2007/PartnerControls">
          <TermName xmlns="http://schemas.microsoft.com/office/infopath/2007/PartnerControls">Ignite 2017</TermName>
          <TermId xmlns="http://schemas.microsoft.com/office/infopath/2007/PartnerControls">9323c522-fe4b-4922-816b-10a1920d7afb</TermId>
        </TermInfo>
      </Terms>
    </e349cd3f156b4e7d8653c9cd4f2d8fb4>
    <TaxCatchAll xmlns="230e9df3-be65-4c73-a93b-d1236ebd677e">
      <Value>55</Value>
      <Value>54</Value>
      <Value>53</Value>
      <Value>16</Value>
    </TaxCatchAll>
    <Event_x0020_End_x0020_Date xmlns="04e01bb1-6d80-42e9-ae53-416b1e8aa845">2017-09-30T04:00:00+00:00</Event_x0020_End_x0020_Date>
    <c2f1b796fca04ddbb48af271e99c8750 xmlns="04e01bb1-6d80-42e9-ae53-416b1e8aa845">
      <Terms xmlns="http://schemas.microsoft.com/office/infopath/2007/PartnerControls"/>
    </c2f1b796fca04ddbb48af271e99c8750>
  </documentManagement>
</p:properties>
</file>

<file path=customXml/itemProps1.xml><?xml version="1.0" encoding="utf-8"?>
<ds:datastoreItem xmlns:ds="http://schemas.openxmlformats.org/officeDocument/2006/customXml" ds:itemID="{532F11E6-5A70-45F1-A1F4-684775A686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4e01bb1-6d80-42e9-ae53-416b1e8aa845"/>
    <ds:schemaRef ds:uri="230e9df3-be65-4c73-a93b-d1236ebd677e"/>
    <ds:schemaRef ds:uri="e889e55c-35cf-43c7-aaf4-cf2500919d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http://purl.org/dc/dcmitype/"/>
    <ds:schemaRef ds:uri="04e01bb1-6d80-42e9-ae53-416b1e8aa845"/>
    <ds:schemaRef ds:uri="http://schemas.microsoft.com/office/2006/metadata/properties"/>
    <ds:schemaRef ds:uri="http://schemas.openxmlformats.org/package/2006/metadata/core-properties"/>
    <ds:schemaRef ds:uri="http://www.w3.org/XML/1998/namespace"/>
    <ds:schemaRef ds:uri="http://purl.org/dc/terms/"/>
    <ds:schemaRef ds:uri="230e9df3-be65-4c73-a93b-d1236ebd677e"/>
    <ds:schemaRef ds:uri="http://schemas.microsoft.com/office/2006/documentManagement/types"/>
    <ds:schemaRef ds:uri="http://purl.org/dc/elements/1.1/"/>
    <ds:schemaRef ds:uri="http://schemas.microsoft.com/office/infopath/2007/PartnerControls"/>
    <ds:schemaRef ds:uri="e889e55c-35cf-43c7-aaf4-cf2500919dd8"/>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Microsoft_2017_16x9_Template_v02</Template>
  <TotalTime>0</TotalTime>
  <Words>2553</Words>
  <Application>Microsoft Office PowerPoint</Application>
  <PresentationFormat>Custom</PresentationFormat>
  <Paragraphs>562</Paragraphs>
  <Slides>45</Slides>
  <Notes>44</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45</vt:i4>
      </vt:variant>
    </vt:vector>
  </HeadingPairs>
  <TitlesOfParts>
    <vt:vector size="57" baseType="lpstr">
      <vt:lpstr>Yu Gothic UI Semibold</vt:lpstr>
      <vt:lpstr>Arial</vt:lpstr>
      <vt:lpstr>Consolas</vt:lpstr>
      <vt:lpstr>Segoe UI</vt:lpstr>
      <vt:lpstr>Segoe UI Light</vt:lpstr>
      <vt:lpstr>Segoe UI Semilight</vt:lpstr>
      <vt:lpstr>Wingdings</vt:lpstr>
      <vt:lpstr>Wingdings 3</vt:lpstr>
      <vt:lpstr>5-50109_Microsoft_Light_Template</vt:lpstr>
      <vt:lpstr>5-50109_Microsoft_Dark_Template</vt:lpstr>
      <vt:lpstr>1_5-50109_Microsoft_Dark_Template</vt:lpstr>
      <vt:lpstr>1_5-50109_Microsoft_Light_Template</vt:lpstr>
      <vt:lpstr> Performance patterns for machine learning services in SQL Server</vt:lpstr>
      <vt:lpstr>Agenda</vt:lpstr>
      <vt:lpstr>Why machine learning with SQL Server?</vt:lpstr>
      <vt:lpstr>SQL Server Machine Learning Services </vt:lpstr>
      <vt:lpstr>Key performance considerations</vt:lpstr>
      <vt:lpstr>SQL Compute Context</vt:lpstr>
      <vt:lpstr>Typical Machine Learning workflow against database</vt:lpstr>
      <vt:lpstr>Machine Learning workflow using SQL compute context</vt:lpstr>
      <vt:lpstr>SQL Compute Context from R/Python client</vt:lpstr>
      <vt:lpstr>Demo - SQL Compute context</vt:lpstr>
      <vt:lpstr>sp_execute_external_script</vt:lpstr>
      <vt:lpstr>Push data from SQL Server to external runtime</vt:lpstr>
      <vt:lpstr>Push data from SQL Server to external runtime</vt:lpstr>
      <vt:lpstr>Pushing data from query to external runtime</vt:lpstr>
      <vt:lpstr>Demo – Push data to R/Python</vt:lpstr>
      <vt:lpstr>Streaming execution of R / Python scripts</vt:lpstr>
      <vt:lpstr>PowerPoint Presentation</vt:lpstr>
      <vt:lpstr>Streaming from Server</vt:lpstr>
      <vt:lpstr>Demo - Streaming</vt:lpstr>
      <vt:lpstr>Parallel processing</vt:lpstr>
      <vt:lpstr>Parallel processing – Trivial Parallelism </vt:lpstr>
      <vt:lpstr>Trivial parallelism</vt:lpstr>
      <vt:lpstr>Demo - Trivial Parallelism</vt:lpstr>
      <vt:lpstr>SQL Compute Context from server</vt:lpstr>
      <vt:lpstr>Parallel Training or Scoring (rx* functions)</vt:lpstr>
      <vt:lpstr>Parallel training using rx* function</vt:lpstr>
      <vt:lpstr>Demo - Parallel Training</vt:lpstr>
      <vt:lpstr>Native Scoring using PREDICT function</vt:lpstr>
      <vt:lpstr>PREDICT function</vt:lpstr>
      <vt:lpstr>Demo - Native Scoring</vt:lpstr>
      <vt:lpstr>Summary</vt:lpstr>
      <vt:lpstr>Call to action</vt:lpstr>
      <vt:lpstr>Thank you!  negust@microsoft.com  umajay@microsoft.com</vt:lpstr>
      <vt:lpstr>Please evaluate  this session</vt:lpstr>
      <vt:lpstr>Process of deploying predictive analytics </vt:lpstr>
      <vt:lpstr>Ways of executing R/Python scripts on server</vt:lpstr>
      <vt:lpstr>Demo – 1MM scoring</vt:lpstr>
      <vt:lpstr>What is Machine Learning?</vt:lpstr>
      <vt:lpstr>The SQL Extensibility Architecture</vt:lpstr>
      <vt:lpstr>SQL compute context from T-SQL</vt:lpstr>
      <vt:lpstr>Streaming from Client</vt:lpstr>
      <vt:lpstr>Dynamic Management Views</vt:lpstr>
      <vt:lpstr>Extended Events</vt:lpstr>
      <vt:lpstr>External Resource Pools</vt:lpstr>
      <vt:lpstr>Windows Job objects</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patterns for machine learning services in SQL Server</dc:title>
  <dc:subject>&lt;Speech title here&gt;</dc:subject>
  <dc:creator>MS Events 0117</dc:creator>
  <cp:keywords>Microsoft Ignite 2017</cp:keywords>
  <dc:description>Template: Mitchell Derrey, Silver Fox Productions_x000d_
Formatting: _x000d_
Audience Type:</dc:description>
  <cp:lastModifiedBy>shows</cp:lastModifiedBy>
  <cp:revision>2</cp:revision>
  <dcterms:created xsi:type="dcterms:W3CDTF">2017-09-28T15:43:18Z</dcterms:created>
  <dcterms:modified xsi:type="dcterms:W3CDTF">2017-09-28T19:44:40Z</dcterms:modified>
  <cp:category>Microsoft Ignite 2017</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0x010100A584695755FE764EB25B07353E74077C00D779C3CEF1177A4F8B41F96DF87A1F66</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55;#Orange County Convention Center|bd993e89-aa48-4695-84e0-3b53e88b1a79</vt:lpwstr>
  </property>
  <property fmtid="{D5CDD505-2E9C-101B-9397-08002B2CF9AE}" pid="7" name="Track">
    <vt:lpwstr/>
  </property>
  <property fmtid="{D5CDD505-2E9C-101B-9397-08002B2CF9AE}" pid="8" name="Event Location">
    <vt:lpwstr>54;#Orlando|8cc4ed56-1866-4501-a22c-89aafde6f59b</vt:lpwstr>
  </property>
  <property fmtid="{D5CDD505-2E9C-101B-9397-08002B2CF9AE}" pid="9" name="Campaign">
    <vt:lpwstr/>
  </property>
  <property fmtid="{D5CDD505-2E9C-101B-9397-08002B2CF9AE}" pid="10" name="IsMyDocuments">
    <vt:bool>true</vt:bool>
  </property>
  <property fmtid="{D5CDD505-2E9C-101B-9397-08002B2CF9AE}" pid="11" name="TaxKeyword">
    <vt:lpwstr>53;#Microsoft Ignite 2017|21d30605-03f6-4b08-a63a-5a553eb19f84</vt:lpwstr>
  </property>
  <property fmtid="{D5CDD505-2E9C-101B-9397-08002B2CF9AE}" pid="12" name="Audience1">
    <vt:lpwstr/>
  </property>
  <property fmtid="{D5CDD505-2E9C-101B-9397-08002B2CF9AE}" pid="13" name="Event Name">
    <vt:lpwstr>16;#Microsoft Ignite|9323c522-fe4b-4922-816b-10a1920d7afb</vt:lpwstr>
  </property>
</Properties>
</file>